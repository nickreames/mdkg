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55e0973c894f52" /><Relationship Type="http://schemas.openxmlformats.org/officeDocument/2006/relationships/extended-properties" Target="/docProps/app.xml" Id="Rb7c56971b8e14de3" /><Relationship Type="http://schemas.openxmlformats.org/officeDocument/2006/relationships/officeDocument" Target="/ppt/presentation.xml" Id="Re9b2d5db4e3d4b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170c0f41b749da"/>
  </p:sldMasterIdLst>
  <p:notesMasterIdLst>
    <p:notesMasterId xmlns:r="http://schemas.openxmlformats.org/officeDocument/2006/relationships" r:id="R29d64f7ae84f4336"/>
  </p:notesMasterIdLst>
  <p:sldIdLst>
    <p:sldId xmlns:r="http://schemas.openxmlformats.org/officeDocument/2006/relationships" id="256" r:id="R3e04aaeaf570407e"/>
    <p:sldId xmlns:r="http://schemas.openxmlformats.org/officeDocument/2006/relationships" id="257" r:id="Rd31bee73225241a1"/>
    <p:sldId xmlns:r="http://schemas.openxmlformats.org/officeDocument/2006/relationships" id="258" r:id="Ra7501d474463496e"/>
    <p:sldId xmlns:r="http://schemas.openxmlformats.org/officeDocument/2006/relationships" id="259" r:id="Rd529fb7d83b34181"/>
    <p:sldId xmlns:r="http://schemas.openxmlformats.org/officeDocument/2006/relationships" id="260" r:id="Rf091fcc9bb484489"/>
    <p:sldId xmlns:r="http://schemas.openxmlformats.org/officeDocument/2006/relationships" id="261" r:id="R9799f339ad6b4cc6"/>
    <p:sldId xmlns:r="http://schemas.openxmlformats.org/officeDocument/2006/relationships" id="262" r:id="Rb11d8adbdcfc4bde"/>
    <p:sldId xmlns:r="http://schemas.openxmlformats.org/officeDocument/2006/relationships" id="263" r:id="Ref2e713fd65f4a16"/>
    <p:sldId xmlns:r="http://schemas.openxmlformats.org/officeDocument/2006/relationships" id="264" r:id="R60793579681a4ba1"/>
    <p:sldId xmlns:r="http://schemas.openxmlformats.org/officeDocument/2006/relationships" id="265" r:id="R5b585974e3af4267"/>
    <p:sldId xmlns:r="http://schemas.openxmlformats.org/officeDocument/2006/relationships" id="266" r:id="R1d3582bd58f147f8"/>
    <p:sldId xmlns:r="http://schemas.openxmlformats.org/officeDocument/2006/relationships" id="267" r:id="R2058de22159144af"/>
    <p:sldId xmlns:r="http://schemas.openxmlformats.org/officeDocument/2006/relationships" id="268" r:id="R409c73a7827f4402"/>
    <p:sldId xmlns:r="http://schemas.openxmlformats.org/officeDocument/2006/relationships" id="269" r:id="R89339acbbd174d32"/>
    <p:sldId xmlns:r="http://schemas.openxmlformats.org/officeDocument/2006/relationships" id="270" r:id="Rf6cc1fd0676e4652"/>
    <p:sldId xmlns:r="http://schemas.openxmlformats.org/officeDocument/2006/relationships" id="271" r:id="Reb6b3723a0624680"/>
    <p:sldId xmlns:r="http://schemas.openxmlformats.org/officeDocument/2006/relationships" id="272" r:id="R17cce4042dd544c3"/>
    <p:sldId xmlns:r="http://schemas.openxmlformats.org/officeDocument/2006/relationships" id="273" r:id="R9d983d32de2c4cf5"/>
    <p:sldId xmlns:r="http://schemas.openxmlformats.org/officeDocument/2006/relationships" id="274" r:id="Rad7acbd3221c4319"/>
    <p:sldId xmlns:r="http://schemas.openxmlformats.org/officeDocument/2006/relationships" id="275" r:id="R9bc126ca847d46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1cf48a748b44d1" /><Relationship Type="http://schemas.openxmlformats.org/officeDocument/2006/relationships/slideMaster" Target="/ppt/slideMasters/slideMaster1.xml" Id="Ra5170c0f41b749da" /><Relationship Type="http://schemas.openxmlformats.org/officeDocument/2006/relationships/notesMaster" Target="/ppt/notesMasters/notesMaster1.xml" Id="R29d64f7ae84f4336" /><Relationship Type="http://schemas.openxmlformats.org/officeDocument/2006/relationships/presProps" Target="/ppt/presProps.xml" Id="R2ec9b2a5205d4170" /><Relationship Type="http://schemas.openxmlformats.org/officeDocument/2006/relationships/tableStyles" Target="/ppt/tableStyles.xml" Id="R022f5aff1c6b407c" /><Relationship Type="http://schemas.openxmlformats.org/officeDocument/2006/relationships/slide" Target="/ppt/slides/slide1.xml" Id="R3e04aaeaf570407e" /><Relationship Type="http://schemas.openxmlformats.org/officeDocument/2006/relationships/slide" Target="/ppt/slides/slide2.xml" Id="Rd31bee73225241a1" /><Relationship Type="http://schemas.openxmlformats.org/officeDocument/2006/relationships/slide" Target="/ppt/slides/slide3.xml" Id="Ra7501d474463496e" /><Relationship Type="http://schemas.openxmlformats.org/officeDocument/2006/relationships/slide" Target="/ppt/slides/slide4.xml" Id="Rd529fb7d83b34181" /><Relationship Type="http://schemas.openxmlformats.org/officeDocument/2006/relationships/slide" Target="/ppt/slides/slide5.xml" Id="Rf091fcc9bb484489" /><Relationship Type="http://schemas.openxmlformats.org/officeDocument/2006/relationships/slide" Target="/ppt/slides/slide6.xml" Id="R9799f339ad6b4cc6" /><Relationship Type="http://schemas.openxmlformats.org/officeDocument/2006/relationships/slide" Target="/ppt/slides/slide7.xml" Id="Rb11d8adbdcfc4bde" /><Relationship Type="http://schemas.openxmlformats.org/officeDocument/2006/relationships/slide" Target="/ppt/slides/slide8.xml" Id="Ref2e713fd65f4a16" /><Relationship Type="http://schemas.openxmlformats.org/officeDocument/2006/relationships/slide" Target="/ppt/slides/slide9.xml" Id="R60793579681a4ba1" /><Relationship Type="http://schemas.openxmlformats.org/officeDocument/2006/relationships/slide" Target="/ppt/slides/slide10.xml" Id="R5b585974e3af4267" /><Relationship Type="http://schemas.openxmlformats.org/officeDocument/2006/relationships/slide" Target="/ppt/slides/slide11.xml" Id="R1d3582bd58f147f8" /><Relationship Type="http://schemas.openxmlformats.org/officeDocument/2006/relationships/slide" Target="/ppt/slides/slide12.xml" Id="R2058de22159144af" /><Relationship Type="http://schemas.openxmlformats.org/officeDocument/2006/relationships/slide" Target="/ppt/slides/slide13.xml" Id="R409c73a7827f4402" /><Relationship Type="http://schemas.openxmlformats.org/officeDocument/2006/relationships/slide" Target="/ppt/slides/slide14.xml" Id="R89339acbbd174d32" /><Relationship Type="http://schemas.openxmlformats.org/officeDocument/2006/relationships/slide" Target="/ppt/slides/slide15.xml" Id="Rf6cc1fd0676e4652" /><Relationship Type="http://schemas.openxmlformats.org/officeDocument/2006/relationships/slide" Target="/ppt/slides/slide16.xml" Id="Reb6b3723a0624680" /><Relationship Type="http://schemas.openxmlformats.org/officeDocument/2006/relationships/slide" Target="/ppt/slides/slide17.xml" Id="R17cce4042dd544c3" /><Relationship Type="http://schemas.openxmlformats.org/officeDocument/2006/relationships/slide" Target="/ppt/slides/slide18.xml" Id="R9d983d32de2c4cf5" /><Relationship Type="http://schemas.openxmlformats.org/officeDocument/2006/relationships/slide" Target="/ppt/slides/slide19.xml" Id="Rad7acbd3221c4319" /><Relationship Type="http://schemas.openxmlformats.org/officeDocument/2006/relationships/slide" Target="/ppt/slides/slide20.xml" Id="R9bc126ca847d46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85593809fa42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09550" dist="76200" dir="5400000">
              <a:srgbClr val="08263A">
                <a:alpha val="14000"/>
              </a:srgbClr>
            </a:outerShdw>
          </a:effectLst>
        </a:effectStyle>
        <a:effectStyle>
          <a:effectLst>
            <a:outerShdw blurRad="171450" dist="57150" dir="5400000">
              <a:srgbClr val="08263A">
                <a:alpha val="8000"/>
              </a:srgbClr>
            </a:outerShdw>
          </a:effectLst>
        </a:effectStyle>
        <a:effectStyle>
          <a:effectLst>
            <a:outerShdw blurRad="152400" dist="47625" dir="5400000">
              <a:srgbClr val="08263A">
                <a:alpha val="8000"/>
              </a:srgbClr>
            </a:outerShdw>
          </a:effectLst>
        </a:effectStyle>
        <a:effectStyle>
          <a:effectLst>
            <a:outerShdw blurRad="209550" dist="76200" dir="5400000">
              <a:srgbClr val="08263A">
                <a:alpha val="16000"/>
              </a:srgbClr>
            </a:outerShdw>
          </a:effectLst>
        </a:effectStyle>
        <a:effectStyle>
          <a:effectLst>
            <a:outerShdw blurRad="209550" dist="76200" dir="5400000">
              <a:srgbClr val="08263A">
                <a:alpha val="10000"/>
              </a:srgbClr>
            </a:outerShdw>
          </a:effectLst>
        </a:effectStyle>
        <a:effectStyle>
          <a:effectLst>
            <a:outerShdw blurRad="209550" dist="76200" dir="5400000">
              <a:srgbClr val="005B57">
                <a:alpha val="15000"/>
              </a:srgbClr>
            </a:outerShdw>
          </a:effectLst>
        </a:effectStyle>
        <a:effectStyle>
          <a:effectLst>
            <a:outerShdw blurRad="209550" dist="76200" dir="5400000">
              <a:srgbClr val="00566D">
                <a:alpha val="10000"/>
              </a:srgbClr>
            </a:outerShdw>
          </a:effectLst>
        </a:effectStyle>
        <a:effectStyle>
          <a:effectLst>
            <a:outerShdw blurRad="209550" dist="76200" dir="5400000">
              <a:srgbClr val="005B57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5B57">
                <a:alpha val="8000"/>
              </a:srgbClr>
            </a:outerShdw>
          </a:effectLst>
        </a:effectStyle>
        <a:effectStyle>
          <a:effectLst>
            <a:outerShdw blurRad="228600" dist="76200" dir="5400000">
              <a:srgbClr val="00566D">
                <a:alpha val="10000"/>
              </a:srgbClr>
            </a:outerShdw>
          </a:effectLst>
        </a:effectStyle>
        <a:effectStyle>
          <a:effectLst>
            <a:outerShdw blurRad="228600" dist="76200" dir="5400000">
              <a:srgbClr val="005B57">
                <a:alpha val="18000"/>
              </a:srgbClr>
            </a:outerShdw>
          </a:effectLst>
        </a:effectStyle>
        <a:effectStyle>
          <a:effectLst>
            <a:outerShdw blurRad="171450" dist="57150" dir="5400000">
              <a:srgbClr val="00566D">
                <a:alpha val="8000"/>
              </a:srgbClr>
            </a:outerShdw>
          </a:effectLst>
        </a:effectStyle>
        <a:effectStyle>
          <a:effectLst>
            <a:outerShdw blurRad="228600" dist="76200" dir="5400000">
              <a:srgbClr val="005B57">
                <a:alpha val="12000"/>
              </a:srgbClr>
            </a:outerShdw>
          </a:effectLst>
        </a:effectStyle>
        <a:effectStyle>
          <a:effectLst>
            <a:outerShdw blurRad="190500" dist="76200" dir="5400000">
              <a:srgbClr val="08263A">
                <a:alpha val="10000"/>
              </a:srgbClr>
            </a:outerShdw>
          </a:effectLst>
        </a:effectStyle>
        <a:effectStyle>
          <a:effectLst>
            <a:outerShdw blurRad="190500" dist="66675" dir="5400000">
              <a:srgbClr val="005B57">
                <a:alpha val="14000"/>
              </a:srgbClr>
            </a:outerShdw>
          </a:effectLst>
        </a:effectStyle>
        <a:effectStyle>
          <a:effectLst>
            <a:outerShdw blurRad="171450" dist="57150" dir="5400000">
              <a:srgbClr val="00566D">
                <a:alpha val="9000"/>
              </a:srgbClr>
            </a:outerShdw>
          </a:effectLst>
        </a:effectStyle>
        <a:effectStyle>
          <a:effectLst>
            <a:outerShdw blurRad="171450" dist="57150" dir="5400000">
              <a:srgbClr val="08263A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5ba8702cc941ce" /><Relationship Type="http://schemas.openxmlformats.org/officeDocument/2006/relationships/notesMaster" Target="/ppt/notesMasters/notesMaster1.xml" Id="Rebdd526df06e43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39ae674dcc4c77" /><Relationship Type="http://schemas.openxmlformats.org/officeDocument/2006/relationships/notesMaster" Target="/ppt/notesMasters/notesMaster1.xml" Id="Rd7097fb1a5b749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7f99470d1e4fa9" /><Relationship Type="http://schemas.openxmlformats.org/officeDocument/2006/relationships/notesMaster" Target="/ppt/notesMasters/notesMaster1.xml" Id="Rd78d226b5c5b4a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b56c2bd7ff4e8c" /><Relationship Type="http://schemas.openxmlformats.org/officeDocument/2006/relationships/notesMaster" Target="/ppt/notesMasters/notesMaster1.xml" Id="Rbff8f388ff3d43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d70b39ad574928" /><Relationship Type="http://schemas.openxmlformats.org/officeDocument/2006/relationships/notesMaster" Target="/ppt/notesMasters/notesMaster1.xml" Id="Rb057ab7b7bb644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1f71675a944a86" /><Relationship Type="http://schemas.openxmlformats.org/officeDocument/2006/relationships/notesMaster" Target="/ppt/notesMasters/notesMaster1.xml" Id="R33c4d0b4ac2741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7d667de3934f24" /><Relationship Type="http://schemas.openxmlformats.org/officeDocument/2006/relationships/notesMaster" Target="/ppt/notesMasters/notesMaster1.xml" Id="R221391ef3b6d40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7dbffbbb4043ab" /><Relationship Type="http://schemas.openxmlformats.org/officeDocument/2006/relationships/notesMaster" Target="/ppt/notesMasters/notesMaster1.xml" Id="Ra97e83f197944c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0ffe55eef340a1" /><Relationship Type="http://schemas.openxmlformats.org/officeDocument/2006/relationships/notesMaster" Target="/ppt/notesMasters/notesMaster1.xml" Id="Re9962de16c6d4e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9d6b7c65c849f9" /><Relationship Type="http://schemas.openxmlformats.org/officeDocument/2006/relationships/notesMaster" Target="/ppt/notesMasters/notesMaster1.xml" Id="R522b170bc28541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561da53e7c44de" /><Relationship Type="http://schemas.openxmlformats.org/officeDocument/2006/relationships/notesMaster" Target="/ppt/notesMasters/notesMaster1.xml" Id="Rba504484c29143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af2bbcf32440c1" /><Relationship Type="http://schemas.openxmlformats.org/officeDocument/2006/relationships/notesMaster" Target="/ppt/notesMasters/notesMaster1.xml" Id="R4185fdadd762409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d0c2365fd7c4693" /><Relationship Type="http://schemas.openxmlformats.org/officeDocument/2006/relationships/notesMaster" Target="/ppt/notesMasters/notesMaster1.xml" Id="Rc2ff42b22aeb44f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4e93c7db3d540f6" /><Relationship Type="http://schemas.openxmlformats.org/officeDocument/2006/relationships/notesMaster" Target="/ppt/notesMasters/notesMaster1.xml" Id="R6f1ec1b23fd44c2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bcd14b36b254419" /><Relationship Type="http://schemas.openxmlformats.org/officeDocument/2006/relationships/notesMaster" Target="/ppt/notesMasters/notesMaster1.xml" Id="R72adc2633c414ed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ade8c3df1e1440d" /><Relationship Type="http://schemas.openxmlformats.org/officeDocument/2006/relationships/notesMaster" Target="/ppt/notesMasters/notesMaster1.xml" Id="Rb68ed2b2e78548a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4bf612f447746c5" /><Relationship Type="http://schemas.openxmlformats.org/officeDocument/2006/relationships/notesMaster" Target="/ppt/notesMasters/notesMaster1.xml" Id="R81941c6f62bf44a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2ee2e2274784b12" /><Relationship Type="http://schemas.openxmlformats.org/officeDocument/2006/relationships/notesMaster" Target="/ppt/notesMasters/notesMaster1.xml" Id="Rc99df71b593240c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e1f8443a54640c6" /><Relationship Type="http://schemas.openxmlformats.org/officeDocument/2006/relationships/notesMaster" Target="/ppt/notesMasters/notesMaster1.xml" Id="Rfb36f6a46fa3471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eb48572e0f147b6" /><Relationship Type="http://schemas.openxmlformats.org/officeDocument/2006/relationships/notesMaster" Target="/ppt/notesMasters/notesMaster1.xml" Id="Rb1172bb0399544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job: establish the destination and dispatch the live demo before the first minute ends.</a:t>
            </a:r>
          </a:p>
          <a:p xmlns:a="http://schemas.openxmlformats.org/drawingml/2006/main">
            <a:r>
              <a:t>Speaker cue: Before we start, I am giving a coding agent a goal. It will work while we talk; near the end we will inspect both the result and the evidence.</a:t>
            </a:r>
          </a:p>
          <a:p xmlns:a="http://schemas.openxmlformats.org/drawingml/2006/main">
            <a:r>
              <a:t>Offline rehearsal action: start only the fixture-backed cue clock.</a:t>
            </a:r>
          </a:p>
          <a:p xmlns:a="http://schemas.openxmlformats.org/drawingml/2006/main">
            <a:r>
              <a:t>Timing: 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No external factual claim.</a:t>
            </a:r>
          </a:p>
          <a:p xmlns:a="http://schemas.openxmlformats.org/drawingml/2006/main">
            <a:r>
              <a:t>Program narrative decision: presentations/ai-native-sdlc-demo/.mdkg/design/dec-2-use-a-source-backed-mixed-audience-ai-native-sdlc-narrative.md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job: frame the talk as a capability progression, not a product-history lecture.</a:t>
            </a:r>
          </a:p>
          <a:p xmlns:a="http://schemas.openxmlformats.org/drawingml/2006/main">
            <a:r>
              <a:t>Speaker cue: These stages overlap. New capabilities accumulate; they do not invalidate autocomplete, chat, or direct editing.</a:t>
            </a:r>
          </a:p>
          <a:p xmlns:a="http://schemas.openxmlformats.org/drawingml/2006/main">
            <a:r>
              <a:t>Timing: 1:40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Claim synthesis: deck/citations/claim-matrix.md, C01-C12.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job: make the original interaction model concrete.</a:t>
            </a:r>
          </a:p>
          <a:p xmlns:a="http://schemas.openxmlformats.org/drawingml/2006/main">
            <a:r>
              <a:t>Primary claim: GitHub Copilot brought whole-line and whole-function suggestions into the typing loop.</a:t>
            </a:r>
          </a:p>
          <a:p xmlns:a="http://schemas.openxmlformats.org/drawingml/2006/main">
            <a:r>
              <a:t>Timing: 1:50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[1] GitHub, Introducing GitHub Copilot: your AI pair programmer, 2021-06-29: https://github.blog/news-insights/product-news/introducing-github-copilot-ai-pair-programmer/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job: show the jump from passive suggestion to iterative dialogue.</a:t>
            </a:r>
          </a:p>
          <a:p xmlns:a="http://schemas.openxmlformats.org/drawingml/2006/main">
            <a:r>
              <a:t>Primary claim: conversational models let developers generate, explain, challenge, and refine code through follow-up turns.</a:t>
            </a:r>
          </a:p>
          <a:p xmlns:a="http://schemas.openxmlformats.org/drawingml/2006/main">
            <a:r>
              <a:t>Timing: 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[2] OpenAI, Introducing ChatGPT, 2022-11-30: https://openai.com/index/chatgpt/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job: distinguish better problem solving from simply producing more text.</a:t>
            </a:r>
          </a:p>
          <a:p xmlns:a="http://schemas.openxmlformats.org/drawingml/2006/main">
            <a:r>
              <a:t>Primary claim: o1 made additional test-time reasoning a visible capability lever for difficult problems.</a:t>
            </a:r>
          </a:p>
          <a:p xmlns:a="http://schemas.openxmlformats.org/drawingml/2006/main">
            <a:r>
              <a:t>Timing: 2:10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[3] OpenAI, Learning to reason with LLMs, 2024-09-12: https://openai.com/index/learning-to-reason-with-llms/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job: explain why the harness matters as much as the model.</a:t>
            </a:r>
          </a:p>
          <a:p xmlns:a="http://schemas.openxmlformats.org/drawingml/2006/main">
            <a:r>
              <a:t>Primary claim: Claude Code, Cursor, and comparable harnesses connected models to search, file editing, terminals, tests, and source control.</a:t>
            </a:r>
          </a:p>
          <a:p xmlns:a="http://schemas.openxmlformats.org/drawingml/2006/main">
            <a:r>
              <a:t>Optional timing cut: omit the supporting Cursor sentence.</a:t>
            </a:r>
          </a:p>
          <a:p xmlns:a="http://schemas.openxmlformats.org/drawingml/2006/main">
            <a:r>
              <a:t>Timing: 2:10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[4] Anthropic, Claude 3.7 Sonnet and Claude Code, 2025-02-24: https://www.anthropic.com/news/claude-3-7-sonnet</a:t>
            </a:r>
          </a:p>
          <a:p xmlns:a="http://schemas.openxmlformats.org/drawingml/2006/main">
            <a:r>
              <a:t>[5] Cursor, Agent Overview, accessed 2026-07-26: https://docs.cursor.com/en/agent/overview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job: introduce Agent Skills as a bridge from reusable prompts to task-triggered procedural knowledge.</a:t>
            </a:r>
          </a:p>
          <a:p xmlns:a="http://schemas.openxmlformats.org/drawingml/2006/main">
            <a:r>
              <a:t>Primary claim: SKILL.md packages instructions and resources that an agent discovers and loads when relevant.</a:t>
            </a:r>
          </a:p>
          <a:p xmlns:a="http://schemas.openxmlformats.org/drawingml/2006/main">
            <a:r>
              <a:t>Timing: 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[6] Anthropic, Equipping agents for the real world with Agent Skills, 2025-10-16; open-standard update 2025-12-18: https://www.anthropic.com/engineering/equipping-agents-for-the-real-world-with-agent-skills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job: establish with concrete evidence that the unit of work can now be a delegated engineering goal whose continuity spans multiple working contexts.</a:t>
            </a:r>
          </a:p>
          <a:p xmlns:a="http://schemas.openxmlformats.org/drawingml/2006/main">
            <a:r>
              <a:t>Mandatory caveat: the 25.6 percent figure is a vendor study of estimated human-equivalent task size. A benchmark or human-equivalent eight-hour task is not eight hours of elapsed agent runtime.</a:t>
            </a:r>
          </a:p>
          <a:p xmlns:a="http://schemas.openxmlformats.org/drawingml/2006/main">
            <a:r>
              <a:t>Timing: 2:20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[8] OpenAI, How agents are transforming work, 2026-06-25: https://openai.com/index/how-agents-are-transforming-work/</a:t>
            </a:r>
          </a:p>
          <a:p xmlns:a="http://schemas.openxmlformats.org/drawingml/2006/main">
            <a:r>
              <a:t>[9] Anthropic, Effective harnesses for long-running agents, 2025-11-26: https://www.anthropic.com/engineering/effective-harnesses-for-long-running-agents</a:t>
            </a:r>
          </a:p>
          <a:p xmlns:a="http://schemas.openxmlformats.org/drawingml/2006/main">
            <a:r>
              <a:t>[12] METR, Task-Completion Time Horizons of Frontier AI Models, updated 2026-05-08: https://metr.org/time-horizons/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job: separate capability dimensions that are often collapsed into the phrase the model got better.</a:t>
            </a:r>
          </a:p>
          <a:p xmlns:a="http://schemas.openxmlformats.org/drawingml/2006/main">
            <a:r>
              <a:t>Optional timing cut: present only the four labels and skip examples.</a:t>
            </a:r>
          </a:p>
          <a:p xmlns:a="http://schemas.openxmlformats.org/drawingml/2006/main">
            <a:r>
              <a:t>Timing: 1:40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[3] OpenAI, Learning to reason with LLMs: https://openai.com/index/learning-to-reason-with-llms/</a:t>
            </a:r>
          </a:p>
          <a:p xmlns:a="http://schemas.openxmlformats.org/drawingml/2006/main">
            <a:r>
              <a:t>[4] Anthropic, Claude 3.7 Sonnet and Claude Code: https://www.anthropic.com/news/claude-3-7-sonnet</a:t>
            </a:r>
          </a:p>
          <a:p xmlns:a="http://schemas.openxmlformats.org/drawingml/2006/main">
            <a:r>
              <a:t>[8] OpenAI, How agents are transforming work: https://openai.com/index/how-agents-are-transforming-work/</a:t>
            </a:r>
          </a:p>
          <a:p xmlns:a="http://schemas.openxmlformats.org/drawingml/2006/main">
            <a:r>
              <a:t>[10] OpenAI, Introducing GPT-4.1 in the API: https://openai.com/index/gpt-4-1/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job: overturn the assumption that a larger window is a project-memory system.</a:t>
            </a:r>
          </a:p>
          <a:p xmlns:a="http://schemas.openxmlformats.org/drawingml/2006/main">
            <a:r>
              <a:t>Primary claim: one-million-token capacity and long-context improvements coexist with retrieval limits and the need to curate high-signal context.</a:t>
            </a:r>
          </a:p>
          <a:p xmlns:a="http://schemas.openxmlformats.org/drawingml/2006/main">
            <a:r>
              <a:t>Timing: 2:10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[10] OpenAI, Introducing GPT-4.1 in the API, 2025-04-14: https://openai.com/index/gpt-4-1/</a:t>
            </a:r>
          </a:p>
          <a:p xmlns:a="http://schemas.openxmlformats.org/drawingml/2006/main">
            <a:r>
              <a:t>[11] Anthropic, Effective context engineering for AI agents, 2025-09-29: https://www.anthropic.com/engineering/effective-context-engineering-for-ai-agents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job: land the central takeaway before introducing mdkg.</a:t>
            </a:r>
          </a:p>
          <a:p xmlns:a="http://schemas.openxmlformats.org/drawingml/2006/main">
            <a:r>
              <a:t>Primary claim: capable coding agents still need durable specifications, guardrails, and evidence to form a dependable SDLC.</a:t>
            </a:r>
          </a:p>
          <a:p xmlns:a="http://schemas.openxmlformats.org/drawingml/2006/main">
            <a:r>
              <a:t>Do not cut this slide.</a:t>
            </a:r>
          </a:p>
          <a:p xmlns:a="http://schemas.openxmlformats.org/drawingml/2006/main">
            <a:r>
              <a:t>Timing: 1:50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[9] Anthropic, Effective harnesses for long-running agents: https://www.anthropic.com/engineering/effective-harnesses-for-long-running-agents</a:t>
            </a:r>
          </a:p>
          <a:p xmlns:a="http://schemas.openxmlformats.org/drawingml/2006/main">
            <a:r>
              <a:t>[11] Anthropic, Effective context engineering for AI agents: https://www.anthropic.com/engineering/effective-context-engineering-for-ai-agents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job: provide a brief personal transition without turning the talk into a founder story.</a:t>
            </a:r>
          </a:p>
          <a:p xmlns:a="http://schemas.openxmlformats.org/drawingml/2006/main">
            <a:r>
              <a:t>Speaker cue: I wanted to move faster on personal projects, but the part I cared about was not typing more code. It was making the architecture and planning decisions—and giving agents enough durable structure to execute them.</a:t>
            </a:r>
          </a:p>
          <a:p xmlns:a="http://schemas.openxmlformats.org/drawingml/2006/main">
            <a:r>
              <a:t>Timing: 1:10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First-person creator account; no external factual claim.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job: define the problem mdkg addresses without presenting a CLI feature list.</a:t>
            </a:r>
          </a:p>
          <a:p xmlns:a="http://schemas.openxmlformats.org/drawingml/2006/main">
            <a:r>
              <a:t>Primary claim: chat transcripts and large prompts do not, by themselves, preserve scope, decisions, authority, accepted evidence, and next work as reviewable project state.</a:t>
            </a:r>
          </a:p>
          <a:p xmlns:a="http://schemas.openxmlformats.org/drawingml/2006/main">
            <a:r>
              <a:t>Timing: 1:50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Program requirements: presentations/ai-native-sdlc-demo/.mdkg/design/prd-1-ai-native-sdlc-presentation-and-live-demo-program-requirements.md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job: introduce the smallest memorable mdkg operating model.</a:t>
            </a:r>
          </a:p>
          <a:p xmlns:a="http://schemas.openxmlformats.org/drawingml/2006/main">
            <a:r>
              <a:t>Primary claim: dependable agentic work connects an explicit plan to bounded execution and inspectable proof.</a:t>
            </a:r>
          </a:p>
          <a:p xmlns:a="http://schemas.openxmlformats.org/drawingml/2006/main">
            <a:r>
              <a:t>Timing: 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[14] mdkg canonical landing-page source at inspected commit 580be1e6efffe852e9996186e85e2bcbcd3e3e3b: https://github.com/nickreames/mdkg/blob/580be1e6efffe852e9996186e85e2bcbcd3e3e3b/mdkg-dev/src/pages/index.astro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job: make the operating model useful to engineers and leaders immediately.</a:t>
            </a:r>
          </a:p>
          <a:p xmlns:a="http://schemas.openxmlformats.org/drawingml/2006/main">
            <a:r>
              <a:t>Primary claim: durable project state should answer what completed, why it was done, and what comes next.</a:t>
            </a:r>
          </a:p>
          <a:p xmlns:a="http://schemas.openxmlformats.org/drawingml/2006/main">
            <a:r>
              <a:t>Timing: 1:40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[14] mdkg program requirements and canonical product source: https://github.com/nickreames/mdkg/blob/580be1e6efffe852e9996186e85e2bcbcd3e3e3b/mdkg-dev/src/pages/index.astro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job: position mdkg as Git-native context engineering, not an agent harness or replacement for engineering judgment.</a:t>
            </a:r>
          </a:p>
          <a:p xmlns:a="http://schemas.openxmlformats.org/drawingml/2006/main">
            <a:r>
              <a:t>Primary claim: structured Markdown can keep goals, requirements, decisions, work, and checkpoints addressable in the repository while coding agents use their existing tools.</a:t>
            </a:r>
          </a:p>
          <a:p xmlns:a="http://schemas.openxmlformats.org/drawingml/2006/main">
            <a:r>
              <a:t>Timing: 2:15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[13] mdkg Public Alpha Contract at inspected commit 580be1e6efffe852e9996186e85e2bcbcd3e3e3b: https://github.com/nickreames/mdkg/blob/580be1e6efffe852e9996186e85e2bcbcd3e3e3b/docs/start-here/public-alpha-contract.md</a:t>
            </a:r>
          </a:p>
          <a:p xmlns:a="http://schemas.openxmlformats.org/drawingml/2006/main">
            <a:r>
              <a:t>[14] mdkg canonical landing-page source: https://github.com/nickreames/mdkg/blob/580be1e6efffe852e9996186e85e2bcbcd3e3e3b/mdkg-dev/src/pages/index.astro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job: prepare the audience to read the reveal as source-to-execution proof without teaching graph mechanics.</a:t>
            </a:r>
          </a:p>
          <a:p xmlns:a="http://schemas.openxmlformats.org/drawingml/2006/main">
            <a:r>
              <a:t>Speaker cue: I am not asking you to learn graph mechanics. Read this as a reusable starting specification becoming a bounded, specialized execution.</a:t>
            </a:r>
          </a:p>
          <a:p xmlns:a="http://schemas.openxmlformats.org/drawingml/2006/main">
            <a:r>
              <a:t>The displayed fields come from the accepted Goal 2 interface contract; they describe the reusable execution contract and do not claim that a future Demo 2 or Demo 3 run has completed.</a:t>
            </a:r>
          </a:p>
          <a:p xmlns:a="http://schemas.openxmlformats.org/drawingml/2006/main">
            <a:r>
              <a:t>Timing: 1:35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Demo architecture contract: presentations/ai-native-sdlc-demo/.mdkg/design/edd-1-ai-native-sdlc-presentation-demo-program-architecture-and-execution.md</a:t>
            </a:r>
          </a:p>
          <a:p xmlns:a="http://schemas.openxmlformats.org/drawingml/2006/main">
            <a:r>
              <a:t>Accepted Goal 2 interface: presentations/ai-native-sdlc-demo/artifacts/demo-platform/interface-contract.json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job: provide a clean audience-facing transition from the deck to the live browser reveal.</a:t>
            </a:r>
          </a:p>
          <a:p xmlns:a="http://schemas.openxmlformats.org/drawingml/2006/main">
            <a:r>
              <a:t>Success branch: show source goal, specialized Demo 3 goal, output, Plan → Work → Evidence, and exact-SHA/live-route receipts.</a:t>
            </a:r>
          </a:p>
          <a:p xmlns:a="http://schemas.openxmlformats.org/drawingml/2006/main">
            <a:r>
              <a:t>Still-running branch: state that Demo 3 is still running and use the sealed fallback.</a:t>
            </a:r>
          </a:p>
          <a:p xmlns:a="http://schemas.openxmlformats.org/drawingml/2006/main">
            <a:r>
              <a:t>Hard-blocker branch: show the blocker receipt and authority boundary, then use the sealed fallback.</a:t>
            </a:r>
          </a:p>
          <a:p xmlns:a="http://schemas.openxmlformats.org/drawingml/2006/main">
            <a:r>
              <a:t>Do not expose the branch decision tree on screen; select the honest branch in the browser.</a:t>
            </a:r>
          </a:p>
          <a:p xmlns:a="http://schemas.openxmlformats.org/drawingml/2006/main">
            <a:r>
              <a:t>Timing: 2:05 target; 2:15 maximum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Event and fallback contract: presentations/ai-native-sdlc-demo/.mdkg/work/goal-7-execute-and-reveal-the-live-demo-3-goal.md</a:t>
            </a:r>
          </a:p>
          <a:p xmlns:a="http://schemas.openxmlformats.org/drawingml/2006/main">
            <a:r>
              <a:t>Accepted Goal 2 interface fixture: presentations/ai-native-sdlc-demo/artifacts/demo-platform/interface-contract.json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job: close with a bounded, honest invitation.</a:t>
            </a:r>
          </a:p>
          <a:p xmlns:a="http://schemas.openxmlformats.org/drawingml/2006/main">
            <a:r>
              <a:t>Spoken close: Try mdkg on one real project and send me feedback.</a:t>
            </a:r>
          </a:p>
          <a:p xmlns:a="http://schemas.openxmlformats.org/drawingml/2006/main">
            <a:r>
              <a:t>Both QR assets were generated locally and scan-tested against the readable displayed URLs.</a:t>
            </a:r>
          </a:p>
          <a:p xmlns:a="http://schemas.openxmlformats.org/drawingml/2006/main">
            <a:r>
              <a:t>Timing: 0:45 maximum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[13] mdkg Public Alpha Contract at inspected commit 580be1e6efffe852e9996186e85e2bcbcd3e3e3b: https://github.com/nickreames/mdkg/blob/580be1e6efffe852e9996186e85e2bcbcd3e3e3b/docs/start-here/public-alpha-contract.md</a:t>
            </a:r>
          </a:p>
          <a:p xmlns:a="http://schemas.openxmlformats.org/drawingml/2006/main">
            <a:r>
              <a:t>Quickstart QR and displayed URL: https://docs.mdkg.dev/start-here/quickstart/</a:t>
            </a:r>
          </a:p>
          <a:p xmlns:a="http://schemas.openxmlformats.org/drawingml/2006/main">
            <a:r>
              <a:t>Feedback QR and displayed URL: https://github.com/nickreames/mdkg/issues</a:t>
            </a:r>
          </a:p>
          <a:p xmlns:a="http://schemas.openxmlformats.org/drawingml/2006/main">
            <a:r>
              <a:t>Local scan receipt: presentations/ai-native-sdlc-demo/deck/assets/qr/scan-receipt.json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job: provide an unspoken appendix index for numbered markers. Do not present this slide unless a source question calls for it.</a:t>
            </a:r>
          </a:p>
          <a:p xmlns:a="http://schemas.openxmlformats.org/drawingml/2006/main">
            <a:r>
              <a:t>Timing: 0:00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Complete source list: deck/citations/claim-matrix.md</a:t>
            </a:r>
          </a:p>
          <a:p xmlns:a="http://schemas.openxmlformats.org/drawingml/2006/main">
            <a:r>
              <a:t>[1] https://github.blog/news-insights/product-news/introducing-github-copilot-ai-pair-programmer/</a:t>
            </a:r>
          </a:p>
          <a:p xmlns:a="http://schemas.openxmlformats.org/drawingml/2006/main">
            <a:r>
              <a:t>[2] https://openai.com/index/chatgpt/</a:t>
            </a:r>
          </a:p>
          <a:p xmlns:a="http://schemas.openxmlformats.org/drawingml/2006/main">
            <a:r>
              <a:t>[3] https://openai.com/index/learning-to-reason-with-llms/</a:t>
            </a:r>
          </a:p>
          <a:p xmlns:a="http://schemas.openxmlformats.org/drawingml/2006/main">
            <a:r>
              <a:t>[4] https://www.anthropic.com/news/claude-3-7-sonnet</a:t>
            </a:r>
          </a:p>
          <a:p xmlns:a="http://schemas.openxmlformats.org/drawingml/2006/main">
            <a:r>
              <a:t>[5] https://docs.cursor.com/en/agent/overview</a:t>
            </a:r>
          </a:p>
          <a:p xmlns:a="http://schemas.openxmlformats.org/drawingml/2006/main">
            <a:r>
              <a:t>[6] https://www.anthropic.com/engineering/equipping-agents-for-the-real-world-with-agent-skills</a:t>
            </a:r>
          </a:p>
          <a:p xmlns:a="http://schemas.openxmlformats.org/drawingml/2006/main">
            <a:r>
              <a:t>[7] https://openai.com/index/introducing-codex/</a:t>
            </a:r>
          </a:p>
          <a:p xmlns:a="http://schemas.openxmlformats.org/drawingml/2006/main">
            <a:r>
              <a:t>[8] https://openai.com/index/how-agents-are-transforming-work/</a:t>
            </a:r>
          </a:p>
          <a:p xmlns:a="http://schemas.openxmlformats.org/drawingml/2006/main">
            <a:r>
              <a:t>[9] https://www.anthropic.com/engineering/effective-harnesses-for-long-running-agents</a:t>
            </a:r>
          </a:p>
          <a:p xmlns:a="http://schemas.openxmlformats.org/drawingml/2006/main">
            <a:r>
              <a:t>[10] https://openai.com/index/gpt-4-1/</a:t>
            </a:r>
          </a:p>
          <a:p xmlns:a="http://schemas.openxmlformats.org/drawingml/2006/main">
            <a:r>
              <a:t>[11] https://www.anthropic.com/engineering/effective-context-engineering-for-ai-agents</a:t>
            </a:r>
          </a:p>
          <a:p xmlns:a="http://schemas.openxmlformats.org/drawingml/2006/main">
            <a:r>
              <a:t>[12] https://metr.org/time-horizons/</a:t>
            </a:r>
          </a:p>
          <a:p xmlns:a="http://schemas.openxmlformats.org/drawingml/2006/main">
            <a:r>
              <a:t>[13] https://github.com/nickreames/mdkg/blob/580be1e6efffe852e9996186e85e2bcbcd3e3e3b/docs/start-here/public-alpha-contract.md</a:t>
            </a:r>
          </a:p>
          <a:p xmlns:a="http://schemas.openxmlformats.org/drawingml/2006/main">
            <a:r>
              <a:t>[14] https://github.com/nickreames/mdkg/blob/580be1e6efffe852e9996186e85e2bcbcd3e3e3b/mdkg-dev/src/pages/index.astro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1c5aac6ff040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88499b0ff94715" /><Relationship Type="http://schemas.openxmlformats.org/officeDocument/2006/relationships/slideLayout" Target="/ppt/slideLayouts/slideLayout1.xml" Id="R20cb0faf788449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cb0faf788449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09550" dist="76200" dir="5400000">
              <a:srgbClr val="08263A">
                <a:alpha val="14000"/>
              </a:srgbClr>
            </a:outerShdw>
          </a:effectLst>
        </a:effectStyle>
        <a:effectStyle>
          <a:effectLst>
            <a:outerShdw blurRad="171450" dist="57150" dir="5400000">
              <a:srgbClr val="08263A">
                <a:alpha val="8000"/>
              </a:srgbClr>
            </a:outerShdw>
          </a:effectLst>
        </a:effectStyle>
        <a:effectStyle>
          <a:effectLst>
            <a:outerShdw blurRad="152400" dist="47625" dir="5400000">
              <a:srgbClr val="08263A">
                <a:alpha val="8000"/>
              </a:srgbClr>
            </a:outerShdw>
          </a:effectLst>
        </a:effectStyle>
        <a:effectStyle>
          <a:effectLst>
            <a:outerShdw blurRad="209550" dist="76200" dir="5400000">
              <a:srgbClr val="08263A">
                <a:alpha val="16000"/>
              </a:srgbClr>
            </a:outerShdw>
          </a:effectLst>
        </a:effectStyle>
        <a:effectStyle>
          <a:effectLst>
            <a:outerShdw blurRad="209550" dist="76200" dir="5400000">
              <a:srgbClr val="08263A">
                <a:alpha val="10000"/>
              </a:srgbClr>
            </a:outerShdw>
          </a:effectLst>
        </a:effectStyle>
        <a:effectStyle>
          <a:effectLst>
            <a:outerShdw blurRad="209550" dist="76200" dir="5400000">
              <a:srgbClr val="005B57">
                <a:alpha val="15000"/>
              </a:srgbClr>
            </a:outerShdw>
          </a:effectLst>
        </a:effectStyle>
        <a:effectStyle>
          <a:effectLst>
            <a:outerShdw blurRad="209550" dist="76200" dir="5400000">
              <a:srgbClr val="00566D">
                <a:alpha val="10000"/>
              </a:srgbClr>
            </a:outerShdw>
          </a:effectLst>
        </a:effectStyle>
        <a:effectStyle>
          <a:effectLst>
            <a:outerShdw blurRad="209550" dist="76200" dir="5400000">
              <a:srgbClr val="005B57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5B57">
                <a:alpha val="8000"/>
              </a:srgbClr>
            </a:outerShdw>
          </a:effectLst>
        </a:effectStyle>
        <a:effectStyle>
          <a:effectLst>
            <a:outerShdw blurRad="228600" dist="76200" dir="5400000">
              <a:srgbClr val="00566D">
                <a:alpha val="10000"/>
              </a:srgbClr>
            </a:outerShdw>
          </a:effectLst>
        </a:effectStyle>
        <a:effectStyle>
          <a:effectLst>
            <a:outerShdw blurRad="228600" dist="76200" dir="5400000">
              <a:srgbClr val="005B57">
                <a:alpha val="18000"/>
              </a:srgbClr>
            </a:outerShdw>
          </a:effectLst>
        </a:effectStyle>
        <a:effectStyle>
          <a:effectLst>
            <a:outerShdw blurRad="171450" dist="57150" dir="5400000">
              <a:srgbClr val="00566D">
                <a:alpha val="8000"/>
              </a:srgbClr>
            </a:outerShdw>
          </a:effectLst>
        </a:effectStyle>
        <a:effectStyle>
          <a:effectLst>
            <a:outerShdw blurRad="228600" dist="76200" dir="5400000">
              <a:srgbClr val="005B57">
                <a:alpha val="12000"/>
              </a:srgbClr>
            </a:outerShdw>
          </a:effectLst>
        </a:effectStyle>
        <a:effectStyle>
          <a:effectLst>
            <a:outerShdw blurRad="190500" dist="76200" dir="5400000">
              <a:srgbClr val="08263A">
                <a:alpha val="10000"/>
              </a:srgbClr>
            </a:outerShdw>
          </a:effectLst>
        </a:effectStyle>
        <a:effectStyle>
          <a:effectLst>
            <a:outerShdw blurRad="190500" dist="66675" dir="5400000">
              <a:srgbClr val="005B57">
                <a:alpha val="14000"/>
              </a:srgbClr>
            </a:outerShdw>
          </a:effectLst>
        </a:effectStyle>
        <a:effectStyle>
          <a:effectLst>
            <a:outerShdw blurRad="171450" dist="57150" dir="5400000">
              <a:srgbClr val="00566D">
                <a:alpha val="9000"/>
              </a:srgbClr>
            </a:outerShdw>
          </a:effectLst>
        </a:effectStyle>
        <a:effectStyle>
          <a:effectLst>
            <a:outerShdw blurRad="171450" dist="57150" dir="5400000">
              <a:srgbClr val="08263A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bc8ed858a46c7" /><Relationship Type="http://schemas.openxmlformats.org/officeDocument/2006/relationships/notesSlide" Target="/ppt/notesSlides/notesSlide1.xml" Id="Reb95a66312a240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47c41661d40f6" /><Relationship Type="http://schemas.openxmlformats.org/officeDocument/2006/relationships/notesSlide" Target="/ppt/notesSlides/notesSlide2.xml" Id="Raa6d08ccaa2f44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0bcee619c473c" /><Relationship Type="http://schemas.openxmlformats.org/officeDocument/2006/relationships/notesSlide" Target="/ppt/notesSlides/notesSlide3.xml" Id="R3cb99dc4fba048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319648a024163" /><Relationship Type="http://schemas.openxmlformats.org/officeDocument/2006/relationships/notesSlide" Target="/ppt/notesSlides/notesSlide4.xml" Id="R414c7d7cd8424a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61d3436b54044" /><Relationship Type="http://schemas.openxmlformats.org/officeDocument/2006/relationships/notesSlide" Target="/ppt/notesSlides/notesSlide5.xml" Id="R14d48a4cceae42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e95fa81e24c1a" /><Relationship Type="http://schemas.openxmlformats.org/officeDocument/2006/relationships/notesSlide" Target="/ppt/notesSlides/notesSlide6.xml" Id="R44d1319685574d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9fc5403594a68" /><Relationship Type="http://schemas.openxmlformats.org/officeDocument/2006/relationships/notesSlide" Target="/ppt/notesSlides/notesSlide7.xml" Id="Rf727f0953b5c42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48843a30e413b" /><Relationship Type="http://schemas.openxmlformats.org/officeDocument/2006/relationships/notesSlide" Target="/ppt/notesSlides/notesSlide8.xml" Id="R2b2b3fd4e15b47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877b05b0d49f1" /><Relationship Type="http://schemas.openxmlformats.org/officeDocument/2006/relationships/notesSlide" Target="/ppt/notesSlides/notesSlide9.xml" Id="R93338bdc48f140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6d3eb8f2f40ba" /><Relationship Type="http://schemas.openxmlformats.org/officeDocument/2006/relationships/notesSlide" Target="/ppt/notesSlides/notesSlide10.xml" Id="R386c662686d649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6155c7e354006" /><Relationship Type="http://schemas.openxmlformats.org/officeDocument/2006/relationships/notesSlide" Target="/ppt/notesSlides/notesSlide11.xml" Id="Ra337033b9d1642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4a40aef4348b0" /><Relationship Type="http://schemas.openxmlformats.org/officeDocument/2006/relationships/notesSlide" Target="/ppt/notesSlides/notesSlide12.xml" Id="R7b5172cbdde04c8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6f972548547c6" /><Relationship Type="http://schemas.openxmlformats.org/officeDocument/2006/relationships/notesSlide" Target="/ppt/notesSlides/notesSlide13.xml" Id="Rfb9361b3229f40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4da9013f846a0" /><Relationship Type="http://schemas.openxmlformats.org/officeDocument/2006/relationships/notesSlide" Target="/ppt/notesSlides/notesSlide14.xml" Id="Ra05745d4b07043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80f122c4f482f" /><Relationship Type="http://schemas.openxmlformats.org/officeDocument/2006/relationships/notesSlide" Target="/ppt/notesSlides/notesSlide15.xml" Id="Rafe414dafd82457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7dec0fda747df" /><Relationship Type="http://schemas.openxmlformats.org/officeDocument/2006/relationships/notesSlide" Target="/ppt/notesSlides/notesSlide16.xml" Id="R5c24e0427f654cf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f31d40fdc42bd" /><Relationship Type="http://schemas.openxmlformats.org/officeDocument/2006/relationships/notesSlide" Target="/ppt/notesSlides/notesSlide17.xml" Id="R1367ae2a45694ac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2c7039dac4f4d" /><Relationship Type="http://schemas.openxmlformats.org/officeDocument/2006/relationships/notesSlide" Target="/ppt/notesSlides/notesSlide18.xml" Id="R758cf946ffc34e7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e184a9ccd4f34" /><Relationship Type="http://schemas.openxmlformats.org/officeDocument/2006/relationships/image" Target="/ppt/media/image.png" Id="R0a3245797b26450e" /><Relationship Type="http://schemas.openxmlformats.org/officeDocument/2006/relationships/image" Target="/ppt/media/image2.png" Id="R0defcc3a9e2a4907" /><Relationship Type="http://schemas.openxmlformats.org/officeDocument/2006/relationships/notesSlide" Target="/ppt/notesSlides/notesSlide19.xml" Id="R52f01b04cbbd47b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b7db981994650" /><Relationship Type="http://schemas.openxmlformats.org/officeDocument/2006/relationships/notesSlide" Target="/ppt/notesSlides/notesSlide20.xml" Id="Re311c72642784d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current-underlay">
            <a:extLst xmlns:a="http://schemas.openxmlformats.org/drawingml/2006/main">
              <a:ext uri="{FF2B5EF4-FFF2-40B4-BE49-F238E27FC236}">
                <a16:creationId xmlns:a16="http://schemas.microsoft.com/office/drawing/2014/main" id="{94AF2AAD-2DD8-4FA3-9573-CE9ED066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108204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current">
            <a:extLst xmlns:a="http://schemas.openxmlformats.org/drawingml/2006/main">
              <a:ext uri="{FF2B5EF4-FFF2-40B4-BE49-F238E27FC236}">
                <a16:creationId xmlns:a16="http://schemas.microsoft.com/office/drawing/2014/main" id="{7A7B2DA7-4BDF-4E2A-85C9-A5F443E2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108204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cursor">
            <a:extLst xmlns:a="http://schemas.openxmlformats.org/drawingml/2006/main">
              <a:ext uri="{FF2B5EF4-FFF2-40B4-BE49-F238E27FC236}">
                <a16:creationId xmlns:a16="http://schemas.microsoft.com/office/drawing/2014/main" id="{4A3EE1B4-DEEF-4D3B-BA10-04A01EE9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node-1">
            <a:extLst xmlns:a="http://schemas.openxmlformats.org/drawingml/2006/main">
              <a:ext uri="{FF2B5EF4-FFF2-40B4-BE49-F238E27FC236}">
                <a16:creationId xmlns:a16="http://schemas.microsoft.com/office/drawing/2014/main" id="{570439F7-7182-47A2-8A02-76437C82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14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566D"/>
            </a:solidFill>
            <a:prstDash val="solid"/>
          </a:ln>
        </p:spPr>
      </p:sp>
      <p:sp>
        <p:nvSpPr>
          <p:cNvPr id="5" name="title-node-2">
            <a:extLst xmlns:a="http://schemas.openxmlformats.org/drawingml/2006/main">
              <a:ext uri="{FF2B5EF4-FFF2-40B4-BE49-F238E27FC236}">
                <a16:creationId xmlns:a16="http://schemas.microsoft.com/office/drawing/2014/main" id="{CBB0AC8B-B746-4988-BC7D-12ED00D0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14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566D"/>
            </a:solidFill>
            <a:prstDash val="solid"/>
          </a:ln>
        </p:spPr>
      </p:sp>
      <p:sp>
        <p:nvSpPr>
          <p:cNvPr id="6" name="title-node-3">
            <a:extLst xmlns:a="http://schemas.openxmlformats.org/drawingml/2006/main">
              <a:ext uri="{FF2B5EF4-FFF2-40B4-BE49-F238E27FC236}">
                <a16:creationId xmlns:a16="http://schemas.microsoft.com/office/drawing/2014/main" id="{936AC4D5-823C-4FDA-A074-48A38DA8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14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566D"/>
            </a:solidFill>
            <a:prstDash val="solid"/>
          </a:ln>
        </p:spPr>
      </p:sp>
      <p:sp>
        <p:nvSpPr>
          <p:cNvPr id="7" name="title-node-4">
            <a:extLst xmlns:a="http://schemas.openxmlformats.org/drawingml/2006/main">
              <a:ext uri="{FF2B5EF4-FFF2-40B4-BE49-F238E27FC236}">
                <a16:creationId xmlns:a16="http://schemas.microsoft.com/office/drawing/2014/main" id="{BA6AE5AD-3239-4CF5-B5B8-744D2542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914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AE8"/>
          </a:solidFill>
          <a:ln xmlns:a="http://schemas.openxmlformats.org/drawingml/2006/main" w="28575">
            <a:solidFill>
              <a:srgbClr val="9B2C2C"/>
            </a:solidFill>
            <a:prstDash val="solid"/>
          </a:ln>
        </p:spPr>
      </p:sp>
      <p:sp>
        <p:nvSpPr>
          <p:cNvPr id="8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E0BD1BBE-62B8-4EFA-B569-31BB8C6E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5B57"/>
                </a:solidFill>
              </a:defRPr>
            </a:pPr>
            <a:r>
              <a:rPr sz="1350" b="1">
                <a:solidFill>
                  <a:srgbClr val="005B57"/>
                </a:solidFill>
              </a:rPr>
              <a:t>AI-NATIVE SOFTWARE DEVELOPMENT</a:t>
            </a:r>
          </a:p>
        </p:txBody>
      </p:sp>
      <p:sp>
        <p:nvSpPr>
          <p:cNvPr id="9" name="deck-title">
            <a:extLst xmlns:a="http://schemas.openxmlformats.org/drawingml/2006/main">
              <a:ext uri="{FF2B5EF4-FFF2-40B4-BE49-F238E27FC236}">
                <a16:creationId xmlns:a16="http://schemas.microsoft.com/office/drawing/2014/main" id="{85F04DC0-A9AD-424F-A384-4CB019D9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95250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8263A"/>
                </a:solidFill>
              </a:defRPr>
            </a:pPr>
            <a:r>
              <a:rPr sz="4350" b="1">
                <a:solidFill>
                  <a:srgbClr val="08263A"/>
                </a:solidFill>
              </a:rPr>
              <a:t>From autocomplete</a:t>
            </a:r>
          </a:p>
          <a:p xmlns:a="http://schemas.openxmlformats.org/drawingml/2006/main">
            <a:pPr algn="l">
              <a:defRPr sz="4350" b="1">
                <a:solidFill>
                  <a:srgbClr val="08263A"/>
                </a:solidFill>
              </a:defRPr>
            </a:pPr>
            <a:r>
              <a:rPr sz="4350" b="1">
                <a:solidFill>
                  <a:srgbClr val="08263A"/>
                </a:solidFill>
              </a:rPr>
              <a:t>to a durable agentic SDLC</a:t>
            </a:r>
          </a:p>
        </p:txBody>
      </p:sp>
      <p:sp>
        <p:nvSpPr>
          <p:cNvPr id="10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21D98BBD-7262-4611-9EA6-C2148712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6566A"/>
                </a:solidFill>
              </a:defRPr>
            </a:pPr>
            <a:r>
              <a:rPr sz="1800" b="0">
                <a:solidFill>
                  <a:srgbClr val="36566A"/>
                </a:solidFill>
              </a:rPr>
              <a:t>How the unit of coding work changed—and why specifications, guardrails, and evidence matter more than ever.</a:t>
            </a:r>
          </a:p>
        </p:txBody>
      </p:sp>
      <p:sp>
        <p:nvSpPr>
          <p:cNvPr id="11" name="live-start-pill">
            <a:extLst xmlns:a="http://schemas.openxmlformats.org/drawingml/2006/main">
              <a:ext uri="{FF2B5EF4-FFF2-40B4-BE49-F238E27FC236}">
                <a16:creationId xmlns:a16="http://schemas.microsoft.com/office/drawing/2014/main" id="{979FAF90-3F21-43AB-A8F2-DDB1CB36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14325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FDEAE8"/>
          </a:solidFill>
          <a:ln xmlns:a="http://schemas.openxmlformats.org/drawingml/2006/main" w="19050">
            <a:solidFill>
              <a:srgbClr val="9B2C2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LIVE CODING GOAL STARTS NOW</a:t>
            </a:r>
          </a:p>
        </p:txBody>
      </p:sp>
      <p:sp>
        <p:nvSpPr>
          <p:cNvPr id="12" name="title-folio">
            <a:extLst xmlns:a="http://schemas.openxmlformats.org/drawingml/2006/main">
              <a:ext uri="{FF2B5EF4-FFF2-40B4-BE49-F238E27FC236}">
                <a16:creationId xmlns:a16="http://schemas.microsoft.com/office/drawing/2014/main" id="{8CB0D126-67BE-4EB0-8A9E-2202B35C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7245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6566A"/>
                </a:solidFill>
              </a:defRPr>
            </a:pPr>
            <a:r>
              <a:rPr sz="1200" b="1">
                <a:solidFill>
                  <a:srgbClr val="36566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986311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header-current-2">
            <a:extLst xmlns:a="http://schemas.openxmlformats.org/drawingml/2006/main">
              <a:ext uri="{FF2B5EF4-FFF2-40B4-BE49-F238E27FC236}">
                <a16:creationId xmlns:a16="http://schemas.microsoft.com/office/drawing/2014/main" id="{7647D50A-5F6B-4067-A55A-8EBE448F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19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2">
            <a:extLst xmlns:a="http://schemas.openxmlformats.org/drawingml/2006/main">
              <a:ext uri="{FF2B5EF4-FFF2-40B4-BE49-F238E27FC236}">
                <a16:creationId xmlns:a16="http://schemas.microsoft.com/office/drawing/2014/main" id="{E98FEF09-B8B4-45A6-9B5C-FFF49A38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THE CHANGING UNIT OF WORK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0D1FE65F-39E8-47A7-B960-87E67228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63A"/>
                </a:solidFill>
              </a:defRPr>
            </a:pPr>
            <a:r>
              <a:rPr sz="2850" b="1">
                <a:solidFill>
                  <a:srgbClr val="08263A"/>
                </a:solidFill>
              </a:rPr>
              <a:t>The unit of coding work kept expanding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BD050F93-C47A-432E-ADFF-6A9B503B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66A"/>
                </a:solidFill>
              </a:defRPr>
            </a:pPr>
            <a:r>
              <a:rPr sz="1425" b="0">
                <a:solidFill>
                  <a:srgbClr val="36566A"/>
                </a:solidFill>
              </a:rPr>
              <a:t>Capabilities accumulated; each new layer widened what a developer could delegate.</a:t>
            </a:r>
          </a:p>
        </p:txBody>
      </p:sp>
      <p:sp>
        <p:nvSpPr>
          <p:cNvPr id="5" name="unit-flow-underlay">
            <a:extLst xmlns:a="http://schemas.openxmlformats.org/drawingml/2006/main">
              <a:ext uri="{FF2B5EF4-FFF2-40B4-BE49-F238E27FC236}">
                <a16:creationId xmlns:a16="http://schemas.microsoft.com/office/drawing/2014/main" id="{E607B818-CC15-4719-898A-D3254A36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10287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unit-segment-1">
            <a:extLst xmlns:a="http://schemas.openxmlformats.org/drawingml/2006/main">
              <a:ext uri="{FF2B5EF4-FFF2-40B4-BE49-F238E27FC236}">
                <a16:creationId xmlns:a16="http://schemas.microsoft.com/office/drawing/2014/main" id="{93CB8827-8697-4A64-92A9-8D20349A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1657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unit-tick-1">
            <a:extLst xmlns:a="http://schemas.openxmlformats.org/drawingml/2006/main">
              <a:ext uri="{FF2B5EF4-FFF2-40B4-BE49-F238E27FC236}">
                <a16:creationId xmlns:a16="http://schemas.microsoft.com/office/drawing/2014/main" id="{688EAB84-8A9E-4595-B276-87FA510D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28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unit-label-1">
            <a:extLst xmlns:a="http://schemas.openxmlformats.org/drawingml/2006/main">
              <a:ext uri="{FF2B5EF4-FFF2-40B4-BE49-F238E27FC236}">
                <a16:creationId xmlns:a16="http://schemas.microsoft.com/office/drawing/2014/main" id="{97A469B7-64D4-430D-9ECB-8794953D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76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5B57"/>
                </a:solidFill>
              </a:defRPr>
            </a:pPr>
            <a:r>
              <a:rPr sz="1650" b="1">
                <a:solidFill>
                  <a:srgbClr val="005B57"/>
                </a:solidFill>
              </a:rPr>
              <a:t>LINE</a:t>
            </a:r>
          </a:p>
        </p:txBody>
      </p:sp>
      <p:sp>
        <p:nvSpPr>
          <p:cNvPr id="9" name="unit-detail-1">
            <a:extLst xmlns:a="http://schemas.openxmlformats.org/drawingml/2006/main">
              <a:ext uri="{FF2B5EF4-FFF2-40B4-BE49-F238E27FC236}">
                <a16:creationId xmlns:a16="http://schemas.microsoft.com/office/drawing/2014/main" id="{5E62DDFD-181F-4E5E-8C46-80855167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263A"/>
                </a:solidFill>
              </a:defRPr>
            </a:pPr>
            <a:r>
              <a:rPr sz="1275" b="0">
                <a:solidFill>
                  <a:srgbClr val="08263A"/>
                </a:solidFill>
              </a:rPr>
              <a:t>complete code</a:t>
            </a:r>
          </a:p>
        </p:txBody>
      </p:sp>
      <p:sp>
        <p:nvSpPr>
          <p:cNvPr id="10" name="unit-segment-2">
            <a:extLst xmlns:a="http://schemas.openxmlformats.org/drawingml/2006/main">
              <a:ext uri="{FF2B5EF4-FFF2-40B4-BE49-F238E27FC236}">
                <a16:creationId xmlns:a16="http://schemas.microsoft.com/office/drawing/2014/main" id="{B736695C-9E08-4170-8A53-6994AF92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405188"/>
            <a:ext cx="16573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unit-tick-2">
            <a:extLst xmlns:a="http://schemas.openxmlformats.org/drawingml/2006/main">
              <a:ext uri="{FF2B5EF4-FFF2-40B4-BE49-F238E27FC236}">
                <a16:creationId xmlns:a16="http://schemas.microsoft.com/office/drawing/2014/main" id="{3D300872-E7E0-4A03-88E6-DA0292EA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71800"/>
            <a:ext cx="28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unit-label-2">
            <a:extLst xmlns:a="http://schemas.openxmlformats.org/drawingml/2006/main">
              <a:ext uri="{FF2B5EF4-FFF2-40B4-BE49-F238E27FC236}">
                <a16:creationId xmlns:a16="http://schemas.microsoft.com/office/drawing/2014/main" id="{29A02727-3E17-40A6-8AD6-2768D0D5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76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5B57"/>
                </a:solidFill>
              </a:defRPr>
            </a:pPr>
            <a:r>
              <a:rPr sz="1650" b="1">
                <a:solidFill>
                  <a:srgbClr val="005B57"/>
                </a:solidFill>
              </a:rPr>
              <a:t>TURN</a:t>
            </a:r>
          </a:p>
        </p:txBody>
      </p:sp>
      <p:sp>
        <p:nvSpPr>
          <p:cNvPr id="13" name="unit-detail-2">
            <a:extLst xmlns:a="http://schemas.openxmlformats.org/drawingml/2006/main">
              <a:ext uri="{FF2B5EF4-FFF2-40B4-BE49-F238E27FC236}">
                <a16:creationId xmlns:a16="http://schemas.microsoft.com/office/drawing/2014/main" id="{DF3A4B94-F978-4C31-9875-765C3CD3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1937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263A"/>
                </a:solidFill>
              </a:defRPr>
            </a:pPr>
            <a:r>
              <a:rPr sz="1275" b="0">
                <a:solidFill>
                  <a:srgbClr val="08263A"/>
                </a:solidFill>
              </a:rPr>
              <a:t>generate + refine</a:t>
            </a:r>
          </a:p>
        </p:txBody>
      </p:sp>
      <p:sp>
        <p:nvSpPr>
          <p:cNvPr id="14" name="unit-segment-3">
            <a:extLst xmlns:a="http://schemas.openxmlformats.org/drawingml/2006/main">
              <a:ext uri="{FF2B5EF4-FFF2-40B4-BE49-F238E27FC236}">
                <a16:creationId xmlns:a16="http://schemas.microsoft.com/office/drawing/2014/main" id="{3F52854E-2D41-41A1-B39D-BFE9D2D9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90900"/>
            <a:ext cx="16573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unit-tick-3">
            <a:extLst xmlns:a="http://schemas.openxmlformats.org/drawingml/2006/main">
              <a:ext uri="{FF2B5EF4-FFF2-40B4-BE49-F238E27FC236}">
                <a16:creationId xmlns:a16="http://schemas.microsoft.com/office/drawing/2014/main" id="{8F16DFCF-BC53-4FB3-BBA8-08A933C1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71800"/>
            <a:ext cx="28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unit-label-3">
            <a:extLst xmlns:a="http://schemas.openxmlformats.org/drawingml/2006/main">
              <a:ext uri="{FF2B5EF4-FFF2-40B4-BE49-F238E27FC236}">
                <a16:creationId xmlns:a16="http://schemas.microsoft.com/office/drawing/2014/main" id="{190DB95B-8D75-40FC-A332-D3B5A726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76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5B57"/>
                </a:solidFill>
              </a:defRPr>
            </a:pPr>
            <a:r>
              <a:rPr sz="1650" b="1">
                <a:solidFill>
                  <a:srgbClr val="005B57"/>
                </a:solidFill>
              </a:rPr>
              <a:t>PROBLEM</a:t>
            </a:r>
          </a:p>
        </p:txBody>
      </p:sp>
      <p:sp>
        <p:nvSpPr>
          <p:cNvPr id="17" name="unit-detail-3">
            <a:extLst xmlns:a="http://schemas.openxmlformats.org/drawingml/2006/main">
              <a:ext uri="{FF2B5EF4-FFF2-40B4-BE49-F238E27FC236}">
                <a16:creationId xmlns:a16="http://schemas.microsoft.com/office/drawing/2014/main" id="{E9E75B30-8066-4E30-B5C7-8DB73EF1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1937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263A"/>
                </a:solidFill>
              </a:defRPr>
            </a:pPr>
            <a:r>
              <a:rPr sz="1275" b="0">
                <a:solidFill>
                  <a:srgbClr val="08263A"/>
                </a:solidFill>
              </a:rPr>
              <a:t>reason through</a:t>
            </a:r>
          </a:p>
        </p:txBody>
      </p:sp>
      <p:sp>
        <p:nvSpPr>
          <p:cNvPr id="18" name="unit-segment-4">
            <a:extLst xmlns:a="http://schemas.openxmlformats.org/drawingml/2006/main">
              <a:ext uri="{FF2B5EF4-FFF2-40B4-BE49-F238E27FC236}">
                <a16:creationId xmlns:a16="http://schemas.microsoft.com/office/drawing/2014/main" id="{0FFA4F3C-8FDC-43C9-ADA5-7A3CF8D8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76613"/>
            <a:ext cx="16573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unit-tick-4">
            <a:extLst xmlns:a="http://schemas.openxmlformats.org/drawingml/2006/main">
              <a:ext uri="{FF2B5EF4-FFF2-40B4-BE49-F238E27FC236}">
                <a16:creationId xmlns:a16="http://schemas.microsoft.com/office/drawing/2014/main" id="{46ED4096-5E91-4A68-9FD8-58F5C679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71800"/>
            <a:ext cx="28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unit-label-4">
            <a:extLst xmlns:a="http://schemas.openxmlformats.org/drawingml/2006/main">
              <a:ext uri="{FF2B5EF4-FFF2-40B4-BE49-F238E27FC236}">
                <a16:creationId xmlns:a16="http://schemas.microsoft.com/office/drawing/2014/main" id="{5EC96C54-8E0C-40A2-A0E3-1ECDC065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764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5B57"/>
                </a:solidFill>
              </a:defRPr>
            </a:pPr>
            <a:r>
              <a:rPr sz="1650" b="1">
                <a:solidFill>
                  <a:srgbClr val="005B57"/>
                </a:solidFill>
              </a:rPr>
              <a:t>REPO</a:t>
            </a:r>
          </a:p>
        </p:txBody>
      </p:sp>
      <p:sp>
        <p:nvSpPr>
          <p:cNvPr id="21" name="unit-detail-4">
            <a:extLst xmlns:a="http://schemas.openxmlformats.org/drawingml/2006/main">
              <a:ext uri="{FF2B5EF4-FFF2-40B4-BE49-F238E27FC236}">
                <a16:creationId xmlns:a16="http://schemas.microsoft.com/office/drawing/2014/main" id="{D5283AB6-3372-4442-9A37-9DFA7EED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1937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263A"/>
                </a:solidFill>
              </a:defRPr>
            </a:pPr>
            <a:r>
              <a:rPr sz="1275" b="0">
                <a:solidFill>
                  <a:srgbClr val="08263A"/>
                </a:solidFill>
              </a:rPr>
              <a:t>search + edit + test</a:t>
            </a:r>
          </a:p>
        </p:txBody>
      </p:sp>
      <p:sp>
        <p:nvSpPr>
          <p:cNvPr id="22" name="unit-segment-5">
            <a:extLst xmlns:a="http://schemas.openxmlformats.org/drawingml/2006/main">
              <a:ext uri="{FF2B5EF4-FFF2-40B4-BE49-F238E27FC236}">
                <a16:creationId xmlns:a16="http://schemas.microsoft.com/office/drawing/2014/main" id="{8F7F94AE-EB25-449C-9F78-DD54860D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62325"/>
            <a:ext cx="16573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unit-tick-5">
            <a:extLst xmlns:a="http://schemas.openxmlformats.org/drawingml/2006/main">
              <a:ext uri="{FF2B5EF4-FFF2-40B4-BE49-F238E27FC236}">
                <a16:creationId xmlns:a16="http://schemas.microsoft.com/office/drawing/2014/main" id="{221EB18B-B94E-4CE5-9A5D-CD4C8E98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71800"/>
            <a:ext cx="28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unit-label-5">
            <a:extLst xmlns:a="http://schemas.openxmlformats.org/drawingml/2006/main">
              <a:ext uri="{FF2B5EF4-FFF2-40B4-BE49-F238E27FC236}">
                <a16:creationId xmlns:a16="http://schemas.microsoft.com/office/drawing/2014/main" id="{ADBA678C-6009-4C7E-A472-802542F8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76475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5B57"/>
                </a:solidFill>
              </a:defRPr>
            </a:pPr>
            <a:r>
              <a:rPr sz="1650" b="1">
                <a:solidFill>
                  <a:srgbClr val="005B57"/>
                </a:solidFill>
              </a:rPr>
              <a:t>WORKFLOW</a:t>
            </a:r>
          </a:p>
        </p:txBody>
      </p:sp>
      <p:sp>
        <p:nvSpPr>
          <p:cNvPr id="25" name="unit-detail-5">
            <a:extLst xmlns:a="http://schemas.openxmlformats.org/drawingml/2006/main">
              <a:ext uri="{FF2B5EF4-FFF2-40B4-BE49-F238E27FC236}">
                <a16:creationId xmlns:a16="http://schemas.microsoft.com/office/drawing/2014/main" id="{5A780351-85F8-4895-9895-A8B6ED13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1937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263A"/>
                </a:solidFill>
              </a:defRPr>
            </a:pPr>
            <a:r>
              <a:rPr sz="1275" b="0">
                <a:solidFill>
                  <a:srgbClr val="08263A"/>
                </a:solidFill>
              </a:rPr>
              <a:t>load practice</a:t>
            </a:r>
          </a:p>
        </p:txBody>
      </p:sp>
      <p:sp>
        <p:nvSpPr>
          <p:cNvPr id="26" name="unit-segment-6">
            <a:extLst xmlns:a="http://schemas.openxmlformats.org/drawingml/2006/main">
              <a:ext uri="{FF2B5EF4-FFF2-40B4-BE49-F238E27FC236}">
                <a16:creationId xmlns:a16="http://schemas.microsoft.com/office/drawing/2014/main" id="{087F9A6F-CF40-4169-98F4-C0C31918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338513"/>
            <a:ext cx="116205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B2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unit-tick-6">
            <a:extLst xmlns:a="http://schemas.openxmlformats.org/drawingml/2006/main">
              <a:ext uri="{FF2B5EF4-FFF2-40B4-BE49-F238E27FC236}">
                <a16:creationId xmlns:a16="http://schemas.microsoft.com/office/drawing/2014/main" id="{2D0A839B-5385-49A6-A0B6-07396667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71800"/>
            <a:ext cx="28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2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unit-label-6">
            <a:extLst xmlns:a="http://schemas.openxmlformats.org/drawingml/2006/main">
              <a:ext uri="{FF2B5EF4-FFF2-40B4-BE49-F238E27FC236}">
                <a16:creationId xmlns:a16="http://schemas.microsoft.com/office/drawing/2014/main" id="{6DB81363-A2F8-4379-8D27-972B1055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76475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B2C2C"/>
                </a:solidFill>
              </a:defRPr>
            </a:pPr>
            <a:r>
              <a:rPr sz="1650" b="1">
                <a:solidFill>
                  <a:srgbClr val="9B2C2C"/>
                </a:solidFill>
              </a:rPr>
              <a:t>GOAL</a:t>
            </a:r>
          </a:p>
        </p:txBody>
      </p:sp>
      <p:sp>
        <p:nvSpPr>
          <p:cNvPr id="29" name="unit-detail-6">
            <a:extLst xmlns:a="http://schemas.openxmlformats.org/drawingml/2006/main">
              <a:ext uri="{FF2B5EF4-FFF2-40B4-BE49-F238E27FC236}">
                <a16:creationId xmlns:a16="http://schemas.microsoft.com/office/drawing/2014/main" id="{0E5C5CE6-52C4-409C-AF80-6CC4B3A3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19375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263A"/>
                </a:solidFill>
              </a:defRPr>
            </a:pPr>
            <a:r>
              <a:rPr sz="1275" b="0">
                <a:solidFill>
                  <a:srgbClr val="08263A"/>
                </a:solidFill>
              </a:rPr>
              <a:t>plan + work + prove</a:t>
            </a:r>
          </a:p>
        </p:txBody>
      </p:sp>
      <p:sp>
        <p:nvSpPr>
          <p:cNvPr id="30" name="unit-conclusion">
            <a:extLst xmlns:a="http://schemas.openxmlformats.org/drawingml/2006/main">
              <a:ext uri="{FF2B5EF4-FFF2-40B4-BE49-F238E27FC236}">
                <a16:creationId xmlns:a16="http://schemas.microsoft.com/office/drawing/2014/main" id="{C2C1DF4D-E46C-4574-BBB8-BC99DF95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91050"/>
            <a:ext cx="765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8263A"/>
                </a:solidFill>
              </a:defRPr>
            </a:pPr>
            <a:r>
              <a:rPr sz="2100" b="1">
                <a:solidFill>
                  <a:srgbClr val="08263A"/>
                </a:solidFill>
              </a:rPr>
              <a:t>More delegation → more need for durable intent and proof</a:t>
            </a:r>
          </a:p>
        </p:txBody>
      </p:sp>
      <p:sp>
        <p:nvSpPr>
          <p:cNvPr id="31" name="overlap-caveat">
            <a:extLst xmlns:a="http://schemas.openxmlformats.org/drawingml/2006/main">
              <a:ext uri="{FF2B5EF4-FFF2-40B4-BE49-F238E27FC236}">
                <a16:creationId xmlns:a16="http://schemas.microsoft.com/office/drawing/2014/main" id="{838BF26B-0B5D-405E-AC54-3744A742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286375"/>
            <a:ext cx="5238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7F5FB"/>
          </a:solidFill>
          <a:ln xmlns:a="http://schemas.openxmlformats.org/drawingml/2006/main" w="19050">
            <a:solidFill>
              <a:srgbClr val="0056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566D"/>
                </a:solidFill>
              </a:defRPr>
            </a:pPr>
            <a:r>
              <a:rPr sz="1200" b="1">
                <a:solidFill>
                  <a:srgbClr val="00566D"/>
                </a:solidFill>
              </a:rPr>
              <a:t>STAGES OVERLAP · CAPABILITIES ACCUMULATE</a:t>
            </a:r>
          </a:p>
        </p:txBody>
      </p:sp>
      <p:sp>
        <p:nvSpPr>
          <p:cNvPr id="32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56E5C984-E3CC-44E2-AF29-C6D5B34A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ource-2">
            <a:extLst xmlns:a="http://schemas.openxmlformats.org/drawingml/2006/main">
              <a:ext uri="{FF2B5EF4-FFF2-40B4-BE49-F238E27FC236}">
                <a16:creationId xmlns:a16="http://schemas.microsoft.com/office/drawing/2014/main" id="{1086ECFA-B2F4-4D73-B586-CB739460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5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566A"/>
                </a:solidFill>
              </a:defRPr>
            </a:pPr>
            <a:r>
              <a:rPr sz="1200" b="0">
                <a:solidFill>
                  <a:srgbClr val="36566A"/>
                </a:solidFill>
              </a:rPr>
              <a:t>[1–12] Representative milestones; not exclusive product eras</a:t>
            </a:r>
          </a:p>
        </p:txBody>
      </p:sp>
      <p:sp>
        <p:nvSpPr>
          <p:cNvPr id="34" name="folio-2">
            <a:extLst xmlns:a="http://schemas.openxmlformats.org/drawingml/2006/main">
              <a:ext uri="{FF2B5EF4-FFF2-40B4-BE49-F238E27FC236}">
                <a16:creationId xmlns:a16="http://schemas.microsoft.com/office/drawing/2014/main" id="{F642FFFF-A49A-46B9-AFC6-8D066A32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6566A"/>
                </a:solidFill>
              </a:defRPr>
            </a:pPr>
            <a:r>
              <a:rPr sz="1200" b="1">
                <a:solidFill>
                  <a:srgbClr val="36566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065506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header-current-3">
            <a:extLst xmlns:a="http://schemas.openxmlformats.org/drawingml/2006/main">
              <a:ext uri="{FF2B5EF4-FFF2-40B4-BE49-F238E27FC236}">
                <a16:creationId xmlns:a16="http://schemas.microsoft.com/office/drawing/2014/main" id="{9A6F4632-A557-4F37-AF0C-05A9480E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19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3">
            <a:extLst xmlns:a="http://schemas.openxmlformats.org/drawingml/2006/main">
              <a:ext uri="{FF2B5EF4-FFF2-40B4-BE49-F238E27FC236}">
                <a16:creationId xmlns:a16="http://schemas.microsoft.com/office/drawing/2014/main" id="{E61F650E-B28B-4C10-8BC5-E64B15A1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2021 · AUTOCOMPLETE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8D5AE9A6-FB17-4845-A7E9-5F24B09C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63A"/>
                </a:solidFill>
              </a:defRPr>
            </a:pPr>
            <a:r>
              <a:rPr sz="2850" b="1">
                <a:solidFill>
                  <a:srgbClr val="08263A"/>
                </a:solidFill>
              </a:rPr>
              <a:t>Autocomplete changed the typing loop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ACABC585-DE8F-4EDB-8395-039875F2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66A"/>
                </a:solidFill>
              </a:defRPr>
            </a:pPr>
            <a:r>
              <a:rPr sz="1425" b="0">
                <a:solidFill>
                  <a:srgbClr val="36566A"/>
                </a:solidFill>
              </a:rPr>
              <a:t>Copilot made whole-line and whole-function suggestions part of everyday editor work.</a:t>
            </a:r>
          </a:p>
        </p:txBody>
      </p:sp>
      <p:sp>
        <p:nvSpPr>
          <p:cNvPr id="5" name="autocomplete-code">
            <a:extLst xmlns:a="http://schemas.openxmlformats.org/drawingml/2006/main">
              <a:ext uri="{FF2B5EF4-FFF2-40B4-BE49-F238E27FC236}">
                <a16:creationId xmlns:a16="http://schemas.microsoft.com/office/drawing/2014/main" id="{CE796A4B-C938-49A0-A0B2-8324C378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572250" cy="35433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08263A"/>
          </a:solidFill>
          <a:ln xmlns:a="http://schemas.openxmlformats.org/drawingml/2006/main" w="19050">
            <a:solidFill>
              <a:srgbClr val="0056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" name="autocomplete-file">
            <a:extLst xmlns:a="http://schemas.openxmlformats.org/drawingml/2006/main">
              <a:ext uri="{FF2B5EF4-FFF2-40B4-BE49-F238E27FC236}">
                <a16:creationId xmlns:a16="http://schemas.microsoft.com/office/drawing/2014/main" id="{E23C9D9F-7C45-42C1-B0F8-FFE1BCF2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C7B3"/>
                </a:solidFill>
              </a:defRPr>
            </a:pPr>
            <a:r>
              <a:rPr sz="1200" b="1">
                <a:solidFill>
                  <a:srgbClr val="13C7B3"/>
                </a:solidFill>
              </a:rPr>
              <a:t>cart.ts</a:t>
            </a:r>
          </a:p>
        </p:txBody>
      </p:sp>
      <p:sp>
        <p:nvSpPr>
          <p:cNvPr id="7" name="autocomplete-code-solid">
            <a:extLst xmlns:a="http://schemas.openxmlformats.org/drawingml/2006/main">
              <a:ext uri="{FF2B5EF4-FFF2-40B4-BE49-F238E27FC236}">
                <a16:creationId xmlns:a16="http://schemas.microsoft.com/office/drawing/2014/main" id="{FEA21D13-DEAE-4E8A-8FD4-8B52B5D4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5810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7FBFD"/>
                </a:solidFill>
              </a:defRPr>
            </a:pPr>
            <a:r>
              <a:rPr sz="1725" b="0">
                <a:solidFill>
                  <a:srgbClr val="F7FBFD"/>
                </a:solidFill>
              </a:rPr>
              <a:t>function total(items) {</a:t>
            </a:r>
          </a:p>
          <a:p xmlns:a="http://schemas.openxmlformats.org/drawingml/2006/main">
            <a:pPr algn="l">
              <a:defRPr sz="1725" b="0">
                <a:solidFill>
                  <a:srgbClr val="F7FBFD"/>
                </a:solidFill>
              </a:defRPr>
            </a:pPr>
            <a:r>
              <a:rPr sz="1725" b="0">
                <a:solidFill>
                  <a:srgbClr val="F7FBFD"/>
                </a:solidFill>
              </a:rPr>
              <a:t>  return items.reduce((sum, item) =&gt;</a:t>
            </a:r>
          </a:p>
        </p:txBody>
      </p:sp>
      <p:sp>
        <p:nvSpPr>
          <p:cNvPr id="8" name="autocomplete-code-ghost">
            <a:extLst xmlns:a="http://schemas.openxmlformats.org/drawingml/2006/main">
              <a:ext uri="{FF2B5EF4-FFF2-40B4-BE49-F238E27FC236}">
                <a16:creationId xmlns:a16="http://schemas.microsoft.com/office/drawing/2014/main" id="{CD72D9C2-1D97-438E-8681-5B4BBACB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76675"/>
            <a:ext cx="581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EDBFF"/>
                </a:solidFill>
              </a:defRPr>
            </a:pPr>
            <a:r>
              <a:rPr sz="1725" b="1">
                <a:solidFill>
                  <a:srgbClr val="3EDBFF"/>
                </a:solidFill>
              </a:rPr>
              <a:t>    sum + item.price, 0);</a:t>
            </a:r>
          </a:p>
          <a:p xmlns:a="http://schemas.openxmlformats.org/drawingml/2006/main">
            <a:pPr algn="l">
              <a:defRPr sz="1725" b="1">
                <a:solidFill>
                  <a:srgbClr val="3EDBFF"/>
                </a:solidFill>
              </a:defRPr>
            </a:pPr>
            <a:r>
              <a:rPr sz="1725" b="1">
                <a:solidFill>
                  <a:srgbClr val="3EDBFF"/>
                </a:solidFill>
              </a:rPr>
              <a:t>}</a:t>
            </a:r>
          </a:p>
        </p:txBody>
      </p:sp>
      <p:sp>
        <p:nvSpPr>
          <p:cNvPr id="9" name="autocomplete-cursor">
            <a:extLst xmlns:a="http://schemas.openxmlformats.org/drawingml/2006/main">
              <a:ext uri="{FF2B5EF4-FFF2-40B4-BE49-F238E27FC236}">
                <a16:creationId xmlns:a16="http://schemas.microsoft.com/office/drawing/2014/main" id="{95099628-1B13-4B2D-A296-1E88CE25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24425"/>
            <a:ext cx="47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utocomplete-unit">
            <a:extLst xmlns:a="http://schemas.openxmlformats.org/drawingml/2006/main">
              <a:ext uri="{FF2B5EF4-FFF2-40B4-BE49-F238E27FC236}">
                <a16:creationId xmlns:a16="http://schemas.microsoft.com/office/drawing/2014/main" id="{2C4C7B05-13F5-4223-AB9C-F523BEA1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36385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7F5FB"/>
          </a:solidFill>
          <a:ln xmlns:a="http://schemas.openxmlformats.org/drawingml/2006/main" w="19050">
            <a:solidFill>
              <a:srgbClr val="0056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566D"/>
                </a:solidFill>
              </a:defRPr>
            </a:pPr>
            <a:r>
              <a:rPr sz="1200" b="1">
                <a:solidFill>
                  <a:srgbClr val="00566D"/>
                </a:solidFill>
              </a:rPr>
              <a:t>UNIT · NEXT LINE OR FUNCTION</a:t>
            </a:r>
          </a:p>
        </p:txBody>
      </p:sp>
      <p:sp>
        <p:nvSpPr>
          <p:cNvPr id="11" name="autocomplete-human-label">
            <a:extLst xmlns:a="http://schemas.openxmlformats.org/drawingml/2006/main">
              <a:ext uri="{FF2B5EF4-FFF2-40B4-BE49-F238E27FC236}">
                <a16:creationId xmlns:a16="http://schemas.microsoft.com/office/drawing/2014/main" id="{DF463636-810A-4A1A-84F1-71755E75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14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5B57"/>
                </a:solidFill>
              </a:defRPr>
            </a:pPr>
            <a:r>
              <a:rPr sz="1350" b="1">
                <a:solidFill>
                  <a:srgbClr val="005B57"/>
                </a:solidFill>
              </a:rPr>
              <a:t>HUMAN ROLE</a:t>
            </a:r>
          </a:p>
        </p:txBody>
      </p:sp>
      <p:sp>
        <p:nvSpPr>
          <p:cNvPr id="12" name="autocomplete-human">
            <a:extLst xmlns:a="http://schemas.openxmlformats.org/drawingml/2006/main">
              <a:ext uri="{FF2B5EF4-FFF2-40B4-BE49-F238E27FC236}">
                <a16:creationId xmlns:a16="http://schemas.microsoft.com/office/drawing/2014/main" id="{4E3A3C81-89D6-4364-B971-84145E63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48025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63A"/>
                </a:solidFill>
              </a:defRPr>
            </a:pPr>
            <a:r>
              <a:rPr sz="1800" b="1">
                <a:solidFill>
                  <a:srgbClr val="08263A"/>
                </a:solidFill>
              </a:rPr>
              <a:t>Author the code.</a:t>
            </a:r>
          </a:p>
          <a:p xmlns:a="http://schemas.openxmlformats.org/drawingml/2006/main">
            <a:pPr algn="l">
              <a:defRPr sz="1800" b="1">
                <a:solidFill>
                  <a:srgbClr val="08263A"/>
                </a:solidFill>
              </a:defRPr>
            </a:pPr>
            <a:r>
              <a:rPr sz="1800" b="1">
                <a:solidFill>
                  <a:srgbClr val="08263A"/>
                </a:solidFill>
              </a:rPr>
              <a:t>Accept or reject the suggestion.</a:t>
            </a:r>
          </a:p>
        </p:txBody>
      </p:sp>
      <p:sp>
        <p:nvSpPr>
          <p:cNvPr id="13" name="autocomplete-constraint-label">
            <a:extLst xmlns:a="http://schemas.openxmlformats.org/drawingml/2006/main">
              <a:ext uri="{FF2B5EF4-FFF2-40B4-BE49-F238E27FC236}">
                <a16:creationId xmlns:a16="http://schemas.microsoft.com/office/drawing/2014/main" id="{1F6438C0-BAB7-4A97-9108-A40F6BFD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529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2C2C"/>
                </a:solidFill>
              </a:defRPr>
            </a:pPr>
            <a:r>
              <a:rPr sz="1350" b="1">
                <a:solidFill>
                  <a:srgbClr val="9B2C2C"/>
                </a:solidFill>
              </a:rPr>
              <a:t>CONTEXT LIMIT</a:t>
            </a:r>
          </a:p>
        </p:txBody>
      </p:sp>
      <p:sp>
        <p:nvSpPr>
          <p:cNvPr id="14" name="autocomplete-constraint">
            <a:extLst xmlns:a="http://schemas.openxmlformats.org/drawingml/2006/main">
              <a:ext uri="{FF2B5EF4-FFF2-40B4-BE49-F238E27FC236}">
                <a16:creationId xmlns:a16="http://schemas.microsoft.com/office/drawing/2014/main" id="{99AFAFB8-C3DD-444D-9FB7-07AEB246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8630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6566A"/>
                </a:solidFill>
              </a:defRPr>
            </a:pPr>
            <a:r>
              <a:rPr sz="1500" b="0">
                <a:solidFill>
                  <a:srgbClr val="36566A"/>
                </a:solidFill>
              </a:rPr>
              <a:t>Mostly the code visible—or retrieved—inside the editor.</a:t>
            </a:r>
          </a:p>
        </p:txBody>
      </p:sp>
      <p:sp>
        <p:nvSpPr>
          <p:cNvPr id="15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DE199CE6-72F8-42FF-8193-992A59C9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ource-3">
            <a:extLst xmlns:a="http://schemas.openxmlformats.org/drawingml/2006/main">
              <a:ext uri="{FF2B5EF4-FFF2-40B4-BE49-F238E27FC236}">
                <a16:creationId xmlns:a16="http://schemas.microsoft.com/office/drawing/2014/main" id="{3893000A-DAC1-4736-A65E-B212D57D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5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566A"/>
                </a:solidFill>
              </a:defRPr>
            </a:pPr>
            <a:r>
              <a:rPr sz="1200" b="0">
                <a:solidFill>
                  <a:srgbClr val="36566A"/>
                </a:solidFill>
              </a:rPr>
              <a:t>[1] GitHub Copilot technical preview</a:t>
            </a:r>
          </a:p>
        </p:txBody>
      </p:sp>
      <p:sp>
        <p:nvSpPr>
          <p:cNvPr id="17" name="folio-3">
            <a:extLst xmlns:a="http://schemas.openxmlformats.org/drawingml/2006/main">
              <a:ext uri="{FF2B5EF4-FFF2-40B4-BE49-F238E27FC236}">
                <a16:creationId xmlns:a16="http://schemas.microsoft.com/office/drawing/2014/main" id="{20E2E4AD-BD29-4625-A240-C47642CC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6566A"/>
                </a:solidFill>
              </a:defRPr>
            </a:pPr>
            <a:r>
              <a:rPr sz="1200" b="1">
                <a:solidFill>
                  <a:srgbClr val="36566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248078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header-current-4">
            <a:extLst xmlns:a="http://schemas.openxmlformats.org/drawingml/2006/main">
              <a:ext uri="{FF2B5EF4-FFF2-40B4-BE49-F238E27FC236}">
                <a16:creationId xmlns:a16="http://schemas.microsoft.com/office/drawing/2014/main" id="{41A69161-30A9-4704-9F9A-4DE81220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19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4">
            <a:extLst xmlns:a="http://schemas.openxmlformats.org/drawingml/2006/main">
              <a:ext uri="{FF2B5EF4-FFF2-40B4-BE49-F238E27FC236}">
                <a16:creationId xmlns:a16="http://schemas.microsoft.com/office/drawing/2014/main" id="{E19A99DB-8522-4437-8D89-733F0D95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2022 · CONVERSATIONAL CODING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D2CDBDA9-F5C8-4419-B003-FABB2F83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63A"/>
                </a:solidFill>
              </a:defRPr>
            </a:pPr>
            <a:r>
              <a:rPr sz="2850" b="1">
                <a:solidFill>
                  <a:srgbClr val="08263A"/>
                </a:solidFill>
              </a:rPr>
              <a:t>Conversation made coding iterative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6E37AE8A-87C0-4E79-A9F0-FB8DF77E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66A"/>
                </a:solidFill>
              </a:defRPr>
            </a:pPr>
            <a:r>
              <a:rPr sz="1425" b="0">
                <a:solidFill>
                  <a:srgbClr val="36566A"/>
                </a:solidFill>
              </a:rPr>
              <a:t>Generate, explain, and refine turned the developer into the source of missing context.</a:t>
            </a:r>
          </a:p>
        </p:txBody>
      </p:sp>
      <p:sp>
        <p:nvSpPr>
          <p:cNvPr id="5" name="conversation-turn-1">
            <a:extLst xmlns:a="http://schemas.openxmlformats.org/drawingml/2006/main">
              <a:ext uri="{FF2B5EF4-FFF2-40B4-BE49-F238E27FC236}">
                <a16:creationId xmlns:a16="http://schemas.microsoft.com/office/drawing/2014/main" id="{935711A8-D358-4B9C-8CD3-0E157687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4953000" cy="9144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E7F5FB"/>
          </a:solidFill>
          <a:ln xmlns:a="http://schemas.openxmlformats.org/drawingml/2006/main" w="19050">
            <a:solidFill>
              <a:srgbClr val="0056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6" name="conversation-label-1">
            <a:extLst xmlns:a="http://schemas.openxmlformats.org/drawingml/2006/main">
              <a:ext uri="{FF2B5EF4-FFF2-40B4-BE49-F238E27FC236}">
                <a16:creationId xmlns:a16="http://schemas.microsoft.com/office/drawing/2014/main" id="{4E4D3A89-18A2-4D4D-BB02-A35FD769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1932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566D"/>
                </a:solidFill>
              </a:defRPr>
            </a:pPr>
            <a:r>
              <a:rPr sz="1275" b="1">
                <a:solidFill>
                  <a:srgbClr val="00566D"/>
                </a:solidFill>
              </a:rPr>
              <a:t>GENERATE</a:t>
            </a:r>
          </a:p>
        </p:txBody>
      </p:sp>
      <p:sp>
        <p:nvSpPr>
          <p:cNvPr id="7" name="conversation-text-1">
            <a:extLst xmlns:a="http://schemas.openxmlformats.org/drawingml/2006/main">
              <a:ext uri="{FF2B5EF4-FFF2-40B4-BE49-F238E27FC236}">
                <a16:creationId xmlns:a16="http://schemas.microsoft.com/office/drawing/2014/main" id="{D8322736-741C-4EEE-B567-B904433E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63A"/>
                </a:solidFill>
              </a:defRPr>
            </a:pPr>
            <a:r>
              <a:rPr sz="1575" b="1">
                <a:solidFill>
                  <a:srgbClr val="08263A"/>
                </a:solidFill>
              </a:rPr>
              <a:t>Draft a parser for this payload.</a:t>
            </a:r>
          </a:p>
        </p:txBody>
      </p:sp>
      <p:sp>
        <p:nvSpPr>
          <p:cNvPr id="8" name="conversation-turn-2">
            <a:extLst xmlns:a="http://schemas.openxmlformats.org/drawingml/2006/main">
              <a:ext uri="{FF2B5EF4-FFF2-40B4-BE49-F238E27FC236}">
                <a16:creationId xmlns:a16="http://schemas.microsoft.com/office/drawing/2014/main" id="{28792607-5431-45CC-97F4-A414A287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48025"/>
            <a:ext cx="4953000" cy="9144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DDF4F4"/>
          </a:solidFill>
          <a:ln xmlns:a="http://schemas.openxmlformats.org/drawingml/2006/main" w="19050">
            <a:solidFill>
              <a:srgbClr val="005B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9" name="conversation-label-2">
            <a:extLst xmlns:a="http://schemas.openxmlformats.org/drawingml/2006/main">
              <a:ext uri="{FF2B5EF4-FFF2-40B4-BE49-F238E27FC236}">
                <a16:creationId xmlns:a16="http://schemas.microsoft.com/office/drawing/2014/main" id="{42CB6DE9-5753-43FB-87C8-045B0AAE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4099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5B57"/>
                </a:solidFill>
              </a:defRPr>
            </a:pPr>
            <a:r>
              <a:rPr sz="1275" b="1">
                <a:solidFill>
                  <a:srgbClr val="005B57"/>
                </a:solidFill>
              </a:rPr>
              <a:t>EXPLAIN</a:t>
            </a:r>
          </a:p>
        </p:txBody>
      </p:sp>
      <p:sp>
        <p:nvSpPr>
          <p:cNvPr id="10" name="conversation-text-2">
            <a:extLst xmlns:a="http://schemas.openxmlformats.org/drawingml/2006/main">
              <a:ext uri="{FF2B5EF4-FFF2-40B4-BE49-F238E27FC236}">
                <a16:creationId xmlns:a16="http://schemas.microsoft.com/office/drawing/2014/main" id="{F293B7E3-FFB4-427B-A601-2EC79061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1475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63A"/>
                </a:solidFill>
              </a:defRPr>
            </a:pPr>
            <a:r>
              <a:rPr sz="1575" b="1">
                <a:solidFill>
                  <a:srgbClr val="08263A"/>
                </a:solidFill>
              </a:rPr>
              <a:t>Why does it fail on empty input?</a:t>
            </a:r>
          </a:p>
        </p:txBody>
      </p:sp>
      <p:sp>
        <p:nvSpPr>
          <p:cNvPr id="11" name="conversation-turn-3">
            <a:extLst xmlns:a="http://schemas.openxmlformats.org/drawingml/2006/main">
              <a:ext uri="{FF2B5EF4-FFF2-40B4-BE49-F238E27FC236}">
                <a16:creationId xmlns:a16="http://schemas.microsoft.com/office/drawing/2014/main" id="{DA260F12-A4A8-4D80-9C3A-0AE782D1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38650"/>
            <a:ext cx="4953000" cy="9144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DEAE8"/>
          </a:solidFill>
          <a:ln xmlns:a="http://schemas.openxmlformats.org/drawingml/2006/main" w="19050">
            <a:solidFill>
              <a:srgbClr val="9B2C2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2" name="conversation-label-3">
            <a:extLst xmlns:a="http://schemas.openxmlformats.org/drawingml/2006/main">
              <a:ext uri="{FF2B5EF4-FFF2-40B4-BE49-F238E27FC236}">
                <a16:creationId xmlns:a16="http://schemas.microsoft.com/office/drawing/2014/main" id="{D4416ECB-793F-467B-B5F3-E6662D82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005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2C2C"/>
                </a:solidFill>
              </a:defRPr>
            </a:pPr>
            <a:r>
              <a:rPr sz="1275" b="1">
                <a:solidFill>
                  <a:srgbClr val="9B2C2C"/>
                </a:solidFill>
              </a:rPr>
              <a:t>REFINE</a:t>
            </a:r>
          </a:p>
        </p:txBody>
      </p:sp>
      <p:sp>
        <p:nvSpPr>
          <p:cNvPr id="13" name="conversation-text-3">
            <a:extLst xmlns:a="http://schemas.openxmlformats.org/drawingml/2006/main">
              <a:ext uri="{FF2B5EF4-FFF2-40B4-BE49-F238E27FC236}">
                <a16:creationId xmlns:a16="http://schemas.microsoft.com/office/drawing/2014/main" id="{69FA849E-13D7-406A-8E79-767A04DB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0537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63A"/>
                </a:solidFill>
              </a:defRPr>
            </a:pPr>
            <a:r>
              <a:rPr sz="1575" b="1">
                <a:solidFill>
                  <a:srgbClr val="08263A"/>
                </a:solidFill>
              </a:rPr>
              <a:t>Keep the API; add validation and tests.</a:t>
            </a:r>
          </a:p>
        </p:txBody>
      </p:sp>
      <p:sp>
        <p:nvSpPr>
          <p:cNvPr id="14" name="conversation-constraint-line">
            <a:extLst xmlns:a="http://schemas.openxmlformats.org/drawingml/2006/main">
              <a:ext uri="{FF2B5EF4-FFF2-40B4-BE49-F238E27FC236}">
                <a16:creationId xmlns:a16="http://schemas.microsoft.com/office/drawing/2014/main" id="{0459E5AF-4C3C-410A-BFCB-6FFB75CE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305050"/>
            <a:ext cx="285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2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versation-constraint">
            <a:extLst xmlns:a="http://schemas.openxmlformats.org/drawingml/2006/main">
              <a:ext uri="{FF2B5EF4-FFF2-40B4-BE49-F238E27FC236}">
                <a16:creationId xmlns:a16="http://schemas.microsoft.com/office/drawing/2014/main" id="{CA8056F4-B67C-48C7-8FA6-23150746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057525"/>
            <a:ext cx="13525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2C2C"/>
                </a:solidFill>
              </a:defRPr>
            </a:pPr>
            <a:r>
              <a:rPr sz="1350" b="1">
                <a:solidFill>
                  <a:srgbClr val="9B2C2C"/>
                </a:solidFill>
              </a:rPr>
              <a:t>Useful context</a:t>
            </a:r>
          </a:p>
          <a:p xmlns:a="http://schemas.openxmlformats.org/drawingml/2006/main">
            <a:pPr algn="l">
              <a:defRPr sz="1350" b="1">
                <a:solidFill>
                  <a:srgbClr val="9B2C2C"/>
                </a:solidFill>
              </a:defRPr>
            </a:pPr>
            <a:r>
              <a:rPr sz="1350" b="1">
                <a:solidFill>
                  <a:srgbClr val="9B2C2C"/>
                </a:solidFill>
              </a:rPr>
              <a:t>still lived in</a:t>
            </a:r>
          </a:p>
          <a:p xmlns:a="http://schemas.openxmlformats.org/drawingml/2006/main">
            <a:pPr algn="l">
              <a:defRPr sz="1350" b="1">
                <a:solidFill>
                  <a:srgbClr val="9B2C2C"/>
                </a:solidFill>
              </a:defRPr>
            </a:pPr>
            <a:r>
              <a:rPr sz="1350" b="1">
                <a:solidFill>
                  <a:srgbClr val="9B2C2C"/>
                </a:solidFill>
              </a:rPr>
              <a:t>conversation.</a:t>
            </a:r>
          </a:p>
        </p:txBody>
      </p:sp>
      <p:sp>
        <p:nvSpPr>
          <p:cNvPr id="16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B97E3094-892E-494E-A442-9C404D88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ource-4">
            <a:extLst xmlns:a="http://schemas.openxmlformats.org/drawingml/2006/main">
              <a:ext uri="{FF2B5EF4-FFF2-40B4-BE49-F238E27FC236}">
                <a16:creationId xmlns:a16="http://schemas.microsoft.com/office/drawing/2014/main" id="{387D86BB-4A17-4E69-8D8C-E67C16A7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5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566A"/>
                </a:solidFill>
              </a:defRPr>
            </a:pPr>
            <a:r>
              <a:rPr sz="1200" b="0">
                <a:solidFill>
                  <a:srgbClr val="36566A"/>
                </a:solidFill>
              </a:rPr>
              <a:t>[2] ChatGPT research preview</a:t>
            </a:r>
          </a:p>
        </p:txBody>
      </p:sp>
      <p:sp>
        <p:nvSpPr>
          <p:cNvPr id="18" name="folio-4">
            <a:extLst xmlns:a="http://schemas.openxmlformats.org/drawingml/2006/main">
              <a:ext uri="{FF2B5EF4-FFF2-40B4-BE49-F238E27FC236}">
                <a16:creationId xmlns:a16="http://schemas.microsoft.com/office/drawing/2014/main" id="{8B2061DF-3F87-4EFB-9552-4ADB5C09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6566A"/>
                </a:solidFill>
              </a:defRPr>
            </a:pPr>
            <a:r>
              <a:rPr sz="1200" b="1">
                <a:solidFill>
                  <a:srgbClr val="36566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229730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-current-5">
            <a:extLst xmlns:a="http://schemas.openxmlformats.org/drawingml/2006/main">
              <a:ext uri="{FF2B5EF4-FFF2-40B4-BE49-F238E27FC236}">
                <a16:creationId xmlns:a16="http://schemas.microsoft.com/office/drawing/2014/main" id="{D75097E1-EBA0-453F-AF02-6CA8EE68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19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5">
            <a:extLst xmlns:a="http://schemas.openxmlformats.org/drawingml/2006/main">
              <a:ext uri="{FF2B5EF4-FFF2-40B4-BE49-F238E27FC236}">
                <a16:creationId xmlns:a16="http://schemas.microsoft.com/office/drawing/2014/main" id="{AAA64E3C-14BC-46DC-B7F5-29025673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2024 · REASONING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2F78EC54-8BFF-4419-A06F-A46C6ED6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63A"/>
                </a:solidFill>
              </a:defRPr>
            </a:pPr>
            <a:r>
              <a:rPr sz="2850" b="1">
                <a:solidFill>
                  <a:srgbClr val="08263A"/>
                </a:solidFill>
              </a:rPr>
              <a:t>Reasoning became a capability lever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C55282B5-ADBD-4DE9-A70F-54B89F7C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66A"/>
                </a:solidFill>
              </a:defRPr>
            </a:pPr>
            <a:r>
              <a:rPr sz="1425" b="0">
                <a:solidFill>
                  <a:srgbClr val="36566A"/>
                </a:solidFill>
              </a:rPr>
              <a:t>More inference can improve hard problems—but it cannot recover requirements that were never supplied.</a:t>
            </a:r>
          </a:p>
        </p:txBody>
      </p:sp>
      <p:sp>
        <p:nvSpPr>
          <p:cNvPr id="5" name="reasoning-path-a">
            <a:extLst xmlns:a="http://schemas.openxmlformats.org/drawingml/2006/main">
              <a:ext uri="{FF2B5EF4-FFF2-40B4-BE49-F238E27FC236}">
                <a16:creationId xmlns:a16="http://schemas.microsoft.com/office/drawing/2014/main" id="{D0435EC6-F562-46A8-B831-A4B14F41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90825"/>
            <a:ext cx="2362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asoning-path-b">
            <a:extLst xmlns:a="http://schemas.openxmlformats.org/drawingml/2006/main">
              <a:ext uri="{FF2B5EF4-FFF2-40B4-BE49-F238E27FC236}">
                <a16:creationId xmlns:a16="http://schemas.microsoft.com/office/drawing/2014/main" id="{72988ABD-924A-4C10-BF78-C2C7AE19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47875"/>
            <a:ext cx="2000250" cy="1066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asoning-path-c">
            <a:extLst xmlns:a="http://schemas.openxmlformats.org/drawingml/2006/main">
              <a:ext uri="{FF2B5EF4-FFF2-40B4-BE49-F238E27FC236}">
                <a16:creationId xmlns:a16="http://schemas.microsoft.com/office/drawing/2014/main" id="{EBFDE520-A8AB-4F9B-AF70-FD791191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38475"/>
            <a:ext cx="2000250" cy="1066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2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asoning-path-d">
            <a:extLst xmlns:a="http://schemas.openxmlformats.org/drawingml/2006/main">
              <a:ext uri="{FF2B5EF4-FFF2-40B4-BE49-F238E27FC236}">
                <a16:creationId xmlns:a16="http://schemas.microsoft.com/office/drawing/2014/main" id="{BF2DDC25-1016-47CA-976E-7418CAB5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90825"/>
            <a:ext cx="22479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asoning-node-1">
            <a:extLst xmlns:a="http://schemas.openxmlformats.org/drawingml/2006/main">
              <a:ext uri="{FF2B5EF4-FFF2-40B4-BE49-F238E27FC236}">
                <a16:creationId xmlns:a16="http://schemas.microsoft.com/office/drawing/2014/main" id="{8D04E282-BE7D-49ED-B19D-714ED124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61925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56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0" name="reasoning-node-title-1">
            <a:extLst xmlns:a="http://schemas.openxmlformats.org/drawingml/2006/main">
              <a:ext uri="{FF2B5EF4-FFF2-40B4-BE49-F238E27FC236}">
                <a16:creationId xmlns:a16="http://schemas.microsoft.com/office/drawing/2014/main" id="{AE457235-A1AC-4A06-8D9A-6C84CFAC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566D"/>
                </a:solidFill>
              </a:defRPr>
            </a:pPr>
            <a:r>
              <a:rPr sz="1650" b="1">
                <a:solidFill>
                  <a:srgbClr val="00566D"/>
                </a:solidFill>
              </a:rPr>
              <a:t>PROBLEM</a:t>
            </a:r>
          </a:p>
        </p:txBody>
      </p:sp>
      <p:sp>
        <p:nvSpPr>
          <p:cNvPr id="11" name="reasoning-node-detail-1">
            <a:extLst xmlns:a="http://schemas.openxmlformats.org/drawingml/2006/main">
              <a:ext uri="{FF2B5EF4-FFF2-40B4-BE49-F238E27FC236}">
                <a16:creationId xmlns:a16="http://schemas.microsoft.com/office/drawing/2014/main" id="{7B40EA9D-4AD9-4EAD-B9FD-64EC09CD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8263A"/>
                </a:solidFill>
              </a:defRPr>
            </a:pPr>
            <a:r>
              <a:rPr sz="1275" b="0">
                <a:solidFill>
                  <a:srgbClr val="08263A"/>
                </a:solidFill>
              </a:rPr>
              <a:t>multi-step task</a:t>
            </a:r>
          </a:p>
        </p:txBody>
      </p:sp>
      <p:sp>
        <p:nvSpPr>
          <p:cNvPr id="12" name="reasoning-node-2">
            <a:extLst xmlns:a="http://schemas.openxmlformats.org/drawingml/2006/main">
              <a:ext uri="{FF2B5EF4-FFF2-40B4-BE49-F238E27FC236}">
                <a16:creationId xmlns:a16="http://schemas.microsoft.com/office/drawing/2014/main" id="{2FE94F5C-099B-4A12-8AC0-8F7804EB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762125"/>
            <a:ext cx="1981200" cy="895350"/>
          </a:xfrm>
          <a:prstGeom xmlns:a="http://schemas.openxmlformats.org/drawingml/2006/main" prst="roundRect">
            <a:avLst>
              <a:gd name="adj" fmla="val 21277"/>
            </a:avLst>
          </a:prstGeom>
          <a:solidFill xmlns:a="http://schemas.openxmlformats.org/drawingml/2006/main">
            <a:srgbClr val="E7F5FB"/>
          </a:solidFill>
          <a:ln xmlns:a="http://schemas.openxmlformats.org/drawingml/2006/main" w="19050">
            <a:solidFill>
              <a:srgbClr val="0056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3" name="reasoning-node-title-2">
            <a:extLst xmlns:a="http://schemas.openxmlformats.org/drawingml/2006/main">
              <a:ext uri="{FF2B5EF4-FFF2-40B4-BE49-F238E27FC236}">
                <a16:creationId xmlns:a16="http://schemas.microsoft.com/office/drawing/2014/main" id="{202E2209-FB63-4A46-86B3-65929C05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95262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566D"/>
                </a:solidFill>
              </a:defRPr>
            </a:pPr>
            <a:r>
              <a:rPr sz="1650" b="1">
                <a:solidFill>
                  <a:srgbClr val="00566D"/>
                </a:solidFill>
              </a:rPr>
              <a:t>CHECK</a:t>
            </a:r>
          </a:p>
        </p:txBody>
      </p:sp>
      <p:sp>
        <p:nvSpPr>
          <p:cNvPr id="14" name="reasoning-node-detail-2">
            <a:extLst xmlns:a="http://schemas.openxmlformats.org/drawingml/2006/main">
              <a:ext uri="{FF2B5EF4-FFF2-40B4-BE49-F238E27FC236}">
                <a16:creationId xmlns:a16="http://schemas.microsoft.com/office/drawing/2014/main" id="{51699084-2A00-426E-9856-6C28B9D3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3050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8263A"/>
                </a:solidFill>
              </a:defRPr>
            </a:pPr>
            <a:r>
              <a:rPr sz="1275" b="0">
                <a:solidFill>
                  <a:srgbClr val="08263A"/>
                </a:solidFill>
              </a:rPr>
              <a:t>find a flaw</a:t>
            </a:r>
          </a:p>
        </p:txBody>
      </p:sp>
      <p:sp>
        <p:nvSpPr>
          <p:cNvPr id="15" name="reasoning-node-3">
            <a:extLst xmlns:a="http://schemas.openxmlformats.org/drawingml/2006/main">
              <a:ext uri="{FF2B5EF4-FFF2-40B4-BE49-F238E27FC236}">
                <a16:creationId xmlns:a16="http://schemas.microsoft.com/office/drawing/2014/main" id="{E7386ECA-A62A-483B-ADBB-DF830C36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667125"/>
            <a:ext cx="1981200" cy="895350"/>
          </a:xfrm>
          <a:prstGeom xmlns:a="http://schemas.openxmlformats.org/drawingml/2006/main" prst="roundRect">
            <a:avLst>
              <a:gd name="adj" fmla="val 21277"/>
            </a:avLst>
          </a:prstGeom>
          <a:solidFill xmlns:a="http://schemas.openxmlformats.org/drawingml/2006/main">
            <a:srgbClr val="FDEAE8"/>
          </a:solidFill>
          <a:ln xmlns:a="http://schemas.openxmlformats.org/drawingml/2006/main" w="19050">
            <a:solidFill>
              <a:srgbClr val="9B2C2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6" name="reasoning-node-title-3">
            <a:extLst xmlns:a="http://schemas.openxmlformats.org/drawingml/2006/main">
              <a:ext uri="{FF2B5EF4-FFF2-40B4-BE49-F238E27FC236}">
                <a16:creationId xmlns:a16="http://schemas.microsoft.com/office/drawing/2014/main" id="{38DDD94C-9826-4E5F-AF77-ECB7FF6D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857625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B2C2C"/>
                </a:solidFill>
              </a:defRPr>
            </a:pPr>
            <a:r>
              <a:rPr sz="1650" b="1">
                <a:solidFill>
                  <a:srgbClr val="9B2C2C"/>
                </a:solidFill>
              </a:rPr>
              <a:t>REVISE</a:t>
            </a:r>
          </a:p>
        </p:txBody>
      </p:sp>
      <p:sp>
        <p:nvSpPr>
          <p:cNvPr id="17" name="reasoning-node-detail-3">
            <a:extLst xmlns:a="http://schemas.openxmlformats.org/drawingml/2006/main">
              <a:ext uri="{FF2B5EF4-FFF2-40B4-BE49-F238E27FC236}">
                <a16:creationId xmlns:a16="http://schemas.microsoft.com/office/drawing/2014/main" id="{E74F2DC3-634A-4F87-AFAC-1527E9F2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2100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8263A"/>
                </a:solidFill>
              </a:defRPr>
            </a:pPr>
            <a:r>
              <a:rPr sz="1275" b="0">
                <a:solidFill>
                  <a:srgbClr val="08263A"/>
                </a:solidFill>
              </a:rPr>
              <a:t>try another path</a:t>
            </a:r>
          </a:p>
        </p:txBody>
      </p:sp>
      <p:sp>
        <p:nvSpPr>
          <p:cNvPr id="18" name="reasoning-node-4">
            <a:extLst xmlns:a="http://schemas.openxmlformats.org/drawingml/2006/main">
              <a:ext uri="{FF2B5EF4-FFF2-40B4-BE49-F238E27FC236}">
                <a16:creationId xmlns:a16="http://schemas.microsoft.com/office/drawing/2014/main" id="{9E865A9C-0F35-47C7-B64D-4572020A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00300"/>
            <a:ext cx="182880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DDF4F4"/>
          </a:solidFill>
          <a:ln xmlns:a="http://schemas.openxmlformats.org/drawingml/2006/main" w="19050">
            <a:solidFill>
              <a:srgbClr val="005B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9" name="reasoning-node-title-4">
            <a:extLst xmlns:a="http://schemas.openxmlformats.org/drawingml/2006/main">
              <a:ext uri="{FF2B5EF4-FFF2-40B4-BE49-F238E27FC236}">
                <a16:creationId xmlns:a16="http://schemas.microsoft.com/office/drawing/2014/main" id="{7F41BEB2-061F-42EC-A796-AAFA0044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908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5B57"/>
                </a:solidFill>
              </a:defRPr>
            </a:pPr>
            <a:r>
              <a:rPr sz="1650" b="1">
                <a:solidFill>
                  <a:srgbClr val="005B57"/>
                </a:solidFill>
              </a:rPr>
              <a:t>ANSWER</a:t>
            </a:r>
          </a:p>
        </p:txBody>
      </p:sp>
      <p:sp>
        <p:nvSpPr>
          <p:cNvPr id="20" name="reasoning-node-detail-4">
            <a:extLst xmlns:a="http://schemas.openxmlformats.org/drawingml/2006/main">
              <a:ext uri="{FF2B5EF4-FFF2-40B4-BE49-F238E27FC236}">
                <a16:creationId xmlns:a16="http://schemas.microsoft.com/office/drawing/2014/main" id="{374E15A8-45CD-4E1D-B454-37D638A3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4322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8263A"/>
                </a:solidFill>
              </a:defRPr>
            </a:pPr>
            <a:r>
              <a:rPr sz="1275" b="0">
                <a:solidFill>
                  <a:srgbClr val="08263A"/>
                </a:solidFill>
              </a:rPr>
              <a:t>validated result</a:t>
            </a:r>
          </a:p>
        </p:txBody>
      </p:sp>
      <p:sp>
        <p:nvSpPr>
          <p:cNvPr id="21" name="reasoning-boundary">
            <a:extLst xmlns:a="http://schemas.openxmlformats.org/drawingml/2006/main">
              <a:ext uri="{FF2B5EF4-FFF2-40B4-BE49-F238E27FC236}">
                <a16:creationId xmlns:a16="http://schemas.microsoft.com/office/drawing/2014/main" id="{ACE4EC6F-F7CC-4099-887E-D823E823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066925"/>
            <a:ext cx="1295400" cy="238125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08263A"/>
          </a:solidFill>
          <a:ln xmlns:a="http://schemas.openxmlformats.org/drawingml/2006/main" w="19050">
            <a:solidFill>
              <a:srgbClr val="08263A"/>
            </a:solidFill>
            <a:prstDash val="solid"/>
          </a:ln>
        </p:spPr>
      </p:sp>
      <p:sp>
        <p:nvSpPr>
          <p:cNvPr id="22" name="reasoning-boundary-text">
            <a:extLst xmlns:a="http://schemas.openxmlformats.org/drawingml/2006/main">
              <a:ext uri="{FF2B5EF4-FFF2-40B4-BE49-F238E27FC236}">
                <a16:creationId xmlns:a16="http://schemas.microsoft.com/office/drawing/2014/main" id="{62DC4D0B-7F05-4277-90C9-B773B56D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571750"/>
            <a:ext cx="1028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EDBFF"/>
                </a:solidFill>
              </a:defRPr>
            </a:pPr>
            <a:r>
              <a:rPr sz="1350" b="1">
                <a:solidFill>
                  <a:srgbClr val="3EDBFF"/>
                </a:solidFill>
              </a:rPr>
              <a:t>MISSING</a:t>
            </a:r>
          </a:p>
          <a:p xmlns:a="http://schemas.openxmlformats.org/drawingml/2006/main">
            <a:pPr algn="ctr">
              <a:defRPr sz="1350" b="1">
                <a:solidFill>
                  <a:srgbClr val="3EDBFF"/>
                </a:solidFill>
              </a:defRPr>
            </a:pPr>
            <a:r>
              <a:rPr sz="1350" b="1">
                <a:solidFill>
                  <a:srgbClr val="3EDBFF"/>
                </a:solidFill>
              </a:rPr>
              <a:t>INTENT</a:t>
            </a:r>
          </a:p>
          <a:p xmlns:a="http://schemas.openxmlformats.org/drawingml/2006/main">
            <a:pPr algn="ctr">
              <a:defRPr sz="1350" b="1">
                <a:solidFill>
                  <a:srgbClr val="3EDBFF"/>
                </a:solidFill>
              </a:defRPr>
            </a:pPr>
            <a:r>
              <a:rPr sz="1350" b="1">
                <a:solidFill>
                  <a:srgbClr val="3EDBFF"/>
                </a:solidFill>
              </a:rPr>
              <a:t>STAYS</a:t>
            </a:r>
          </a:p>
          <a:p xmlns:a="http://schemas.openxmlformats.org/drawingml/2006/main">
            <a:pPr algn="ctr">
              <a:defRPr sz="1350" b="1">
                <a:solidFill>
                  <a:srgbClr val="3EDBFF"/>
                </a:solidFill>
              </a:defRPr>
            </a:pPr>
            <a:r>
              <a:rPr sz="1350" b="1">
                <a:solidFill>
                  <a:srgbClr val="3EDBFF"/>
                </a:solidFill>
              </a:rPr>
              <a:t>MISSING</a:t>
            </a:r>
          </a:p>
        </p:txBody>
      </p:sp>
      <p:sp>
        <p:nvSpPr>
          <p:cNvPr id="23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7ADF405B-87EB-4FFE-BE75-B91A037A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ource-5">
            <a:extLst xmlns:a="http://schemas.openxmlformats.org/drawingml/2006/main">
              <a:ext uri="{FF2B5EF4-FFF2-40B4-BE49-F238E27FC236}">
                <a16:creationId xmlns:a16="http://schemas.microsoft.com/office/drawing/2014/main" id="{F101509B-1992-4041-B3B0-86B11299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5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566A"/>
                </a:solidFill>
              </a:defRPr>
            </a:pPr>
            <a:r>
              <a:rPr sz="1200" b="0">
                <a:solidFill>
                  <a:srgbClr val="36566A"/>
                </a:solidFill>
              </a:rPr>
              <a:t>[3] OpenAI o1-preview</a:t>
            </a:r>
          </a:p>
        </p:txBody>
      </p:sp>
      <p:sp>
        <p:nvSpPr>
          <p:cNvPr id="25" name="folio-5">
            <a:extLst xmlns:a="http://schemas.openxmlformats.org/drawingml/2006/main">
              <a:ext uri="{FF2B5EF4-FFF2-40B4-BE49-F238E27FC236}">
                <a16:creationId xmlns:a16="http://schemas.microsoft.com/office/drawing/2014/main" id="{F54F3F4B-634F-4EA4-9B15-94BF610D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6566A"/>
                </a:solidFill>
              </a:defRPr>
            </a:pPr>
            <a:r>
              <a:rPr sz="1200" b="1">
                <a:solidFill>
                  <a:srgbClr val="36566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549388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header-current-6">
            <a:extLst xmlns:a="http://schemas.openxmlformats.org/drawingml/2006/main">
              <a:ext uri="{FF2B5EF4-FFF2-40B4-BE49-F238E27FC236}">
                <a16:creationId xmlns:a16="http://schemas.microsoft.com/office/drawing/2014/main" id="{894C5394-D231-455B-AC75-3599E72C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19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6">
            <a:extLst xmlns:a="http://schemas.openxmlformats.org/drawingml/2006/main">
              <a:ext uri="{FF2B5EF4-FFF2-40B4-BE49-F238E27FC236}">
                <a16:creationId xmlns:a16="http://schemas.microsoft.com/office/drawing/2014/main" id="{6E078AE9-6687-472A-AD4A-005F0706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2025 · TOOL-USING AGENTS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61736A81-766A-4C18-856F-097018D7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63A"/>
                </a:solidFill>
              </a:defRPr>
            </a:pPr>
            <a:r>
              <a:rPr sz="2850" b="1">
                <a:solidFill>
                  <a:srgbClr val="08263A"/>
                </a:solidFill>
              </a:rPr>
              <a:t>The harness made agents operational</a:t>
            </a:r>
          </a:p>
        </p:txBody>
      </p:sp>
      <p:sp>
        <p:nvSpPr>
          <p:cNvPr id="4" name="subtitle-6">
            <a:extLst xmlns:a="http://schemas.openxmlformats.org/drawingml/2006/main">
              <a:ext uri="{FF2B5EF4-FFF2-40B4-BE49-F238E27FC236}">
                <a16:creationId xmlns:a16="http://schemas.microsoft.com/office/drawing/2014/main" id="{29339E0A-1FB7-4598-BF42-0E4E82C8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66A"/>
                </a:solidFill>
              </a:defRPr>
            </a:pPr>
            <a:r>
              <a:rPr sz="1425" b="0">
                <a:solidFill>
                  <a:srgbClr val="36566A"/>
                </a:solidFill>
              </a:rPr>
              <a:t>Search, files, terminals, tests, and source control turned model output into repository work.</a:t>
            </a:r>
          </a:p>
        </p:txBody>
      </p:sp>
      <p:sp>
        <p:nvSpPr>
          <p:cNvPr id="5" name="tool-connector-1">
            <a:extLst xmlns:a="http://schemas.openxmlformats.org/drawingml/2006/main">
              <a:ext uri="{FF2B5EF4-FFF2-40B4-BE49-F238E27FC236}">
                <a16:creationId xmlns:a16="http://schemas.microsoft.com/office/drawing/2014/main" id="{42D98E78-09B9-4FA8-AC7C-7C8F3645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00300"/>
            <a:ext cx="19526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ool-connector-2">
            <a:extLst xmlns:a="http://schemas.openxmlformats.org/drawingml/2006/main">
              <a:ext uri="{FF2B5EF4-FFF2-40B4-BE49-F238E27FC236}">
                <a16:creationId xmlns:a16="http://schemas.microsoft.com/office/drawing/2014/main" id="{5E44FB72-648D-40FA-8100-FB8A9D2C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648200"/>
            <a:ext cx="19526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ool-connector-3">
            <a:extLst xmlns:a="http://schemas.openxmlformats.org/drawingml/2006/main">
              <a:ext uri="{FF2B5EF4-FFF2-40B4-BE49-F238E27FC236}">
                <a16:creationId xmlns:a16="http://schemas.microsoft.com/office/drawing/2014/main" id="{79633DAA-2D69-4092-A299-513EBA32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00300"/>
            <a:ext cx="19526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2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ool-connector-4">
            <a:extLst xmlns:a="http://schemas.openxmlformats.org/drawingml/2006/main">
              <a:ext uri="{FF2B5EF4-FFF2-40B4-BE49-F238E27FC236}">
                <a16:creationId xmlns:a16="http://schemas.microsoft.com/office/drawing/2014/main" id="{DDB82064-EF0E-422B-83B1-DEF93C04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48200"/>
            <a:ext cx="19526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ool-port-1">
            <a:extLst xmlns:a="http://schemas.openxmlformats.org/drawingml/2006/main">
              <a:ext uri="{FF2B5EF4-FFF2-40B4-BE49-F238E27FC236}">
                <a16:creationId xmlns:a16="http://schemas.microsoft.com/office/drawing/2014/main" id="{81BB9890-2E08-40EE-B940-3A6BB928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1952625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7F5FB"/>
          </a:solidFill>
          <a:ln xmlns:a="http://schemas.openxmlformats.org/drawingml/2006/main" w="19050">
            <a:solidFill>
              <a:srgbClr val="0056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0" name="tool-port-label-1">
            <a:extLst xmlns:a="http://schemas.openxmlformats.org/drawingml/2006/main">
              <a:ext uri="{FF2B5EF4-FFF2-40B4-BE49-F238E27FC236}">
                <a16:creationId xmlns:a16="http://schemas.microsoft.com/office/drawing/2014/main" id="{4CDD1B80-63CA-4206-9705-B4A56199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526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566D"/>
                </a:solidFill>
              </a:defRPr>
            </a:pPr>
            <a:r>
              <a:rPr sz="1650" b="1">
                <a:solidFill>
                  <a:srgbClr val="00566D"/>
                </a:solidFill>
              </a:rPr>
              <a:t>SEARCH</a:t>
            </a:r>
          </a:p>
        </p:txBody>
      </p:sp>
      <p:sp>
        <p:nvSpPr>
          <p:cNvPr id="11" name="tool-port-2">
            <a:extLst xmlns:a="http://schemas.openxmlformats.org/drawingml/2006/main">
              <a:ext uri="{FF2B5EF4-FFF2-40B4-BE49-F238E27FC236}">
                <a16:creationId xmlns:a16="http://schemas.microsoft.com/office/drawing/2014/main" id="{C93E66D3-B82F-4E48-9648-EB5C65F5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1952625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DDF4F4"/>
          </a:solidFill>
          <a:ln xmlns:a="http://schemas.openxmlformats.org/drawingml/2006/main" w="19050">
            <a:solidFill>
              <a:srgbClr val="005B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2" name="tool-port-label-2">
            <a:extLst xmlns:a="http://schemas.openxmlformats.org/drawingml/2006/main">
              <a:ext uri="{FF2B5EF4-FFF2-40B4-BE49-F238E27FC236}">
                <a16:creationId xmlns:a16="http://schemas.microsoft.com/office/drawing/2014/main" id="{0D5F4816-BD2E-4CB3-BEB3-72E31411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005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5B57"/>
                </a:solidFill>
              </a:defRPr>
            </a:pPr>
            <a:r>
              <a:rPr sz="1650" b="1">
                <a:solidFill>
                  <a:srgbClr val="005B57"/>
                </a:solidFill>
              </a:rPr>
              <a:t>FILES</a:t>
            </a:r>
          </a:p>
        </p:txBody>
      </p:sp>
      <p:sp>
        <p:nvSpPr>
          <p:cNvPr id="13" name="tool-port-3">
            <a:extLst xmlns:a="http://schemas.openxmlformats.org/drawingml/2006/main">
              <a:ext uri="{FF2B5EF4-FFF2-40B4-BE49-F238E27FC236}">
                <a16:creationId xmlns:a16="http://schemas.microsoft.com/office/drawing/2014/main" id="{04DD039D-C551-4D9A-A8EB-1C3446F3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095500"/>
            <a:ext cx="1952625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DEAE8"/>
          </a:solidFill>
          <a:ln xmlns:a="http://schemas.openxmlformats.org/drawingml/2006/main" w="19050">
            <a:solidFill>
              <a:srgbClr val="9B2C2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4" name="tool-port-label-3">
            <a:extLst xmlns:a="http://schemas.openxmlformats.org/drawingml/2006/main">
              <a:ext uri="{FF2B5EF4-FFF2-40B4-BE49-F238E27FC236}">
                <a16:creationId xmlns:a16="http://schemas.microsoft.com/office/drawing/2014/main" id="{555577A6-B438-4F15-A8DD-A71ACCD3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526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B2C2C"/>
                </a:solidFill>
              </a:defRPr>
            </a:pPr>
            <a:r>
              <a:rPr sz="1650" b="1">
                <a:solidFill>
                  <a:srgbClr val="9B2C2C"/>
                </a:solidFill>
              </a:rPr>
              <a:t>TERMINAL</a:t>
            </a:r>
          </a:p>
        </p:txBody>
      </p:sp>
      <p:sp>
        <p:nvSpPr>
          <p:cNvPr id="15" name="tool-port-4">
            <a:extLst xmlns:a="http://schemas.openxmlformats.org/drawingml/2006/main">
              <a:ext uri="{FF2B5EF4-FFF2-40B4-BE49-F238E27FC236}">
                <a16:creationId xmlns:a16="http://schemas.microsoft.com/office/drawing/2014/main" id="{EE1B2C64-5C68-47AC-B5F0-6FCBFE05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43400"/>
            <a:ext cx="1952625" cy="8382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DDF4F4"/>
          </a:solidFill>
          <a:ln xmlns:a="http://schemas.openxmlformats.org/drawingml/2006/main" w="19050">
            <a:solidFill>
              <a:srgbClr val="005B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6" name="tool-port-label-4">
            <a:extLst xmlns:a="http://schemas.openxmlformats.org/drawingml/2006/main">
              <a:ext uri="{FF2B5EF4-FFF2-40B4-BE49-F238E27FC236}">
                <a16:creationId xmlns:a16="http://schemas.microsoft.com/office/drawing/2014/main" id="{1478A2DF-3117-452C-A520-10520B42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600575"/>
            <a:ext cx="1724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5B57"/>
                </a:solidFill>
              </a:defRPr>
            </a:pPr>
            <a:r>
              <a:rPr sz="1650" b="1">
                <a:solidFill>
                  <a:srgbClr val="005B57"/>
                </a:solidFill>
              </a:rPr>
              <a:t>TESTS + GIT</a:t>
            </a:r>
          </a:p>
        </p:txBody>
      </p:sp>
      <p:sp>
        <p:nvSpPr>
          <p:cNvPr id="17" name="tool-agent-core">
            <a:extLst xmlns:a="http://schemas.openxmlformats.org/drawingml/2006/main">
              <a:ext uri="{FF2B5EF4-FFF2-40B4-BE49-F238E27FC236}">
                <a16:creationId xmlns:a16="http://schemas.microsoft.com/office/drawing/2014/main" id="{16A46A70-4EB4-46B8-960C-7FAFA895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47950"/>
            <a:ext cx="2247900" cy="1790700"/>
          </a:xfrm>
          <a:prstGeom xmlns:a="http://schemas.openxmlformats.org/drawingml/2006/main" prst="roundRect">
            <a:avLst>
              <a:gd name="adj" fmla="val 15957"/>
            </a:avLst>
          </a:prstGeom>
          <a:solidFill xmlns:a="http://schemas.openxmlformats.org/drawingml/2006/main">
            <a:srgbClr val="08263A"/>
          </a:solidFill>
          <a:ln xmlns:a="http://schemas.openxmlformats.org/drawingml/2006/main" w="28575">
            <a:solidFill>
              <a:srgbClr val="0056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18" name="tool-agent-core-title">
            <a:extLst xmlns:a="http://schemas.openxmlformats.org/drawingml/2006/main">
              <a:ext uri="{FF2B5EF4-FFF2-40B4-BE49-F238E27FC236}">
                <a16:creationId xmlns:a16="http://schemas.microsoft.com/office/drawing/2014/main" id="{28409168-6EDD-43FA-A468-C94E2033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09900"/>
            <a:ext cx="1676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7FBFD"/>
                </a:solidFill>
              </a:defRPr>
            </a:pPr>
            <a:r>
              <a:rPr sz="2325" b="1">
                <a:solidFill>
                  <a:srgbClr val="F7FBFD"/>
                </a:solidFill>
              </a:rPr>
              <a:t>CODING</a:t>
            </a:r>
          </a:p>
          <a:p xmlns:a="http://schemas.openxmlformats.org/drawingml/2006/main">
            <a:pPr algn="ctr">
              <a:defRPr sz="2325" b="1">
                <a:solidFill>
                  <a:srgbClr val="F7FBFD"/>
                </a:solidFill>
              </a:defRPr>
            </a:pPr>
            <a:r>
              <a:rPr sz="2325" b="1">
                <a:solidFill>
                  <a:srgbClr val="F7FBFD"/>
                </a:solidFill>
              </a:rPr>
              <a:t>AGENT</a:t>
            </a:r>
          </a:p>
        </p:txBody>
      </p:sp>
      <p:sp>
        <p:nvSpPr>
          <p:cNvPr id="19" name="tool-agent-core-detail">
            <a:extLst xmlns:a="http://schemas.openxmlformats.org/drawingml/2006/main">
              <a:ext uri="{FF2B5EF4-FFF2-40B4-BE49-F238E27FC236}">
                <a16:creationId xmlns:a16="http://schemas.microsoft.com/office/drawing/2014/main" id="{A18EED63-1510-47BA-8BE4-8793C313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3C7B3"/>
                </a:solidFill>
              </a:defRPr>
            </a:pPr>
            <a:r>
              <a:rPr sz="1275" b="1">
                <a:solidFill>
                  <a:srgbClr val="13C7B3"/>
                </a:solidFill>
              </a:rPr>
              <a:t>model + harness</a:t>
            </a:r>
          </a:p>
        </p:txBody>
      </p:sp>
      <p:sp>
        <p:nvSpPr>
          <p:cNvPr id="20" name="tool-boundary">
            <a:extLst xmlns:a="http://schemas.openxmlformats.org/drawingml/2006/main">
              <a:ext uri="{FF2B5EF4-FFF2-40B4-BE49-F238E27FC236}">
                <a16:creationId xmlns:a16="http://schemas.microsoft.com/office/drawing/2014/main" id="{6B98DA69-4ACC-4087-8240-EF3EFB3A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410200"/>
            <a:ext cx="466725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FDEAE8"/>
          </a:solidFill>
          <a:ln xmlns:a="http://schemas.openxmlformats.org/drawingml/2006/main" w="19050">
            <a:solidFill>
              <a:srgbClr val="9B2C2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TOOLS INCREASE REACH—NOT INTENT</a:t>
            </a:r>
          </a:p>
        </p:txBody>
      </p:sp>
      <p:sp>
        <p:nvSpPr>
          <p:cNvPr id="21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177FCBAC-34E8-4A29-8355-D7961E3A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ource-6">
            <a:extLst xmlns:a="http://schemas.openxmlformats.org/drawingml/2006/main">
              <a:ext uri="{FF2B5EF4-FFF2-40B4-BE49-F238E27FC236}">
                <a16:creationId xmlns:a16="http://schemas.microsoft.com/office/drawing/2014/main" id="{83EA2CDF-9066-42D8-8F35-17A6514A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5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566A"/>
                </a:solidFill>
              </a:defRPr>
            </a:pPr>
            <a:r>
              <a:rPr sz="1200" b="0">
                <a:solidFill>
                  <a:srgbClr val="36566A"/>
                </a:solidFill>
              </a:rPr>
              <a:t>[4] Claude Code · [5] Cursor Agent</a:t>
            </a:r>
          </a:p>
        </p:txBody>
      </p:sp>
      <p:sp>
        <p:nvSpPr>
          <p:cNvPr id="23" name="folio-6">
            <a:extLst xmlns:a="http://schemas.openxmlformats.org/drawingml/2006/main">
              <a:ext uri="{FF2B5EF4-FFF2-40B4-BE49-F238E27FC236}">
                <a16:creationId xmlns:a16="http://schemas.microsoft.com/office/drawing/2014/main" id="{CB65CCA1-8F47-4483-97F9-85FF2A61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6566A"/>
                </a:solidFill>
              </a:defRPr>
            </a:pPr>
            <a:r>
              <a:rPr sz="1200" b="1">
                <a:solidFill>
                  <a:srgbClr val="36566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340750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header-current-7">
            <a:extLst xmlns:a="http://schemas.openxmlformats.org/drawingml/2006/main">
              <a:ext uri="{FF2B5EF4-FFF2-40B4-BE49-F238E27FC236}">
                <a16:creationId xmlns:a16="http://schemas.microsoft.com/office/drawing/2014/main" id="{01FC869A-3B57-4233-91D2-5AD7B8E2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19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7">
            <a:extLst xmlns:a="http://schemas.openxmlformats.org/drawingml/2006/main">
              <a:ext uri="{FF2B5EF4-FFF2-40B4-BE49-F238E27FC236}">
                <a16:creationId xmlns:a16="http://schemas.microsoft.com/office/drawing/2014/main" id="{44B240E6-9555-429C-B3B4-2EC7103A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2025 · CONDITIONAL CONTEXT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95822140-4BF5-4D90-AB97-6FE7B2B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63A"/>
                </a:solidFill>
              </a:defRPr>
            </a:pPr>
            <a:r>
              <a:rPr sz="2850" b="1">
                <a:solidFill>
                  <a:srgbClr val="08263A"/>
                </a:solidFill>
              </a:rPr>
              <a:t>Skills made context conditional</a:t>
            </a:r>
          </a:p>
        </p:txBody>
      </p:sp>
      <p:sp>
        <p:nvSpPr>
          <p:cNvPr id="4" name="subtitle-7">
            <a:extLst xmlns:a="http://schemas.openxmlformats.org/drawingml/2006/main">
              <a:ext uri="{FF2B5EF4-FFF2-40B4-BE49-F238E27FC236}">
                <a16:creationId xmlns:a16="http://schemas.microsoft.com/office/drawing/2014/main" id="{4A347280-B1B7-4B2D-8119-6BD14E5B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66A"/>
                </a:solidFill>
              </a:defRPr>
            </a:pPr>
            <a:r>
              <a:rPr sz="1425" b="0">
                <a:solidFill>
                  <a:srgbClr val="36566A"/>
                </a:solidFill>
              </a:rPr>
              <a:t>A task signal can load specialized procedure only when the work calls for it.</a:t>
            </a:r>
          </a:p>
        </p:txBody>
      </p:sp>
      <p:sp>
        <p:nvSpPr>
          <p:cNvPr id="5" name="skill-signal-arrow">
            <a:extLst xmlns:a="http://schemas.openxmlformats.org/drawingml/2006/main">
              <a:ext uri="{FF2B5EF4-FFF2-40B4-BE49-F238E27FC236}">
                <a16:creationId xmlns:a16="http://schemas.microsoft.com/office/drawing/2014/main" id="{83F8BB6A-BDD0-4889-94F7-A6BBA4B6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95650"/>
            <a:ext cx="18097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kill-load-arrow">
            <a:extLst xmlns:a="http://schemas.openxmlformats.org/drawingml/2006/main">
              <a:ext uri="{FF2B5EF4-FFF2-40B4-BE49-F238E27FC236}">
                <a16:creationId xmlns:a16="http://schemas.microsoft.com/office/drawing/2014/main" id="{015428E3-A687-4781-A481-75D1ED0A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95650"/>
            <a:ext cx="18097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kill-folder">
            <a:extLst xmlns:a="http://schemas.openxmlformats.org/drawingml/2006/main">
              <a:ext uri="{FF2B5EF4-FFF2-40B4-BE49-F238E27FC236}">
                <a16:creationId xmlns:a16="http://schemas.microsoft.com/office/drawing/2014/main" id="{839B5205-73E3-44C7-B686-18B97DE9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3143250" cy="270510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56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8" name="skill-folder-tab">
            <a:extLst xmlns:a="http://schemas.openxmlformats.org/drawingml/2006/main">
              <a:ext uri="{FF2B5EF4-FFF2-40B4-BE49-F238E27FC236}">
                <a16:creationId xmlns:a16="http://schemas.microsoft.com/office/drawing/2014/main" id="{769FE0BC-D26C-4FC8-A455-3EA6F7BE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135255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7F5FB"/>
          </a:solidFill>
          <a:ln xmlns:a="http://schemas.openxmlformats.org/drawingml/2006/main" w="19050">
            <a:solidFill>
              <a:srgbClr val="00566D"/>
            </a:solidFill>
            <a:prstDash val="solid"/>
          </a:ln>
        </p:spPr>
      </p:sp>
      <p:sp>
        <p:nvSpPr>
          <p:cNvPr id="9" name="skill-file">
            <a:extLst xmlns:a="http://schemas.openxmlformats.org/drawingml/2006/main">
              <a:ext uri="{FF2B5EF4-FFF2-40B4-BE49-F238E27FC236}">
                <a16:creationId xmlns:a16="http://schemas.microsoft.com/office/drawing/2014/main" id="{A18DBBE9-B95A-4C1A-8999-361FF7B0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2533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63A"/>
                </a:solidFill>
              </a:defRPr>
            </a:pPr>
            <a:r>
              <a:rPr sz="2550" b="1">
                <a:solidFill>
                  <a:srgbClr val="08263A"/>
                </a:solidFill>
              </a:rPr>
              <a:t>SKILL.md</a:t>
            </a:r>
          </a:p>
        </p:txBody>
      </p:sp>
      <p:sp>
        <p:nvSpPr>
          <p:cNvPr id="10" name="skill-contents">
            <a:extLst xmlns:a="http://schemas.openxmlformats.org/drawingml/2006/main">
              <a:ext uri="{FF2B5EF4-FFF2-40B4-BE49-F238E27FC236}">
                <a16:creationId xmlns:a16="http://schemas.microsoft.com/office/drawing/2014/main" id="{7342F50B-75B0-4269-9BB3-CE6F3ED1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19475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6566A"/>
                </a:solidFill>
              </a:defRPr>
            </a:pPr>
            <a:r>
              <a:rPr sz="1650" b="0">
                <a:solidFill>
                  <a:srgbClr val="36566A"/>
                </a:solidFill>
              </a:rPr>
              <a:t>instructions</a:t>
            </a:r>
          </a:p>
          <a:p xmlns:a="http://schemas.openxmlformats.org/drawingml/2006/main">
            <a:pPr algn="l">
              <a:defRPr sz="1650" b="0">
                <a:solidFill>
                  <a:srgbClr val="36566A"/>
                </a:solidFill>
              </a:defRPr>
            </a:pPr>
            <a:r>
              <a:rPr sz="1650" b="0">
                <a:solidFill>
                  <a:srgbClr val="36566A"/>
                </a:solidFill>
              </a:rPr>
              <a:t>scripts</a:t>
            </a:r>
          </a:p>
          <a:p xmlns:a="http://schemas.openxmlformats.org/drawingml/2006/main">
            <a:pPr algn="l">
              <a:defRPr sz="1650" b="0">
                <a:solidFill>
                  <a:srgbClr val="36566A"/>
                </a:solidFill>
              </a:defRPr>
            </a:pPr>
            <a:r>
              <a:rPr sz="1650" b="0">
                <a:solidFill>
                  <a:srgbClr val="36566A"/>
                </a:solidFill>
              </a:rPr>
              <a:t>resources</a:t>
            </a:r>
          </a:p>
        </p:txBody>
      </p:sp>
      <p:sp>
        <p:nvSpPr>
          <p:cNvPr id="11" name="skill-match">
            <a:extLst xmlns:a="http://schemas.openxmlformats.org/drawingml/2006/main">
              <a:ext uri="{FF2B5EF4-FFF2-40B4-BE49-F238E27FC236}">
                <a16:creationId xmlns:a16="http://schemas.microsoft.com/office/drawing/2014/main" id="{06D2AE46-413C-46B2-8EBC-2769256A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19375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AE8"/>
          </a:solidFill>
          <a:ln xmlns:a="http://schemas.openxmlformats.org/drawingml/2006/main" w="28575">
            <a:solidFill>
              <a:srgbClr val="9B2C2C"/>
            </a:solidFill>
            <a:prstDash val="solid"/>
          </a:ln>
        </p:spPr>
      </p:sp>
      <p:sp>
        <p:nvSpPr>
          <p:cNvPr id="12" name="skill-match-text">
            <a:extLst xmlns:a="http://schemas.openxmlformats.org/drawingml/2006/main">
              <a:ext uri="{FF2B5EF4-FFF2-40B4-BE49-F238E27FC236}">
                <a16:creationId xmlns:a16="http://schemas.microsoft.com/office/drawing/2014/main" id="{D2D7949D-21B2-4784-8726-BA559308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B2C2C"/>
                </a:solidFill>
              </a:defRPr>
            </a:pPr>
            <a:r>
              <a:rPr sz="2250" b="1">
                <a:solidFill>
                  <a:srgbClr val="9B2C2C"/>
                </a:solidFill>
              </a:rPr>
              <a:t>TASK</a:t>
            </a:r>
          </a:p>
          <a:p xmlns:a="http://schemas.openxmlformats.org/drawingml/2006/main">
            <a:pPr algn="ctr">
              <a:defRPr sz="2250" b="1">
                <a:solidFill>
                  <a:srgbClr val="9B2C2C"/>
                </a:solidFill>
              </a:defRPr>
            </a:pPr>
            <a:r>
              <a:rPr sz="2250" b="1">
                <a:solidFill>
                  <a:srgbClr val="9B2C2C"/>
                </a:solidFill>
              </a:rPr>
              <a:t>MATCH</a:t>
            </a:r>
          </a:p>
        </p:txBody>
      </p:sp>
      <p:sp>
        <p:nvSpPr>
          <p:cNvPr id="13" name="active-context">
            <a:extLst xmlns:a="http://schemas.openxmlformats.org/drawingml/2006/main">
              <a:ext uri="{FF2B5EF4-FFF2-40B4-BE49-F238E27FC236}">
                <a16:creationId xmlns:a16="http://schemas.microsoft.com/office/drawing/2014/main" id="{8779D4A6-2781-4530-A47D-911BC4CD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71700"/>
            <a:ext cx="3219450" cy="2724150"/>
          </a:xfrm>
          <a:prstGeom xmlns:a="http://schemas.openxmlformats.org/drawingml/2006/main" prst="roundRect">
            <a:avLst>
              <a:gd name="adj" fmla="val 9790"/>
            </a:avLst>
          </a:prstGeom>
          <a:solidFill xmlns:a="http://schemas.openxmlformats.org/drawingml/2006/main">
            <a:srgbClr val="08263A"/>
          </a:solidFill>
          <a:ln xmlns:a="http://schemas.openxmlformats.org/drawingml/2006/main" w="28575">
            <a:solidFill>
              <a:srgbClr val="005B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5"/>
          <a:fontRef xmlns:a="http://schemas.openxmlformats.org/drawingml/2006/main" idx="major"/>
        </p:style>
      </p:sp>
      <p:sp>
        <p:nvSpPr>
          <p:cNvPr id="14" name="active-context-label">
            <a:extLst xmlns:a="http://schemas.openxmlformats.org/drawingml/2006/main">
              <a:ext uri="{FF2B5EF4-FFF2-40B4-BE49-F238E27FC236}">
                <a16:creationId xmlns:a16="http://schemas.microsoft.com/office/drawing/2014/main" id="{7B9CA04C-DFAF-4504-8A94-3C067F87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717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C7B3"/>
                </a:solidFill>
              </a:defRPr>
            </a:pPr>
            <a:r>
              <a:rPr sz="1650" b="1">
                <a:solidFill>
                  <a:srgbClr val="13C7B3"/>
                </a:solidFill>
              </a:rPr>
              <a:t>ACTIVE CONTEXT</a:t>
            </a:r>
          </a:p>
        </p:txBody>
      </p:sp>
      <p:sp>
        <p:nvSpPr>
          <p:cNvPr id="15" name="active-context-body">
            <a:extLst xmlns:a="http://schemas.openxmlformats.org/drawingml/2006/main">
              <a:ext uri="{FF2B5EF4-FFF2-40B4-BE49-F238E27FC236}">
                <a16:creationId xmlns:a16="http://schemas.microsoft.com/office/drawing/2014/main" id="{9E6AB67D-785B-401E-BA83-4A542A15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14675"/>
            <a:ext cx="24574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BFD"/>
                </a:solidFill>
              </a:defRPr>
            </a:pPr>
            <a:r>
              <a:rPr sz="1650" b="1">
                <a:solidFill>
                  <a:srgbClr val="F7FBFD"/>
                </a:solidFill>
              </a:rPr>
              <a:t>Metadata stays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F7FBFD"/>
                </a:solidFill>
              </a:defRPr>
            </a:pPr>
            <a:r>
              <a:rPr sz="1650" b="1">
                <a:solidFill>
                  <a:srgbClr val="F7FBFD"/>
                </a:solidFill>
              </a:rPr>
              <a:t>Full procedure loads</a:t>
            </a:r>
          </a:p>
          <a:p xmlns:a="http://schemas.openxmlformats.org/drawingml/2006/main">
            <a:pPr algn="ctr">
              <a:defRPr sz="1650" b="1">
                <a:solidFill>
                  <a:srgbClr val="F7FBFD"/>
                </a:solidFill>
              </a:defRPr>
            </a:pPr>
            <a:r>
              <a:rPr sz="1650" b="1">
                <a:solidFill>
                  <a:srgbClr val="F7FBFD"/>
                </a:solidFill>
              </a:rPr>
              <a:t>when relevant.</a:t>
            </a:r>
          </a:p>
        </p:txBody>
      </p:sp>
      <p:sp>
        <p:nvSpPr>
          <p:cNvPr id="16" name="skill-limit">
            <a:extLst xmlns:a="http://schemas.openxmlformats.org/drawingml/2006/main">
              <a:ext uri="{FF2B5EF4-FFF2-40B4-BE49-F238E27FC236}">
                <a16:creationId xmlns:a16="http://schemas.microsoft.com/office/drawing/2014/main" id="{77D449C0-71A0-45C0-8E6A-15C28F3C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62575"/>
            <a:ext cx="552450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E7F5FB"/>
          </a:solidFill>
          <a:ln xmlns:a="http://schemas.openxmlformats.org/drawingml/2006/main" w="19050">
            <a:solidFill>
              <a:srgbClr val="0056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PROJECT STATE STILL NEEDS DURABLE OWNERSHIP</a:t>
            </a:r>
          </a:p>
        </p:txBody>
      </p:sp>
      <p:sp>
        <p:nvSpPr>
          <p:cNvPr id="17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1DD42B92-06BB-4EDD-B0C6-7B82099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ource-7">
            <a:extLst xmlns:a="http://schemas.openxmlformats.org/drawingml/2006/main">
              <a:ext uri="{FF2B5EF4-FFF2-40B4-BE49-F238E27FC236}">
                <a16:creationId xmlns:a16="http://schemas.microsoft.com/office/drawing/2014/main" id="{88768FAC-06CD-4D10-99E8-86F1A476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5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566A"/>
                </a:solidFill>
              </a:defRPr>
            </a:pPr>
            <a:r>
              <a:rPr sz="1200" b="0">
                <a:solidFill>
                  <a:srgbClr val="36566A"/>
                </a:solidFill>
              </a:rPr>
              <a:t>[6] Agent Skills and SKILL.md</a:t>
            </a:r>
          </a:p>
        </p:txBody>
      </p:sp>
      <p:sp>
        <p:nvSpPr>
          <p:cNvPr id="19" name="folio-7">
            <a:extLst xmlns:a="http://schemas.openxmlformats.org/drawingml/2006/main">
              <a:ext uri="{FF2B5EF4-FFF2-40B4-BE49-F238E27FC236}">
                <a16:creationId xmlns:a16="http://schemas.microsoft.com/office/drawing/2014/main" id="{C74C159A-D250-44C2-A2F4-6C3AEC37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6566A"/>
                </a:solidFill>
              </a:defRPr>
            </a:pPr>
            <a:r>
              <a:rPr sz="1200" b="1">
                <a:solidFill>
                  <a:srgbClr val="36566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71946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header-current-8">
            <a:extLst xmlns:a="http://schemas.openxmlformats.org/drawingml/2006/main">
              <a:ext uri="{FF2B5EF4-FFF2-40B4-BE49-F238E27FC236}">
                <a16:creationId xmlns:a16="http://schemas.microsoft.com/office/drawing/2014/main" id="{82E953EB-B0DB-4E5C-BEF0-3F9DF1C4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19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8">
            <a:extLst xmlns:a="http://schemas.openxmlformats.org/drawingml/2006/main">
              <a:ext uri="{FF2B5EF4-FFF2-40B4-BE49-F238E27FC236}">
                <a16:creationId xmlns:a16="http://schemas.microsoft.com/office/drawing/2014/main" id="{E261FF18-A60D-4EB7-8374-BFE12889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LONG-HORIZON, GOAL-DRIVEN WORK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64D05732-5058-42EB-852B-227F7E66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63A"/>
                </a:solidFill>
              </a:defRPr>
            </a:pPr>
            <a:r>
              <a:rPr sz="2850" b="1">
                <a:solidFill>
                  <a:srgbClr val="08263A"/>
                </a:solidFill>
              </a:rPr>
              <a:t>The work is outgrowing a single context window</a:t>
            </a:r>
          </a:p>
        </p:txBody>
      </p:sp>
      <p:sp>
        <p:nvSpPr>
          <p:cNvPr id="4" name="subtitle-8">
            <a:extLst xmlns:a="http://schemas.openxmlformats.org/drawingml/2006/main">
              <a:ext uri="{FF2B5EF4-FFF2-40B4-BE49-F238E27FC236}">
                <a16:creationId xmlns:a16="http://schemas.microsoft.com/office/drawing/2014/main" id="{E3317C54-3476-44B5-B1C7-9FB79375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66A"/>
                </a:solidFill>
              </a:defRPr>
            </a:pPr>
            <a:r>
              <a:rPr sz="1425" b="0">
                <a:solidFill>
                  <a:srgbClr val="36566A"/>
                </a:solidFill>
              </a:rPr>
              <a:t>Larger delegated tasks make continuity, recovery, and completion criteria part of the engineering problem.</a:t>
            </a:r>
          </a:p>
        </p:txBody>
      </p:sp>
      <p:sp>
        <p:nvSpPr>
          <p:cNvPr id="5" name="horizon-metric-panel">
            <a:extLst xmlns:a="http://schemas.openxmlformats.org/drawingml/2006/main">
              <a:ext uri="{FF2B5EF4-FFF2-40B4-BE49-F238E27FC236}">
                <a16:creationId xmlns:a16="http://schemas.microsoft.com/office/drawing/2014/main" id="{9F75FEF3-E7FE-4B1C-88F6-B9EBE023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953000" cy="3143250"/>
          </a:xfrm>
          <a:prstGeom xmlns:a="http://schemas.openxmlformats.org/drawingml/2006/main" prst="roundRect">
            <a:avLst>
              <a:gd name="adj" fmla="val 78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56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6"/>
          <a:fontRef xmlns:a="http://schemas.openxmlformats.org/drawingml/2006/main" idx="major"/>
        </p:style>
      </p:sp>
      <p:sp>
        <p:nvSpPr>
          <p:cNvPr id="6" name="horizon-metric-kicker">
            <a:extLst xmlns:a="http://schemas.openxmlformats.org/drawingml/2006/main">
              <a:ext uri="{FF2B5EF4-FFF2-40B4-BE49-F238E27FC236}">
                <a16:creationId xmlns:a16="http://schemas.microsoft.com/office/drawing/2014/main" id="{0AE023CE-22C6-4F0A-9404-DA16E8F0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566D"/>
                </a:solidFill>
              </a:defRPr>
            </a:pPr>
            <a:r>
              <a:rPr sz="1350" b="1">
                <a:solidFill>
                  <a:srgbClr val="00566D"/>
                </a:solidFill>
              </a:rPr>
              <a:t>CODEX USAGE STUDY</a:t>
            </a:r>
          </a:p>
        </p:txBody>
      </p:sp>
      <p:sp>
        <p:nvSpPr>
          <p:cNvPr id="7" name="horizon-metric-value">
            <a:extLst xmlns:a="http://schemas.openxmlformats.org/drawingml/2006/main">
              <a:ext uri="{FF2B5EF4-FFF2-40B4-BE49-F238E27FC236}">
                <a16:creationId xmlns:a16="http://schemas.microsoft.com/office/drawing/2014/main" id="{090D2559-9BD2-44B0-8C82-805E33AE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4191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850" b="1">
                <a:solidFill>
                  <a:srgbClr val="00566D"/>
                </a:solidFill>
              </a:defRPr>
            </a:pPr>
            <a:r>
              <a:rPr sz="5850" b="1">
                <a:solidFill>
                  <a:srgbClr val="00566D"/>
                </a:solidFill>
              </a:rPr>
              <a:t>25.6%</a:t>
            </a:r>
          </a:p>
        </p:txBody>
      </p:sp>
      <p:sp>
        <p:nvSpPr>
          <p:cNvPr id="8" name="horizon-metric-copy">
            <a:extLst xmlns:a="http://schemas.openxmlformats.org/drawingml/2006/main">
              <a:ext uri="{FF2B5EF4-FFF2-40B4-BE49-F238E27FC236}">
                <a16:creationId xmlns:a16="http://schemas.microsoft.com/office/drawing/2014/main" id="{3ABFE004-E0D1-4FC8-8161-0AFC1E6E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263A"/>
                </a:solidFill>
              </a:defRPr>
            </a:pPr>
            <a:r>
              <a:rPr sz="1575" b="1">
                <a:solidFill>
                  <a:srgbClr val="08263A"/>
                </a:solidFill>
              </a:rPr>
              <a:t>of sampled individual users submitted at least one request estimated above eight hours of human work</a:t>
            </a:r>
          </a:p>
        </p:txBody>
      </p:sp>
      <p:sp>
        <p:nvSpPr>
          <p:cNvPr id="9" name="horizon-continuity-panel">
            <a:extLst xmlns:a="http://schemas.openxmlformats.org/drawingml/2006/main">
              <a:ext uri="{FF2B5EF4-FFF2-40B4-BE49-F238E27FC236}">
                <a16:creationId xmlns:a16="http://schemas.microsoft.com/office/drawing/2014/main" id="{D2C02C17-5192-4039-8AC0-6F3B30CD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19300"/>
            <a:ext cx="5524500" cy="3143250"/>
          </a:xfrm>
          <a:prstGeom xmlns:a="http://schemas.openxmlformats.org/drawingml/2006/main" prst="roundRect">
            <a:avLst>
              <a:gd name="adj" fmla="val 7879"/>
            </a:avLst>
          </a:prstGeom>
          <a:solidFill xmlns:a="http://schemas.openxmlformats.org/drawingml/2006/main">
            <a:srgbClr val="DDF4F4"/>
          </a:solidFill>
          <a:ln xmlns:a="http://schemas.openxmlformats.org/drawingml/2006/main" w="19050">
            <a:solidFill>
              <a:srgbClr val="005B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7"/>
          <a:fontRef xmlns:a="http://schemas.openxmlformats.org/drawingml/2006/main" idx="major"/>
        </p:style>
      </p:sp>
      <p:sp>
        <p:nvSpPr>
          <p:cNvPr id="10" name="horizon-continuity-kicker">
            <a:extLst xmlns:a="http://schemas.openxmlformats.org/drawingml/2006/main">
              <a:ext uri="{FF2B5EF4-FFF2-40B4-BE49-F238E27FC236}">
                <a16:creationId xmlns:a16="http://schemas.microsoft.com/office/drawing/2014/main" id="{7ECD0909-8EFF-4DC4-B9ED-AB728108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5B57"/>
                </a:solidFill>
              </a:defRPr>
            </a:pPr>
            <a:r>
              <a:rPr sz="1350" b="1">
                <a:solidFill>
                  <a:srgbClr val="005B57"/>
                </a:solidFill>
              </a:rPr>
              <a:t>LONG-RUNNING HARNESS WORK</a:t>
            </a:r>
          </a:p>
        </p:txBody>
      </p:sp>
      <p:sp>
        <p:nvSpPr>
          <p:cNvPr id="11" name="horizon-window-arrow-1">
            <a:extLst xmlns:a="http://schemas.openxmlformats.org/drawingml/2006/main">
              <a:ext uri="{FF2B5EF4-FFF2-40B4-BE49-F238E27FC236}">
                <a16:creationId xmlns:a16="http://schemas.microsoft.com/office/drawing/2014/main" id="{E561BC70-0C35-4931-83E6-C9F3E2C3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718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orizon-window-arrow-2">
            <a:extLst xmlns:a="http://schemas.openxmlformats.org/drawingml/2006/main">
              <a:ext uri="{FF2B5EF4-FFF2-40B4-BE49-F238E27FC236}">
                <a16:creationId xmlns:a16="http://schemas.microsoft.com/office/drawing/2014/main" id="{555DD33D-A369-40F7-BBC3-A7141A35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718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orizon-window-1">
            <a:extLst xmlns:a="http://schemas.openxmlformats.org/drawingml/2006/main">
              <a:ext uri="{FF2B5EF4-FFF2-40B4-BE49-F238E27FC236}">
                <a16:creationId xmlns:a16="http://schemas.microsoft.com/office/drawing/2014/main" id="{075E4FBA-A0B2-40B2-8EA1-F8016E4E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52750"/>
            <a:ext cx="13144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5B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8"/>
          <a:fontRef xmlns:a="http://schemas.openxmlformats.org/drawingml/2006/main" idx="major"/>
        </p:style>
      </p:sp>
      <p:sp>
        <p:nvSpPr>
          <p:cNvPr id="14" name="horizon-window-label-1">
            <a:extLst xmlns:a="http://schemas.openxmlformats.org/drawingml/2006/main">
              <a:ext uri="{FF2B5EF4-FFF2-40B4-BE49-F238E27FC236}">
                <a16:creationId xmlns:a16="http://schemas.microsoft.com/office/drawing/2014/main" id="{5BA7ECF9-2212-4112-9268-C6DDEDE8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71825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263A"/>
                </a:solidFill>
              </a:defRPr>
            </a:pPr>
            <a:r>
              <a:rPr sz="1275" b="1">
                <a:solidFill>
                  <a:srgbClr val="08263A"/>
                </a:solidFill>
              </a:rPr>
              <a:t>CONTEXT</a:t>
            </a:r>
          </a:p>
          <a:p xmlns:a="http://schemas.openxmlformats.org/drawingml/2006/main">
            <a:pPr algn="ctr">
              <a:defRPr sz="1275" b="1">
                <a:solidFill>
                  <a:srgbClr val="08263A"/>
                </a:solidFill>
              </a:defRPr>
            </a:pPr>
            <a:r>
              <a:rPr sz="1275" b="1">
                <a:solidFill>
                  <a:srgbClr val="08263A"/>
                </a:solidFill>
              </a:rPr>
              <a:t>WINDOW 1</a:t>
            </a:r>
          </a:p>
        </p:txBody>
      </p:sp>
      <p:sp>
        <p:nvSpPr>
          <p:cNvPr id="15" name="horizon-window-detail-1">
            <a:extLst xmlns:a="http://schemas.openxmlformats.org/drawingml/2006/main">
              <a:ext uri="{FF2B5EF4-FFF2-40B4-BE49-F238E27FC236}">
                <a16:creationId xmlns:a16="http://schemas.microsoft.com/office/drawing/2014/main" id="{25123AEE-8398-4A9E-973F-7C612282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100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initialize</a:t>
            </a:r>
          </a:p>
        </p:txBody>
      </p:sp>
      <p:sp>
        <p:nvSpPr>
          <p:cNvPr id="16" name="horizon-window-2">
            <a:extLst xmlns:a="http://schemas.openxmlformats.org/drawingml/2006/main">
              <a:ext uri="{FF2B5EF4-FFF2-40B4-BE49-F238E27FC236}">
                <a16:creationId xmlns:a16="http://schemas.microsoft.com/office/drawing/2014/main" id="{E1F5F36D-228C-46B5-9EE3-467F9B87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13144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5B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8"/>
          <a:fontRef xmlns:a="http://schemas.openxmlformats.org/drawingml/2006/main" idx="major"/>
        </p:style>
      </p:sp>
      <p:sp>
        <p:nvSpPr>
          <p:cNvPr id="17" name="horizon-window-label-2">
            <a:extLst xmlns:a="http://schemas.openxmlformats.org/drawingml/2006/main">
              <a:ext uri="{FF2B5EF4-FFF2-40B4-BE49-F238E27FC236}">
                <a16:creationId xmlns:a16="http://schemas.microsoft.com/office/drawing/2014/main" id="{22869905-29C4-4D1F-B0F0-0ECE2659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71825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263A"/>
                </a:solidFill>
              </a:defRPr>
            </a:pPr>
            <a:r>
              <a:rPr sz="1275" b="1">
                <a:solidFill>
                  <a:srgbClr val="08263A"/>
                </a:solidFill>
              </a:rPr>
              <a:t>CONTEXT</a:t>
            </a:r>
          </a:p>
          <a:p xmlns:a="http://schemas.openxmlformats.org/drawingml/2006/main">
            <a:pPr algn="ctr">
              <a:defRPr sz="1275" b="1">
                <a:solidFill>
                  <a:srgbClr val="08263A"/>
                </a:solidFill>
              </a:defRPr>
            </a:pPr>
            <a:r>
              <a:rPr sz="1275" b="1">
                <a:solidFill>
                  <a:srgbClr val="08263A"/>
                </a:solidFill>
              </a:rPr>
              <a:t>WINDOW 2</a:t>
            </a:r>
          </a:p>
        </p:txBody>
      </p:sp>
      <p:sp>
        <p:nvSpPr>
          <p:cNvPr id="18" name="horizon-window-detail-2">
            <a:extLst xmlns:a="http://schemas.openxmlformats.org/drawingml/2006/main">
              <a:ext uri="{FF2B5EF4-FFF2-40B4-BE49-F238E27FC236}">
                <a16:creationId xmlns:a16="http://schemas.microsoft.com/office/drawing/2014/main" id="{21F3D579-8C7E-430A-8031-B7CF6F72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100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continue</a:t>
            </a:r>
          </a:p>
        </p:txBody>
      </p:sp>
      <p:sp>
        <p:nvSpPr>
          <p:cNvPr id="19" name="horizon-window-3">
            <a:extLst xmlns:a="http://schemas.openxmlformats.org/drawingml/2006/main">
              <a:ext uri="{FF2B5EF4-FFF2-40B4-BE49-F238E27FC236}">
                <a16:creationId xmlns:a16="http://schemas.microsoft.com/office/drawing/2014/main" id="{1B75F45D-0A2E-41D2-BDC7-1E666595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3144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5B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8"/>
          <a:fontRef xmlns:a="http://schemas.openxmlformats.org/drawingml/2006/main" idx="major"/>
        </p:style>
      </p:sp>
      <p:sp>
        <p:nvSpPr>
          <p:cNvPr id="20" name="horizon-window-label-3">
            <a:extLst xmlns:a="http://schemas.openxmlformats.org/drawingml/2006/main">
              <a:ext uri="{FF2B5EF4-FFF2-40B4-BE49-F238E27FC236}">
                <a16:creationId xmlns:a16="http://schemas.microsoft.com/office/drawing/2014/main" id="{77263B66-B528-41A7-B0C7-B23CB721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71825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263A"/>
                </a:solidFill>
              </a:defRPr>
            </a:pPr>
            <a:r>
              <a:rPr sz="1275" b="1">
                <a:solidFill>
                  <a:srgbClr val="08263A"/>
                </a:solidFill>
              </a:rPr>
              <a:t>CONTEXT</a:t>
            </a:r>
          </a:p>
          <a:p xmlns:a="http://schemas.openxmlformats.org/drawingml/2006/main">
            <a:pPr algn="ctr">
              <a:defRPr sz="1275" b="1">
                <a:solidFill>
                  <a:srgbClr val="08263A"/>
                </a:solidFill>
              </a:defRPr>
            </a:pPr>
            <a:r>
              <a:rPr sz="1275" b="1">
                <a:solidFill>
                  <a:srgbClr val="08263A"/>
                </a:solidFill>
              </a:rPr>
              <a:t>WINDOW 3</a:t>
            </a:r>
          </a:p>
        </p:txBody>
      </p:sp>
      <p:sp>
        <p:nvSpPr>
          <p:cNvPr id="21" name="horizon-window-detail-3">
            <a:extLst xmlns:a="http://schemas.openxmlformats.org/drawingml/2006/main">
              <a:ext uri="{FF2B5EF4-FFF2-40B4-BE49-F238E27FC236}">
                <a16:creationId xmlns:a16="http://schemas.microsoft.com/office/drawing/2014/main" id="{DA68346B-0BA7-4A63-8F24-F3812BCB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00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verify</a:t>
            </a:r>
          </a:p>
        </p:txBody>
      </p:sp>
      <p:sp>
        <p:nvSpPr>
          <p:cNvPr id="22" name="horizon-continuity-copy">
            <a:extLst xmlns:a="http://schemas.openxmlformats.org/drawingml/2006/main">
              <a:ext uri="{FF2B5EF4-FFF2-40B4-BE49-F238E27FC236}">
                <a16:creationId xmlns:a16="http://schemas.microsoft.com/office/drawing/2014/main" id="{551E04C5-BFC9-4D4F-884A-20AD4106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263A"/>
                </a:solidFill>
              </a:defRPr>
            </a:pPr>
            <a:r>
              <a:rPr sz="1425" b="1">
                <a:solidFill>
                  <a:srgbClr val="08263A"/>
                </a:solidFill>
              </a:rPr>
              <a:t>Durable requirements and progress records carry the goal forward.</a:t>
            </a:r>
          </a:p>
        </p:txBody>
      </p:sp>
      <p:sp>
        <p:nvSpPr>
          <p:cNvPr id="23" name="timeline-caveat">
            <a:extLst xmlns:a="http://schemas.openxmlformats.org/drawingml/2006/main">
              <a:ext uri="{FF2B5EF4-FFF2-40B4-BE49-F238E27FC236}">
                <a16:creationId xmlns:a16="http://schemas.microsoft.com/office/drawing/2014/main" id="{C129674D-B9F3-45A2-96EE-CEF3A9C7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05450"/>
            <a:ext cx="56769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DEAE8"/>
          </a:solidFill>
          <a:ln xmlns:a="http://schemas.openxmlformats.org/drawingml/2006/main" w="19050">
            <a:solidFill>
              <a:srgbClr val="9B2C2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HUMAN-EQUIVALENT TASK SIZE IS NOT ELAPSED AGENT RUNTIME</a:t>
            </a:r>
          </a:p>
        </p:txBody>
      </p:sp>
      <p:sp>
        <p:nvSpPr>
          <p:cNvPr id="24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DA4B6765-2912-42CA-B231-24ACB3BD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ource-8">
            <a:extLst xmlns:a="http://schemas.openxmlformats.org/drawingml/2006/main">
              <a:ext uri="{FF2B5EF4-FFF2-40B4-BE49-F238E27FC236}">
                <a16:creationId xmlns:a16="http://schemas.microsoft.com/office/drawing/2014/main" id="{50FDF88B-2935-4236-A21A-70E24014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5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566A"/>
                </a:solidFill>
              </a:defRPr>
            </a:pPr>
            <a:r>
              <a:rPr sz="1200" b="0">
                <a:solidFill>
                  <a:srgbClr val="36566A"/>
                </a:solidFill>
              </a:rPr>
              <a:t>[8] Codex usage study · [9] long-running harnesses · [12] METR methodology</a:t>
            </a:r>
          </a:p>
        </p:txBody>
      </p:sp>
      <p:sp>
        <p:nvSpPr>
          <p:cNvPr id="26" name="folio-8">
            <a:extLst xmlns:a="http://schemas.openxmlformats.org/drawingml/2006/main">
              <a:ext uri="{FF2B5EF4-FFF2-40B4-BE49-F238E27FC236}">
                <a16:creationId xmlns:a16="http://schemas.microsoft.com/office/drawing/2014/main" id="{078F41A5-355A-411D-BF05-1222EE81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6566A"/>
                </a:solidFill>
              </a:defRPr>
            </a:pPr>
            <a:r>
              <a:rPr sz="1200" b="1">
                <a:solidFill>
                  <a:srgbClr val="36566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17203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current-9">
            <a:extLst xmlns:a="http://schemas.openxmlformats.org/drawingml/2006/main">
              <a:ext uri="{FF2B5EF4-FFF2-40B4-BE49-F238E27FC236}">
                <a16:creationId xmlns:a16="http://schemas.microsoft.com/office/drawing/2014/main" id="{7DDF0381-B0BD-4E5B-9529-FD1142E3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19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9">
            <a:extLst xmlns:a="http://schemas.openxmlformats.org/drawingml/2006/main">
              <a:ext uri="{FF2B5EF4-FFF2-40B4-BE49-F238E27FC236}">
                <a16:creationId xmlns:a16="http://schemas.microsoft.com/office/drawing/2014/main" id="{0D19EF7D-2E33-4E1A-9E85-A4B3C78C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CAPABILITY IS A SYSTEM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64BDD0A2-EE23-4F19-85A6-E50ED3AE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63A"/>
                </a:solidFill>
              </a:defRPr>
            </a:pPr>
            <a:r>
              <a:rPr sz="2850" b="1">
                <a:solidFill>
                  <a:srgbClr val="08263A"/>
                </a:solidFill>
              </a:rPr>
              <a:t>Four capabilities improved together</a:t>
            </a:r>
          </a:p>
        </p:txBody>
      </p:sp>
      <p:sp>
        <p:nvSpPr>
          <p:cNvPr id="4" name="subtitle-9">
            <a:extLst xmlns:a="http://schemas.openxmlformats.org/drawingml/2006/main">
              <a:ext uri="{FF2B5EF4-FFF2-40B4-BE49-F238E27FC236}">
                <a16:creationId xmlns:a16="http://schemas.microsoft.com/office/drawing/2014/main" id="{C9C93538-41ED-4A3B-9716-F938D6D2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66A"/>
                </a:solidFill>
              </a:defRPr>
            </a:pPr>
            <a:r>
              <a:rPr sz="1425" b="0">
                <a:solidFill>
                  <a:srgbClr val="36566A"/>
                </a:solidFill>
              </a:rPr>
              <a:t>Model quality, context capacity, harness reach, and task horizon reinforce one another—but remain distinct.</a:t>
            </a:r>
          </a:p>
        </p:txBody>
      </p:sp>
      <p:sp>
        <p:nvSpPr>
          <p:cNvPr id="5" name="system-stream-1">
            <a:extLst xmlns:a="http://schemas.openxmlformats.org/drawingml/2006/main">
              <a:ext uri="{FF2B5EF4-FFF2-40B4-BE49-F238E27FC236}">
                <a16:creationId xmlns:a16="http://schemas.microsoft.com/office/drawing/2014/main" id="{BCD9E9F7-23C2-44CB-94A1-2544E37C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72390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F5FB"/>
          </a:solidFill>
          <a:ln xmlns:a="http://schemas.openxmlformats.org/drawingml/2006/main" w="19050">
            <a:solidFill>
              <a:srgbClr val="00566D"/>
            </a:solidFill>
            <a:prstDash val="solid"/>
          </a:ln>
        </p:spPr>
      </p:sp>
      <p:sp>
        <p:nvSpPr>
          <p:cNvPr id="6" name="system-stream-label-1">
            <a:extLst xmlns:a="http://schemas.openxmlformats.org/drawingml/2006/main">
              <a:ext uri="{FF2B5EF4-FFF2-40B4-BE49-F238E27FC236}">
                <a16:creationId xmlns:a16="http://schemas.microsoft.com/office/drawing/2014/main" id="{612757B8-4494-48FE-84B5-E42553A0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193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66D"/>
                </a:solidFill>
              </a:defRPr>
            </a:pPr>
            <a:r>
              <a:rPr sz="1500" b="1">
                <a:solidFill>
                  <a:srgbClr val="00566D"/>
                </a:solidFill>
              </a:rPr>
              <a:t>MODEL CAPABILITY</a:t>
            </a:r>
          </a:p>
        </p:txBody>
      </p:sp>
      <p:sp>
        <p:nvSpPr>
          <p:cNvPr id="7" name="system-stream-detail-1">
            <a:extLst xmlns:a="http://schemas.openxmlformats.org/drawingml/2006/main">
              <a:ext uri="{FF2B5EF4-FFF2-40B4-BE49-F238E27FC236}">
                <a16:creationId xmlns:a16="http://schemas.microsoft.com/office/drawing/2014/main" id="{BBB4BC30-2F3E-4B7F-B2FF-054F23D4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288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263A"/>
                </a:solidFill>
              </a:defRPr>
            </a:pPr>
            <a:r>
              <a:rPr sz="1350" b="0">
                <a:solidFill>
                  <a:srgbClr val="08263A"/>
                </a:solidFill>
              </a:rPr>
              <a:t>reasoning + generation</a:t>
            </a:r>
          </a:p>
        </p:txBody>
      </p:sp>
      <p:sp>
        <p:nvSpPr>
          <p:cNvPr id="8" name="system-stream-2">
            <a:extLst xmlns:a="http://schemas.openxmlformats.org/drawingml/2006/main">
              <a:ext uri="{FF2B5EF4-FFF2-40B4-BE49-F238E27FC236}">
                <a16:creationId xmlns:a16="http://schemas.microsoft.com/office/drawing/2014/main" id="{AA1A70D0-267C-49E9-BEEE-BE67C423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76962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F4F4"/>
          </a:solidFill>
          <a:ln xmlns:a="http://schemas.openxmlformats.org/drawingml/2006/main" w="19050">
            <a:solidFill>
              <a:srgbClr val="005B57"/>
            </a:solidFill>
            <a:prstDash val="solid"/>
          </a:ln>
        </p:spPr>
      </p:sp>
      <p:sp>
        <p:nvSpPr>
          <p:cNvPr id="9" name="system-stream-label-2">
            <a:extLst xmlns:a="http://schemas.openxmlformats.org/drawingml/2006/main">
              <a:ext uri="{FF2B5EF4-FFF2-40B4-BE49-F238E27FC236}">
                <a16:creationId xmlns:a16="http://schemas.microsoft.com/office/drawing/2014/main" id="{0C29E5FE-33C1-4A46-BC88-4FF36C2D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B57"/>
                </a:solidFill>
              </a:defRPr>
            </a:pPr>
            <a:r>
              <a:rPr sz="1500" b="1">
                <a:solidFill>
                  <a:srgbClr val="005B57"/>
                </a:solidFill>
              </a:rPr>
              <a:t>CONTEXT CAPACITY</a:t>
            </a:r>
          </a:p>
        </p:txBody>
      </p:sp>
      <p:sp>
        <p:nvSpPr>
          <p:cNvPr id="10" name="system-stream-detail-2">
            <a:extLst xmlns:a="http://schemas.openxmlformats.org/drawingml/2006/main">
              <a:ext uri="{FF2B5EF4-FFF2-40B4-BE49-F238E27FC236}">
                <a16:creationId xmlns:a16="http://schemas.microsoft.com/office/drawing/2014/main" id="{B2FB5B77-D98A-47E6-928F-9CDDFE3B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7657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263A"/>
                </a:solidFill>
              </a:defRPr>
            </a:pPr>
            <a:r>
              <a:rPr sz="1350" b="0">
                <a:solidFill>
                  <a:srgbClr val="08263A"/>
                </a:solidFill>
              </a:rPr>
              <a:t>larger working windows</a:t>
            </a:r>
          </a:p>
        </p:txBody>
      </p:sp>
      <p:sp>
        <p:nvSpPr>
          <p:cNvPr id="11" name="system-stream-3">
            <a:extLst xmlns:a="http://schemas.openxmlformats.org/drawingml/2006/main">
              <a:ext uri="{FF2B5EF4-FFF2-40B4-BE49-F238E27FC236}">
                <a16:creationId xmlns:a16="http://schemas.microsoft.com/office/drawing/2014/main" id="{D8E0911F-BEBC-4A7F-8A1F-F7D73CAE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81534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EAE8"/>
          </a:solidFill>
          <a:ln xmlns:a="http://schemas.openxmlformats.org/drawingml/2006/main" w="19050">
            <a:solidFill>
              <a:srgbClr val="9B2C2C"/>
            </a:solidFill>
            <a:prstDash val="solid"/>
          </a:ln>
        </p:spPr>
      </p:sp>
      <p:sp>
        <p:nvSpPr>
          <p:cNvPr id="12" name="system-stream-label-3">
            <a:extLst xmlns:a="http://schemas.openxmlformats.org/drawingml/2006/main">
              <a:ext uri="{FF2B5EF4-FFF2-40B4-BE49-F238E27FC236}">
                <a16:creationId xmlns:a16="http://schemas.microsoft.com/office/drawing/2014/main" id="{8818A3A2-37F0-4D0E-94A9-E9A3775D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147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2C2C"/>
                </a:solidFill>
              </a:defRPr>
            </a:pPr>
            <a:r>
              <a:rPr sz="1500" b="1">
                <a:solidFill>
                  <a:srgbClr val="9B2C2C"/>
                </a:solidFill>
              </a:rPr>
              <a:t>HARNESS + TOOLS</a:t>
            </a:r>
          </a:p>
        </p:txBody>
      </p:sp>
      <p:sp>
        <p:nvSpPr>
          <p:cNvPr id="13" name="system-stream-detail-3">
            <a:extLst xmlns:a="http://schemas.openxmlformats.org/drawingml/2006/main">
              <a:ext uri="{FF2B5EF4-FFF2-40B4-BE49-F238E27FC236}">
                <a16:creationId xmlns:a16="http://schemas.microsoft.com/office/drawing/2014/main" id="{91809F47-2C48-4632-AEC1-36FE583F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243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263A"/>
                </a:solidFill>
              </a:defRPr>
            </a:pPr>
            <a:r>
              <a:rPr sz="1350" b="0">
                <a:solidFill>
                  <a:srgbClr val="08263A"/>
                </a:solidFill>
              </a:rPr>
              <a:t>search · edit · run · test</a:t>
            </a:r>
          </a:p>
        </p:txBody>
      </p:sp>
      <p:sp>
        <p:nvSpPr>
          <p:cNvPr id="14" name="system-stream-4">
            <a:extLst xmlns:a="http://schemas.openxmlformats.org/drawingml/2006/main">
              <a:ext uri="{FF2B5EF4-FFF2-40B4-BE49-F238E27FC236}">
                <a16:creationId xmlns:a16="http://schemas.microsoft.com/office/drawing/2014/main" id="{2A5C14FE-D9B9-4130-AB21-C537470D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861060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F4F4"/>
          </a:solidFill>
          <a:ln xmlns:a="http://schemas.openxmlformats.org/drawingml/2006/main" w="19050">
            <a:solidFill>
              <a:srgbClr val="005B57"/>
            </a:solidFill>
            <a:prstDash val="solid"/>
          </a:ln>
        </p:spPr>
      </p:sp>
      <p:sp>
        <p:nvSpPr>
          <p:cNvPr id="15" name="system-stream-label-4">
            <a:extLst xmlns:a="http://schemas.openxmlformats.org/drawingml/2006/main">
              <a:ext uri="{FF2B5EF4-FFF2-40B4-BE49-F238E27FC236}">
                <a16:creationId xmlns:a16="http://schemas.microsoft.com/office/drawing/2014/main" id="{F59D2CC8-0FBB-452D-B602-D37E6366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5B57"/>
                </a:solidFill>
              </a:defRPr>
            </a:pPr>
            <a:r>
              <a:rPr sz="1500" b="1">
                <a:solidFill>
                  <a:srgbClr val="005B57"/>
                </a:solidFill>
              </a:rPr>
              <a:t>TASK HORIZON</a:t>
            </a:r>
          </a:p>
        </p:txBody>
      </p:sp>
      <p:sp>
        <p:nvSpPr>
          <p:cNvPr id="16" name="system-stream-detail-4">
            <a:extLst xmlns:a="http://schemas.openxmlformats.org/drawingml/2006/main">
              <a:ext uri="{FF2B5EF4-FFF2-40B4-BE49-F238E27FC236}">
                <a16:creationId xmlns:a16="http://schemas.microsoft.com/office/drawing/2014/main" id="{3724AC28-A468-4273-9E9B-68DEFAB6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7202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263A"/>
                </a:solidFill>
              </a:defRPr>
            </a:pPr>
            <a:r>
              <a:rPr sz="1350" b="0">
                <a:solidFill>
                  <a:srgbClr val="08263A"/>
                </a:solidFill>
              </a:rPr>
              <a:t>multi-turn goal pursuit</a:t>
            </a:r>
          </a:p>
        </p:txBody>
      </p:sp>
      <p:sp>
        <p:nvSpPr>
          <p:cNvPr id="17" name="system-channel">
            <a:extLst xmlns:a="http://schemas.openxmlformats.org/drawingml/2006/main">
              <a:ext uri="{FF2B5EF4-FFF2-40B4-BE49-F238E27FC236}">
                <a16:creationId xmlns:a16="http://schemas.microsoft.com/office/drawing/2014/main" id="{166084D7-5C1C-4966-83A5-066E4DA6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95500"/>
            <a:ext cx="1866900" cy="3067050"/>
          </a:xfrm>
          <a:prstGeom xmlns:a="http://schemas.openxmlformats.org/drawingml/2006/main" prst="roundRect">
            <a:avLst>
              <a:gd name="adj" fmla="val 15306"/>
            </a:avLst>
          </a:prstGeom>
          <a:solidFill xmlns:a="http://schemas.openxmlformats.org/drawingml/2006/main">
            <a:srgbClr val="08263A"/>
          </a:solidFill>
          <a:ln xmlns:a="http://schemas.openxmlformats.org/drawingml/2006/main" w="28575">
            <a:solidFill>
              <a:srgbClr val="0056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18" name="system-channel-title">
            <a:extLst xmlns:a="http://schemas.openxmlformats.org/drawingml/2006/main">
              <a:ext uri="{FF2B5EF4-FFF2-40B4-BE49-F238E27FC236}">
                <a16:creationId xmlns:a16="http://schemas.microsoft.com/office/drawing/2014/main" id="{EE1058BA-DD90-4521-A9C3-EF13B886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38450"/>
            <a:ext cx="1333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BFD"/>
                </a:solidFill>
              </a:defRPr>
            </a:pPr>
            <a:r>
              <a:rPr sz="2250" b="1">
                <a:solidFill>
                  <a:srgbClr val="F7FBFD"/>
                </a:solidFill>
              </a:rPr>
              <a:t>WIDER</a:t>
            </a:r>
          </a:p>
          <a:p xmlns:a="http://schemas.openxmlformats.org/drawingml/2006/main">
            <a:pPr algn="ctr">
              <a:defRPr sz="2250" b="1">
                <a:solidFill>
                  <a:srgbClr val="F7FBFD"/>
                </a:solidFill>
              </a:defRPr>
            </a:pPr>
            <a:r>
              <a:rPr sz="2250" b="1">
                <a:solidFill>
                  <a:srgbClr val="F7FBFD"/>
                </a:solidFill>
              </a:rPr>
              <a:t>UNIT OF</a:t>
            </a:r>
          </a:p>
          <a:p xmlns:a="http://schemas.openxmlformats.org/drawingml/2006/main">
            <a:pPr algn="ctr">
              <a:defRPr sz="2250" b="1">
                <a:solidFill>
                  <a:srgbClr val="F7FBFD"/>
                </a:solidFill>
              </a:defRPr>
            </a:pPr>
            <a:r>
              <a:rPr sz="2250" b="1">
                <a:solidFill>
                  <a:srgbClr val="F7FBFD"/>
                </a:solidFill>
              </a:rPr>
              <a:t>WORK</a:t>
            </a:r>
          </a:p>
        </p:txBody>
      </p:sp>
      <p:sp>
        <p:nvSpPr>
          <p:cNvPr id="19" name="system-channel-detail">
            <a:extLst xmlns:a="http://schemas.openxmlformats.org/drawingml/2006/main">
              <a:ext uri="{FF2B5EF4-FFF2-40B4-BE49-F238E27FC236}">
                <a16:creationId xmlns:a16="http://schemas.microsoft.com/office/drawing/2014/main" id="{DBC557ED-866D-4365-B2D6-54A3177C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481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3C7B3"/>
                </a:solidFill>
              </a:defRPr>
            </a:pPr>
            <a:r>
              <a:rPr sz="1200" b="1">
                <a:solidFill>
                  <a:srgbClr val="13C7B3"/>
                </a:solidFill>
              </a:rPr>
              <a:t>system outcome</a:t>
            </a:r>
          </a:p>
        </p:txBody>
      </p:sp>
      <p:sp>
        <p:nvSpPr>
          <p:cNvPr id="20" name="footer-line-9">
            <a:extLst xmlns:a="http://schemas.openxmlformats.org/drawingml/2006/main">
              <a:ext uri="{FF2B5EF4-FFF2-40B4-BE49-F238E27FC236}">
                <a16:creationId xmlns:a16="http://schemas.microsoft.com/office/drawing/2014/main" id="{A567B59C-0B8D-4F54-9B8B-80D19DF7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ource-9">
            <a:extLst xmlns:a="http://schemas.openxmlformats.org/drawingml/2006/main">
              <a:ext uri="{FF2B5EF4-FFF2-40B4-BE49-F238E27FC236}">
                <a16:creationId xmlns:a16="http://schemas.microsoft.com/office/drawing/2014/main" id="{C69BE5E9-4915-46B2-B0F7-C802DFD8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5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566A"/>
                </a:solidFill>
              </a:defRPr>
            </a:pPr>
            <a:r>
              <a:rPr sz="1200" b="0">
                <a:solidFill>
                  <a:srgbClr val="36566A"/>
                </a:solidFill>
              </a:rPr>
              <a:t>[3] reasoning · [4] harness · [8] horizon · [10] context</a:t>
            </a:r>
          </a:p>
        </p:txBody>
      </p:sp>
      <p:sp>
        <p:nvSpPr>
          <p:cNvPr id="22" name="folio-9">
            <a:extLst xmlns:a="http://schemas.openxmlformats.org/drawingml/2006/main">
              <a:ext uri="{FF2B5EF4-FFF2-40B4-BE49-F238E27FC236}">
                <a16:creationId xmlns:a16="http://schemas.microsoft.com/office/drawing/2014/main" id="{866C03A7-8A2D-4CAF-BB8F-E52C6815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6566A"/>
                </a:solidFill>
              </a:defRPr>
            </a:pPr>
            <a:r>
              <a:rPr sz="1200" b="1">
                <a:solidFill>
                  <a:srgbClr val="36566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637466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header-current-10">
            <a:extLst xmlns:a="http://schemas.openxmlformats.org/drawingml/2006/main">
              <a:ext uri="{FF2B5EF4-FFF2-40B4-BE49-F238E27FC236}">
                <a16:creationId xmlns:a16="http://schemas.microsoft.com/office/drawing/2014/main" id="{5CA863FC-6D72-408A-B3D6-00F55CE6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19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0">
            <a:extLst xmlns:a="http://schemas.openxmlformats.org/drawingml/2006/main">
              <a:ext uri="{FF2B5EF4-FFF2-40B4-BE49-F238E27FC236}">
                <a16:creationId xmlns:a16="http://schemas.microsoft.com/office/drawing/2014/main" id="{D524B948-0180-4A88-A3D6-B99EAAC0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CONTEXT CAPACITY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C55AC136-FE76-43A8-96C5-BA6241CF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63A"/>
                </a:solidFill>
              </a:defRPr>
            </a:pPr>
            <a:r>
              <a:rPr sz="2850" b="1">
                <a:solidFill>
                  <a:srgbClr val="08263A"/>
                </a:solidFill>
              </a:rPr>
              <a:t>Capacity is not continuity</a:t>
            </a:r>
          </a:p>
        </p:txBody>
      </p:sp>
      <p:sp>
        <p:nvSpPr>
          <p:cNvPr id="4" name="subtitle-10">
            <a:extLst xmlns:a="http://schemas.openxmlformats.org/drawingml/2006/main">
              <a:ext uri="{FF2B5EF4-FFF2-40B4-BE49-F238E27FC236}">
                <a16:creationId xmlns:a16="http://schemas.microsoft.com/office/drawing/2014/main" id="{F653B325-9779-47E1-A559-56CD78AF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66A"/>
                </a:solidFill>
              </a:defRPr>
            </a:pPr>
            <a:r>
              <a:rPr sz="1425" b="0">
                <a:solidFill>
                  <a:srgbClr val="36566A"/>
                </a:solidFill>
              </a:rPr>
              <a:t>A larger reservoir helps only when the working channel selects, maintains, and recovers the right context.</a:t>
            </a:r>
          </a:p>
        </p:txBody>
      </p:sp>
      <p:sp>
        <p:nvSpPr>
          <p:cNvPr id="5" name="context-reservoir">
            <a:extLst xmlns:a="http://schemas.openxmlformats.org/drawingml/2006/main">
              <a:ext uri="{FF2B5EF4-FFF2-40B4-BE49-F238E27FC236}">
                <a16:creationId xmlns:a16="http://schemas.microsoft.com/office/drawing/2014/main" id="{82077FBE-D1A3-4F9E-83F2-8DDF3E3C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4953000" cy="3543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5FB"/>
          </a:solidFill>
          <a:ln xmlns:a="http://schemas.openxmlformats.org/drawingml/2006/main" w="28575">
            <a:solidFill>
              <a:srgbClr val="0056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9"/>
          <a:fontRef xmlns:a="http://schemas.openxmlformats.org/drawingml/2006/main" idx="major"/>
        </p:style>
      </p:sp>
      <p:sp>
        <p:nvSpPr>
          <p:cNvPr id="6" name="context-reservoir-number">
            <a:extLst xmlns:a="http://schemas.openxmlformats.org/drawingml/2006/main">
              <a:ext uri="{FF2B5EF4-FFF2-40B4-BE49-F238E27FC236}">
                <a16:creationId xmlns:a16="http://schemas.microsoft.com/office/drawing/2014/main" id="{16E2B1B3-2A2A-41E5-8851-8E1513B2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43175"/>
            <a:ext cx="3276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00566D"/>
                </a:solidFill>
              </a:defRPr>
            </a:pPr>
            <a:r>
              <a:rPr sz="5700" b="1">
                <a:solidFill>
                  <a:srgbClr val="00566D"/>
                </a:solidFill>
              </a:rPr>
              <a:t>1M</a:t>
            </a:r>
          </a:p>
        </p:txBody>
      </p:sp>
      <p:sp>
        <p:nvSpPr>
          <p:cNvPr id="7" name="context-reservoir-label">
            <a:extLst xmlns:a="http://schemas.openxmlformats.org/drawingml/2006/main">
              <a:ext uri="{FF2B5EF4-FFF2-40B4-BE49-F238E27FC236}">
                <a16:creationId xmlns:a16="http://schemas.microsoft.com/office/drawing/2014/main" id="{96C10BDA-A5F3-47CA-88EC-F1941F5F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67125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63A"/>
                </a:solidFill>
              </a:defRPr>
            </a:pPr>
            <a:r>
              <a:rPr sz="1800" b="1">
                <a:solidFill>
                  <a:srgbClr val="08263A"/>
                </a:solidFill>
              </a:rPr>
              <a:t>tokens of capacity</a:t>
            </a:r>
          </a:p>
          <a:p xmlns:a="http://schemas.openxmlformats.org/drawingml/2006/main">
            <a:pPr algn="ctr">
              <a:defRPr sz="1800" b="1">
                <a:solidFill>
                  <a:srgbClr val="08263A"/>
                </a:solidFill>
              </a:defRPr>
            </a:pPr>
            <a:r>
              <a:rPr sz="1800" b="1">
                <a:solidFill>
                  <a:srgbClr val="08263A"/>
                </a:solidFill>
              </a:rPr>
              <a:t>in GPT-4.1</a:t>
            </a:r>
          </a:p>
        </p:txBody>
      </p:sp>
      <p:sp>
        <p:nvSpPr>
          <p:cNvPr id="8" name="context-reservoir-caveat">
            <a:extLst xmlns:a="http://schemas.openxmlformats.org/drawingml/2006/main">
              <a:ext uri="{FF2B5EF4-FFF2-40B4-BE49-F238E27FC236}">
                <a16:creationId xmlns:a16="http://schemas.microsoft.com/office/drawing/2014/main" id="{AA4F490C-EF15-473F-AC9D-DDBD39CA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482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B2C2C"/>
                </a:solidFill>
              </a:defRPr>
            </a:pPr>
            <a:r>
              <a:rPr sz="1275" b="1">
                <a:solidFill>
                  <a:srgbClr val="9B2C2C"/>
                </a:solidFill>
              </a:rPr>
              <a:t>Capacity ≠ perfect retrieval</a:t>
            </a:r>
          </a:p>
        </p:txBody>
      </p:sp>
      <p:sp>
        <p:nvSpPr>
          <p:cNvPr id="9" name="context-channel">
            <a:extLst xmlns:a="http://schemas.openxmlformats.org/drawingml/2006/main">
              <a:ext uri="{FF2B5EF4-FFF2-40B4-BE49-F238E27FC236}">
                <a16:creationId xmlns:a16="http://schemas.microsoft.com/office/drawing/2014/main" id="{E748F02D-A193-492F-A0FF-488D8442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71850"/>
            <a:ext cx="6286500" cy="590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8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ntext-gate-1">
            <a:extLst xmlns:a="http://schemas.openxmlformats.org/drawingml/2006/main">
              <a:ext uri="{FF2B5EF4-FFF2-40B4-BE49-F238E27FC236}">
                <a16:creationId xmlns:a16="http://schemas.microsoft.com/office/drawing/2014/main" id="{B08D2D88-2665-42F9-8097-5C5D572C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05125"/>
            <a:ext cx="1352550" cy="152400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5B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1" name="context-gate-label-1">
            <a:extLst xmlns:a="http://schemas.openxmlformats.org/drawingml/2006/main">
              <a:ext uri="{FF2B5EF4-FFF2-40B4-BE49-F238E27FC236}">
                <a16:creationId xmlns:a16="http://schemas.microsoft.com/office/drawing/2014/main" id="{D56BA329-F79F-4B09-9C91-518574BA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29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5B57"/>
                </a:solidFill>
              </a:defRPr>
            </a:pPr>
            <a:r>
              <a:rPr sz="1500" b="1">
                <a:solidFill>
                  <a:srgbClr val="005B57"/>
                </a:solidFill>
              </a:rPr>
              <a:t>SELECT</a:t>
            </a:r>
          </a:p>
        </p:txBody>
      </p:sp>
      <p:sp>
        <p:nvSpPr>
          <p:cNvPr id="12" name="context-gate-2">
            <a:extLst xmlns:a="http://schemas.openxmlformats.org/drawingml/2006/main">
              <a:ext uri="{FF2B5EF4-FFF2-40B4-BE49-F238E27FC236}">
                <a16:creationId xmlns:a16="http://schemas.microsoft.com/office/drawing/2014/main" id="{AD80DAAF-FFF4-4171-A887-948C2D80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05125"/>
            <a:ext cx="1352550" cy="152400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5B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3" name="context-gate-label-2">
            <a:extLst xmlns:a="http://schemas.openxmlformats.org/drawingml/2006/main">
              <a:ext uri="{FF2B5EF4-FFF2-40B4-BE49-F238E27FC236}">
                <a16:creationId xmlns:a16="http://schemas.microsoft.com/office/drawing/2014/main" id="{0FFC668C-F204-4293-8FEF-0239A4BA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29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5B57"/>
                </a:solidFill>
              </a:defRPr>
            </a:pPr>
            <a:r>
              <a:rPr sz="1500" b="1">
                <a:solidFill>
                  <a:srgbClr val="005B57"/>
                </a:solidFill>
              </a:rPr>
              <a:t>MAINTAIN</a:t>
            </a:r>
          </a:p>
        </p:txBody>
      </p:sp>
      <p:sp>
        <p:nvSpPr>
          <p:cNvPr id="14" name="context-gate-3">
            <a:extLst xmlns:a="http://schemas.openxmlformats.org/drawingml/2006/main">
              <a:ext uri="{FF2B5EF4-FFF2-40B4-BE49-F238E27FC236}">
                <a16:creationId xmlns:a16="http://schemas.microsoft.com/office/drawing/2014/main" id="{2E67B961-D461-458A-908B-5E7B56D7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05125"/>
            <a:ext cx="1352550" cy="152400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DEAE8"/>
          </a:solidFill>
          <a:ln xmlns:a="http://schemas.openxmlformats.org/drawingml/2006/main" w="19050">
            <a:solidFill>
              <a:srgbClr val="9B2C2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15" name="context-gate-label-3">
            <a:extLst xmlns:a="http://schemas.openxmlformats.org/drawingml/2006/main">
              <a:ext uri="{FF2B5EF4-FFF2-40B4-BE49-F238E27FC236}">
                <a16:creationId xmlns:a16="http://schemas.microsoft.com/office/drawing/2014/main" id="{466B35F9-2402-47D9-BAE9-BA6D1854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29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B2C2C"/>
                </a:solidFill>
              </a:defRPr>
            </a:pPr>
            <a:r>
              <a:rPr sz="1500" b="1">
                <a:solidFill>
                  <a:srgbClr val="9B2C2C"/>
                </a:solidFill>
              </a:rPr>
              <a:t>RECOVER</a:t>
            </a:r>
          </a:p>
        </p:txBody>
      </p:sp>
      <p:sp>
        <p:nvSpPr>
          <p:cNvPr id="16" name="context-conclusion">
            <a:extLst xmlns:a="http://schemas.openxmlformats.org/drawingml/2006/main">
              <a:ext uri="{FF2B5EF4-FFF2-40B4-BE49-F238E27FC236}">
                <a16:creationId xmlns:a16="http://schemas.microsoft.com/office/drawing/2014/main" id="{8BC657DD-A229-4441-87A8-7DEC9123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562600"/>
            <a:ext cx="613410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DDF4F4"/>
          </a:solidFill>
          <a:ln xmlns:a="http://schemas.openxmlformats.org/drawingml/2006/main" w="19050">
            <a:solidFill>
              <a:srgbClr val="005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BIGGER WINDOWS HELP · DURABLE PROJECT STATE STILL MATTERS</a:t>
            </a:r>
          </a:p>
        </p:txBody>
      </p:sp>
      <p:sp>
        <p:nvSpPr>
          <p:cNvPr id="17" name="footer-line-10">
            <a:extLst xmlns:a="http://schemas.openxmlformats.org/drawingml/2006/main">
              <a:ext uri="{FF2B5EF4-FFF2-40B4-BE49-F238E27FC236}">
                <a16:creationId xmlns:a16="http://schemas.microsoft.com/office/drawing/2014/main" id="{FAC4CAFB-031E-4BF1-8DAB-256F42DE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ource-10">
            <a:extLst xmlns:a="http://schemas.openxmlformats.org/drawingml/2006/main">
              <a:ext uri="{FF2B5EF4-FFF2-40B4-BE49-F238E27FC236}">
                <a16:creationId xmlns:a16="http://schemas.microsoft.com/office/drawing/2014/main" id="{6A9F8B04-2696-4F65-8BEB-24AD6964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5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566A"/>
                </a:solidFill>
              </a:defRPr>
            </a:pPr>
            <a:r>
              <a:rPr sz="1200" b="0">
                <a:solidFill>
                  <a:srgbClr val="36566A"/>
                </a:solidFill>
              </a:rPr>
              <a:t>[10] GPT-4.1 context · [11] context-engineering guidance</a:t>
            </a:r>
          </a:p>
        </p:txBody>
      </p:sp>
      <p:sp>
        <p:nvSpPr>
          <p:cNvPr id="19" name="folio-10">
            <a:extLst xmlns:a="http://schemas.openxmlformats.org/drawingml/2006/main">
              <a:ext uri="{FF2B5EF4-FFF2-40B4-BE49-F238E27FC236}">
                <a16:creationId xmlns:a16="http://schemas.microsoft.com/office/drawing/2014/main" id="{A1E03A38-F034-4BCB-8551-E5615657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6566A"/>
                </a:solidFill>
              </a:defRPr>
            </a:pPr>
            <a:r>
              <a:rPr sz="1200" b="1">
                <a:solidFill>
                  <a:srgbClr val="36566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54613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-current-11">
            <a:extLst xmlns:a="http://schemas.openxmlformats.org/drawingml/2006/main">
              <a:ext uri="{FF2B5EF4-FFF2-40B4-BE49-F238E27FC236}">
                <a16:creationId xmlns:a16="http://schemas.microsoft.com/office/drawing/2014/main" id="{C290ECF8-6E02-44BA-B3E2-6788BA4F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19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1">
            <a:extLst xmlns:a="http://schemas.openxmlformats.org/drawingml/2006/main">
              <a:ext uri="{FF2B5EF4-FFF2-40B4-BE49-F238E27FC236}">
                <a16:creationId xmlns:a16="http://schemas.microsoft.com/office/drawing/2014/main" id="{1E21F645-7636-4645-B003-5FA2F5C1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THE SDLC IMPLICATION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00C93FBD-CE23-42F8-9081-6EB7636A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63A"/>
                </a:solidFill>
              </a:defRPr>
            </a:pPr>
            <a:r>
              <a:rPr sz="2850" b="1">
                <a:solidFill>
                  <a:srgbClr val="08263A"/>
                </a:solidFill>
              </a:rPr>
              <a:t>Context engineering becomes SDLC engineering</a:t>
            </a:r>
          </a:p>
        </p:txBody>
      </p:sp>
      <p:sp>
        <p:nvSpPr>
          <p:cNvPr id="4" name="subtitle-11">
            <a:extLst xmlns:a="http://schemas.openxmlformats.org/drawingml/2006/main">
              <a:ext uri="{FF2B5EF4-FFF2-40B4-BE49-F238E27FC236}">
                <a16:creationId xmlns:a16="http://schemas.microsoft.com/office/drawing/2014/main" id="{ACE6AF01-57FF-4A84-9E3A-4D9C1516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66A"/>
                </a:solidFill>
              </a:defRPr>
            </a:pPr>
            <a:r>
              <a:rPr sz="1425" b="0">
                <a:solidFill>
                  <a:srgbClr val="36566A"/>
                </a:solidFill>
              </a:rPr>
              <a:t>A capable agent stays dependable only when durable anchors hold intent, authority, and proof in place.</a:t>
            </a:r>
          </a:p>
        </p:txBody>
      </p:sp>
      <p:sp>
        <p:nvSpPr>
          <p:cNvPr id="5" name="anchor-current-underlay">
            <a:extLst xmlns:a="http://schemas.openxmlformats.org/drawingml/2006/main">
              <a:ext uri="{FF2B5EF4-FFF2-40B4-BE49-F238E27FC236}">
                <a16:creationId xmlns:a16="http://schemas.microsoft.com/office/drawing/2014/main" id="{C3B39725-8347-451F-BA27-8B988451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99441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nchor-current">
            <a:extLst xmlns:a="http://schemas.openxmlformats.org/drawingml/2006/main">
              <a:ext uri="{FF2B5EF4-FFF2-40B4-BE49-F238E27FC236}">
                <a16:creationId xmlns:a16="http://schemas.microsoft.com/office/drawing/2014/main" id="{6576A4FF-7437-4552-A6BE-FA47DB4A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76650"/>
            <a:ext cx="99441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nchor-line-1">
            <a:extLst xmlns:a="http://schemas.openxmlformats.org/drawingml/2006/main">
              <a:ext uri="{FF2B5EF4-FFF2-40B4-BE49-F238E27FC236}">
                <a16:creationId xmlns:a16="http://schemas.microsoft.com/office/drawing/2014/main" id="{C82C5998-A618-45AD-B9B9-C7F8D681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86050"/>
            <a:ext cx="381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nchor-weight-1">
            <a:extLst xmlns:a="http://schemas.openxmlformats.org/drawingml/2006/main">
              <a:ext uri="{FF2B5EF4-FFF2-40B4-BE49-F238E27FC236}">
                <a16:creationId xmlns:a16="http://schemas.microsoft.com/office/drawing/2014/main" id="{B8321784-525E-4378-924B-46E51923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576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5FB"/>
          </a:solidFill>
          <a:ln xmlns:a="http://schemas.openxmlformats.org/drawingml/2006/main" w="28575">
            <a:solidFill>
              <a:srgbClr val="00566D"/>
            </a:solidFill>
            <a:prstDash val="solid"/>
          </a:ln>
        </p:spPr>
      </p:sp>
      <p:sp>
        <p:nvSpPr>
          <p:cNvPr id="9" name="anchor-label-1">
            <a:extLst xmlns:a="http://schemas.openxmlformats.org/drawingml/2006/main">
              <a:ext uri="{FF2B5EF4-FFF2-40B4-BE49-F238E27FC236}">
                <a16:creationId xmlns:a16="http://schemas.microsoft.com/office/drawing/2014/main" id="{2F524A91-FA66-4625-8EF2-7EC45168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66925"/>
            <a:ext cx="302895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56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0" name="anchor-title-1">
            <a:extLst xmlns:a="http://schemas.openxmlformats.org/drawingml/2006/main">
              <a:ext uri="{FF2B5EF4-FFF2-40B4-BE49-F238E27FC236}">
                <a16:creationId xmlns:a16="http://schemas.microsoft.com/office/drawing/2014/main" id="{9D0C246B-EF50-4D46-AC31-9E415D3A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860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566D"/>
                </a:solidFill>
              </a:defRPr>
            </a:pPr>
            <a:r>
              <a:rPr sz="1800" b="1">
                <a:solidFill>
                  <a:srgbClr val="00566D"/>
                </a:solidFill>
              </a:rPr>
              <a:t>SPECIFICATION</a:t>
            </a:r>
          </a:p>
        </p:txBody>
      </p:sp>
      <p:sp>
        <p:nvSpPr>
          <p:cNvPr id="11" name="anchor-detail-1">
            <a:extLst xmlns:a="http://schemas.openxmlformats.org/drawingml/2006/main">
              <a:ext uri="{FF2B5EF4-FFF2-40B4-BE49-F238E27FC236}">
                <a16:creationId xmlns:a16="http://schemas.microsoft.com/office/drawing/2014/main" id="{7E69CB1D-E36C-4013-B24F-DF21304E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8605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8263A"/>
                </a:solidFill>
              </a:defRPr>
            </a:pPr>
            <a:r>
              <a:rPr sz="1275" b="0">
                <a:solidFill>
                  <a:srgbClr val="08263A"/>
                </a:solidFill>
              </a:rPr>
              <a:t>what good looks like</a:t>
            </a:r>
          </a:p>
        </p:txBody>
      </p:sp>
      <p:sp>
        <p:nvSpPr>
          <p:cNvPr id="12" name="anchor-line-2">
            <a:extLst xmlns:a="http://schemas.openxmlformats.org/drawingml/2006/main">
              <a:ext uri="{FF2B5EF4-FFF2-40B4-BE49-F238E27FC236}">
                <a16:creationId xmlns:a16="http://schemas.microsoft.com/office/drawing/2014/main" id="{7AC245B6-B6D5-4E69-99A2-E6FFF2BA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86050"/>
            <a:ext cx="381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2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nchor-weight-2">
            <a:extLst xmlns:a="http://schemas.openxmlformats.org/drawingml/2006/main">
              <a:ext uri="{FF2B5EF4-FFF2-40B4-BE49-F238E27FC236}">
                <a16:creationId xmlns:a16="http://schemas.microsoft.com/office/drawing/2014/main" id="{93BAD325-4B02-4331-BE9D-362B5883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2576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AE8"/>
          </a:solidFill>
          <a:ln xmlns:a="http://schemas.openxmlformats.org/drawingml/2006/main" w="28575">
            <a:solidFill>
              <a:srgbClr val="9B2C2C"/>
            </a:solidFill>
            <a:prstDash val="solid"/>
          </a:ln>
        </p:spPr>
      </p:sp>
      <p:sp>
        <p:nvSpPr>
          <p:cNvPr id="14" name="anchor-label-2">
            <a:extLst xmlns:a="http://schemas.openxmlformats.org/drawingml/2006/main">
              <a:ext uri="{FF2B5EF4-FFF2-40B4-BE49-F238E27FC236}">
                <a16:creationId xmlns:a16="http://schemas.microsoft.com/office/drawing/2014/main" id="{C85C8BFB-BFB6-4FB2-86D5-AD3BF7D7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066925"/>
            <a:ext cx="302895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B2C2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5" name="anchor-title-2">
            <a:extLst xmlns:a="http://schemas.openxmlformats.org/drawingml/2006/main">
              <a:ext uri="{FF2B5EF4-FFF2-40B4-BE49-F238E27FC236}">
                <a16:creationId xmlns:a16="http://schemas.microsoft.com/office/drawing/2014/main" id="{E0C93F3D-BD32-450B-94E0-54CEDC51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860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B2C2C"/>
                </a:solidFill>
              </a:defRPr>
            </a:pPr>
            <a:r>
              <a:rPr sz="1800" b="1">
                <a:solidFill>
                  <a:srgbClr val="9B2C2C"/>
                </a:solidFill>
              </a:rPr>
              <a:t>GUARDRAILS</a:t>
            </a:r>
          </a:p>
        </p:txBody>
      </p:sp>
      <p:sp>
        <p:nvSpPr>
          <p:cNvPr id="16" name="anchor-detail-2">
            <a:extLst xmlns:a="http://schemas.openxmlformats.org/drawingml/2006/main">
              <a:ext uri="{FF2B5EF4-FFF2-40B4-BE49-F238E27FC236}">
                <a16:creationId xmlns:a16="http://schemas.microsoft.com/office/drawing/2014/main" id="{AF0633A1-6FD1-4022-B313-641E8641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8605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8263A"/>
                </a:solidFill>
              </a:defRPr>
            </a:pPr>
            <a:r>
              <a:rPr sz="1275" b="0">
                <a:solidFill>
                  <a:srgbClr val="08263A"/>
                </a:solidFill>
              </a:rPr>
              <a:t>what must stay bounded</a:t>
            </a:r>
          </a:p>
        </p:txBody>
      </p:sp>
      <p:sp>
        <p:nvSpPr>
          <p:cNvPr id="17" name="anchor-line-3">
            <a:extLst xmlns:a="http://schemas.openxmlformats.org/drawingml/2006/main">
              <a:ext uri="{FF2B5EF4-FFF2-40B4-BE49-F238E27FC236}">
                <a16:creationId xmlns:a16="http://schemas.microsoft.com/office/drawing/2014/main" id="{5D509AA5-95E1-4C42-B004-84669EBB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686050"/>
            <a:ext cx="381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nchor-weight-3">
            <a:extLst xmlns:a="http://schemas.openxmlformats.org/drawingml/2006/main">
              <a:ext uri="{FF2B5EF4-FFF2-40B4-BE49-F238E27FC236}">
                <a16:creationId xmlns:a16="http://schemas.microsoft.com/office/drawing/2014/main" id="{C0D8911A-2544-4DBB-879C-F30EEC99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576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4F4"/>
          </a:solidFill>
          <a:ln xmlns:a="http://schemas.openxmlformats.org/drawingml/2006/main" w="28575">
            <a:solidFill>
              <a:srgbClr val="005B57"/>
            </a:solidFill>
            <a:prstDash val="solid"/>
          </a:ln>
        </p:spPr>
      </p:sp>
      <p:sp>
        <p:nvSpPr>
          <p:cNvPr id="19" name="anchor-label-3">
            <a:extLst xmlns:a="http://schemas.openxmlformats.org/drawingml/2006/main">
              <a:ext uri="{FF2B5EF4-FFF2-40B4-BE49-F238E27FC236}">
                <a16:creationId xmlns:a16="http://schemas.microsoft.com/office/drawing/2014/main" id="{5DF547E4-177A-4ABD-82D4-92C6B277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66925"/>
            <a:ext cx="3028950" cy="110490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5B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0" name="anchor-title-3">
            <a:extLst xmlns:a="http://schemas.openxmlformats.org/drawingml/2006/main">
              <a:ext uri="{FF2B5EF4-FFF2-40B4-BE49-F238E27FC236}">
                <a16:creationId xmlns:a16="http://schemas.microsoft.com/office/drawing/2014/main" id="{7AD226FD-66FE-48A7-A410-713E9B42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8600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5B57"/>
                </a:solidFill>
              </a:defRPr>
            </a:pPr>
            <a:r>
              <a:rPr sz="1800" b="1">
                <a:solidFill>
                  <a:srgbClr val="005B57"/>
                </a:solidFill>
              </a:rPr>
              <a:t>EVIDENCE</a:t>
            </a:r>
          </a:p>
        </p:txBody>
      </p:sp>
      <p:sp>
        <p:nvSpPr>
          <p:cNvPr id="21" name="anchor-detail-3">
            <a:extLst xmlns:a="http://schemas.openxmlformats.org/drawingml/2006/main">
              <a:ext uri="{FF2B5EF4-FFF2-40B4-BE49-F238E27FC236}">
                <a16:creationId xmlns:a16="http://schemas.microsoft.com/office/drawing/2014/main" id="{40984E8E-D8B7-42ED-B806-61D7F4F8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8263A"/>
                </a:solidFill>
              </a:defRPr>
            </a:pPr>
            <a:r>
              <a:rPr sz="1275" b="0">
                <a:solidFill>
                  <a:srgbClr val="08263A"/>
                </a:solidFill>
              </a:rPr>
              <a:t>what proves completion</a:t>
            </a:r>
          </a:p>
        </p:txBody>
      </p:sp>
      <p:sp>
        <p:nvSpPr>
          <p:cNvPr id="22" name="anchor-conclusion">
            <a:extLst xmlns:a="http://schemas.openxmlformats.org/drawingml/2006/main">
              <a:ext uri="{FF2B5EF4-FFF2-40B4-BE49-F238E27FC236}">
                <a16:creationId xmlns:a16="http://schemas.microsoft.com/office/drawing/2014/main" id="{D34AB772-DAA9-4B92-91DF-43B4D828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197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8263A"/>
                </a:solidFill>
              </a:defRPr>
            </a:pPr>
            <a:r>
              <a:rPr sz="2175" b="1">
                <a:solidFill>
                  <a:srgbClr val="08263A"/>
                </a:solidFill>
              </a:rPr>
              <a:t>Without these anchors, reach grows faster than reliability.</a:t>
            </a:r>
          </a:p>
        </p:txBody>
      </p:sp>
      <p:sp>
        <p:nvSpPr>
          <p:cNvPr id="23" name="footer-line-11">
            <a:extLst xmlns:a="http://schemas.openxmlformats.org/drawingml/2006/main">
              <a:ext uri="{FF2B5EF4-FFF2-40B4-BE49-F238E27FC236}">
                <a16:creationId xmlns:a16="http://schemas.microsoft.com/office/drawing/2014/main" id="{DA2D8EED-6E10-4208-B62B-86D599E7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ource-11">
            <a:extLst xmlns:a="http://schemas.openxmlformats.org/drawingml/2006/main">
              <a:ext uri="{FF2B5EF4-FFF2-40B4-BE49-F238E27FC236}">
                <a16:creationId xmlns:a16="http://schemas.microsoft.com/office/drawing/2014/main" id="{780105BB-D01D-4608-8833-E3270893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5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566A"/>
                </a:solidFill>
              </a:defRPr>
            </a:pPr>
            <a:r>
              <a:rPr sz="1200" b="0">
                <a:solidFill>
                  <a:srgbClr val="36566A"/>
                </a:solidFill>
              </a:rPr>
              <a:t>[9] long-running harnesses · [11] context engineering</a:t>
            </a:r>
          </a:p>
        </p:txBody>
      </p:sp>
      <p:sp>
        <p:nvSpPr>
          <p:cNvPr id="25" name="folio-11">
            <a:extLst xmlns:a="http://schemas.openxmlformats.org/drawingml/2006/main">
              <a:ext uri="{FF2B5EF4-FFF2-40B4-BE49-F238E27FC236}">
                <a16:creationId xmlns:a16="http://schemas.microsoft.com/office/drawing/2014/main" id="{36023037-6DD3-41A2-9AD0-CBFE8FB4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6566A"/>
                </a:solidFill>
              </a:defRPr>
            </a:pPr>
            <a:r>
              <a:rPr sz="1200" b="1">
                <a:solidFill>
                  <a:srgbClr val="36566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070965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header-current-12">
            <a:extLst xmlns:a="http://schemas.openxmlformats.org/drawingml/2006/main">
              <a:ext uri="{FF2B5EF4-FFF2-40B4-BE49-F238E27FC236}">
                <a16:creationId xmlns:a16="http://schemas.microsoft.com/office/drawing/2014/main" id="{498FBD55-06A2-4A48-A2B1-5D3C39BB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19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2">
            <a:extLst xmlns:a="http://schemas.openxmlformats.org/drawingml/2006/main">
              <a:ext uri="{FF2B5EF4-FFF2-40B4-BE49-F238E27FC236}">
                <a16:creationId xmlns:a16="http://schemas.microsoft.com/office/drawing/2014/main" id="{7489EE07-C7EA-47FE-9E2A-BC7019DA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WHY MDKG</a:t>
            </a:r>
          </a:p>
        </p:txBody>
      </p:sp>
      <p:sp>
        <p:nvSpPr>
          <p:cNvPr id="3" name="title-12">
            <a:extLst xmlns:a="http://schemas.openxmlformats.org/drawingml/2006/main">
              <a:ext uri="{FF2B5EF4-FFF2-40B4-BE49-F238E27FC236}">
                <a16:creationId xmlns:a16="http://schemas.microsoft.com/office/drawing/2014/main" id="{9094DB3E-7980-4C5B-BDA6-E9303339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63A"/>
                </a:solidFill>
              </a:defRPr>
            </a:pPr>
            <a:r>
              <a:rPr sz="2850" b="1">
                <a:solidFill>
                  <a:srgbClr val="08263A"/>
                </a:solidFill>
              </a:rPr>
              <a:t>I built mdkg to stay at the architecture layer</a:t>
            </a:r>
          </a:p>
        </p:txBody>
      </p:sp>
      <p:sp>
        <p:nvSpPr>
          <p:cNvPr id="4" name="subtitle-12">
            <a:extLst xmlns:a="http://schemas.openxmlformats.org/drawingml/2006/main">
              <a:ext uri="{FF2B5EF4-FFF2-40B4-BE49-F238E27FC236}">
                <a16:creationId xmlns:a16="http://schemas.microsoft.com/office/drawing/2014/main" id="{65135872-FDB9-4F0A-B43B-B4598391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66A"/>
                </a:solidFill>
              </a:defRPr>
            </a:pPr>
            <a:r>
              <a:rPr sz="1425" b="0">
                <a:solidFill>
                  <a:srgbClr val="36566A"/>
                </a:solidFill>
              </a:rPr>
              <a:t>The goal was not to type faster. It was to make better decisions—and give agents durable structure to execute them.</a:t>
            </a:r>
          </a:p>
        </p:txBody>
      </p:sp>
      <p:sp>
        <p:nvSpPr>
          <p:cNvPr id="5" name="creator-noise-field">
            <a:extLst xmlns:a="http://schemas.openxmlformats.org/drawingml/2006/main">
              <a:ext uri="{FF2B5EF4-FFF2-40B4-BE49-F238E27FC236}">
                <a16:creationId xmlns:a16="http://schemas.microsoft.com/office/drawing/2014/main" id="{202E02DD-D250-4ABC-A21F-AA74F293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4476750" cy="3219450"/>
          </a:xfrm>
          <a:prstGeom xmlns:a="http://schemas.openxmlformats.org/drawingml/2006/main" prst="roundRect">
            <a:avLst>
              <a:gd name="adj" fmla="val 7101"/>
            </a:avLst>
          </a:prstGeom>
          <a:solidFill xmlns:a="http://schemas.openxmlformats.org/drawingml/2006/main">
            <a:srgbClr val="EAF4F7"/>
          </a:solidFill>
          <a:ln xmlns:a="http://schemas.openxmlformats.org/drawingml/2006/main" w="19050">
            <a:solidFill>
              <a:srgbClr val="5E8392"/>
            </a:solidFill>
            <a:prstDash val="solid"/>
          </a:ln>
        </p:spPr>
      </p:sp>
      <p:sp>
        <p:nvSpPr>
          <p:cNvPr id="6" name="creator-noise-1">
            <a:extLst xmlns:a="http://schemas.openxmlformats.org/drawingml/2006/main">
              <a:ext uri="{FF2B5EF4-FFF2-40B4-BE49-F238E27FC236}">
                <a16:creationId xmlns:a16="http://schemas.microsoft.com/office/drawing/2014/main" id="{F219B3F1-317D-4D32-9005-CF482280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8392"/>
                </a:solidFill>
              </a:defRPr>
            </a:pPr>
            <a:r>
              <a:rPr sz="1650" b="1">
                <a:solidFill>
                  <a:srgbClr val="5E8392"/>
                </a:solidFill>
              </a:rPr>
              <a:t>more tabs</a:t>
            </a:r>
          </a:p>
        </p:txBody>
      </p:sp>
      <p:sp>
        <p:nvSpPr>
          <p:cNvPr id="7" name="creator-noise-2">
            <a:extLst xmlns:a="http://schemas.openxmlformats.org/drawingml/2006/main">
              <a:ext uri="{FF2B5EF4-FFF2-40B4-BE49-F238E27FC236}">
                <a16:creationId xmlns:a16="http://schemas.microsoft.com/office/drawing/2014/main" id="{5AF0EBC8-8430-42D3-A68A-E389A645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289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6566A"/>
                </a:solidFill>
              </a:defRPr>
            </a:pPr>
            <a:r>
              <a:rPr sz="1650" b="0">
                <a:solidFill>
                  <a:srgbClr val="36566A"/>
                </a:solidFill>
              </a:rPr>
              <a:t>longer prompts</a:t>
            </a:r>
          </a:p>
        </p:txBody>
      </p:sp>
      <p:sp>
        <p:nvSpPr>
          <p:cNvPr id="8" name="creator-noise-3">
            <a:extLst xmlns:a="http://schemas.openxmlformats.org/drawingml/2006/main">
              <a:ext uri="{FF2B5EF4-FFF2-40B4-BE49-F238E27FC236}">
                <a16:creationId xmlns:a16="http://schemas.microsoft.com/office/drawing/2014/main" id="{B9E82D38-1315-4627-B16E-3429AEA2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195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8392"/>
                </a:solidFill>
              </a:defRPr>
            </a:pPr>
            <a:r>
              <a:rPr sz="1650" b="1">
                <a:solidFill>
                  <a:srgbClr val="5E8392"/>
                </a:solidFill>
              </a:rPr>
              <a:t>re-explain context</a:t>
            </a:r>
          </a:p>
        </p:txBody>
      </p:sp>
      <p:sp>
        <p:nvSpPr>
          <p:cNvPr id="9" name="creator-noise-4">
            <a:extLst xmlns:a="http://schemas.openxmlformats.org/drawingml/2006/main">
              <a:ext uri="{FF2B5EF4-FFF2-40B4-BE49-F238E27FC236}">
                <a16:creationId xmlns:a16="http://schemas.microsoft.com/office/drawing/2014/main" id="{31383BE5-7D03-4C65-BF5C-8334CEEB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8627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6566A"/>
                </a:solidFill>
              </a:defRPr>
            </a:pPr>
            <a:r>
              <a:rPr sz="1650" b="0">
                <a:solidFill>
                  <a:srgbClr val="36566A"/>
                </a:solidFill>
              </a:rPr>
              <a:t>repeat the plan</a:t>
            </a:r>
          </a:p>
        </p:txBody>
      </p:sp>
      <p:sp>
        <p:nvSpPr>
          <p:cNvPr id="10" name="creator-transition-arrow">
            <a:extLst xmlns:a="http://schemas.openxmlformats.org/drawingml/2006/main">
              <a:ext uri="{FF2B5EF4-FFF2-40B4-BE49-F238E27FC236}">
                <a16:creationId xmlns:a16="http://schemas.microsoft.com/office/drawing/2014/main" id="{DCC8E846-1A86-4030-979F-3EFD733E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324225"/>
            <a:ext cx="12001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reator-focus-plane">
            <a:extLst xmlns:a="http://schemas.openxmlformats.org/drawingml/2006/main">
              <a:ext uri="{FF2B5EF4-FFF2-40B4-BE49-F238E27FC236}">
                <a16:creationId xmlns:a16="http://schemas.microsoft.com/office/drawing/2014/main" id="{18F4B087-CE2F-4228-A658-93DFBB13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876425"/>
            <a:ext cx="4962525" cy="3524250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08263A"/>
          </a:solidFill>
          <a:ln xmlns:a="http://schemas.openxmlformats.org/drawingml/2006/main" w="28575">
            <a:solidFill>
              <a:srgbClr val="005B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0"/>
          <a:fontRef xmlns:a="http://schemas.openxmlformats.org/drawingml/2006/main" idx="major"/>
        </p:style>
      </p:sp>
      <p:sp>
        <p:nvSpPr>
          <p:cNvPr id="12" name="creator-focus-kicker">
            <a:extLst xmlns:a="http://schemas.openxmlformats.org/drawingml/2006/main">
              <a:ext uri="{FF2B5EF4-FFF2-40B4-BE49-F238E27FC236}">
                <a16:creationId xmlns:a16="http://schemas.microsoft.com/office/drawing/2014/main" id="{40CA653D-84E0-4347-A0CC-CE36C03C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05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C7B3"/>
                </a:solidFill>
              </a:defRPr>
            </a:pPr>
            <a:r>
              <a:rPr sz="1350" b="1">
                <a:solidFill>
                  <a:srgbClr val="13C7B3"/>
                </a:solidFill>
              </a:rPr>
              <a:t>HUMAN ATTENTION</a:t>
            </a:r>
          </a:p>
        </p:txBody>
      </p:sp>
      <p:sp>
        <p:nvSpPr>
          <p:cNvPr id="13" name="creator-focus-architecture">
            <a:extLst xmlns:a="http://schemas.openxmlformats.org/drawingml/2006/main">
              <a:ext uri="{FF2B5EF4-FFF2-40B4-BE49-F238E27FC236}">
                <a16:creationId xmlns:a16="http://schemas.microsoft.com/office/drawing/2014/main" id="{DD02CE36-8457-4F0F-9DF1-213A3398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93370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7FBFD"/>
                </a:solidFill>
              </a:defRPr>
            </a:pPr>
            <a:r>
              <a:rPr sz="3000" b="1">
                <a:solidFill>
                  <a:srgbClr val="F7FBFD"/>
                </a:solidFill>
              </a:rPr>
              <a:t>ARCHITECTURE</a:t>
            </a:r>
          </a:p>
        </p:txBody>
      </p:sp>
      <p:sp>
        <p:nvSpPr>
          <p:cNvPr id="14" name="creator-focus-rule">
            <a:extLst xmlns:a="http://schemas.openxmlformats.org/drawingml/2006/main">
              <a:ext uri="{FF2B5EF4-FFF2-40B4-BE49-F238E27FC236}">
                <a16:creationId xmlns:a16="http://schemas.microsoft.com/office/drawing/2014/main" id="{57948282-812C-49EB-AAA9-ECA70619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676650"/>
            <a:ext cx="3600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reator-focus-planning">
            <a:extLst xmlns:a="http://schemas.openxmlformats.org/drawingml/2006/main">
              <a:ext uri="{FF2B5EF4-FFF2-40B4-BE49-F238E27FC236}">
                <a16:creationId xmlns:a16="http://schemas.microsoft.com/office/drawing/2014/main" id="{22A32450-B9EA-4D25-B3D3-B7ED086C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43350"/>
            <a:ext cx="436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7FBFD"/>
                </a:solidFill>
              </a:defRPr>
            </a:pPr>
            <a:r>
              <a:rPr sz="3000" b="1">
                <a:solidFill>
                  <a:srgbClr val="F7FBFD"/>
                </a:solidFill>
              </a:rPr>
              <a:t>PLANNING</a:t>
            </a:r>
          </a:p>
        </p:txBody>
      </p:sp>
      <p:sp>
        <p:nvSpPr>
          <p:cNvPr id="16" name="creator-focus-detail">
            <a:extLst xmlns:a="http://schemas.openxmlformats.org/drawingml/2006/main">
              <a:ext uri="{FF2B5EF4-FFF2-40B4-BE49-F238E27FC236}">
                <a16:creationId xmlns:a16="http://schemas.microsoft.com/office/drawing/2014/main" id="{764D3AD6-3058-4D26-92B6-51846EF8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829175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3C7B3"/>
                </a:solidFill>
              </a:defRPr>
            </a:pPr>
            <a:r>
              <a:rPr sz="1275" b="0">
                <a:solidFill>
                  <a:srgbClr val="13C7B3"/>
                </a:solidFill>
              </a:rPr>
              <a:t>agents execute within durable structure</a:t>
            </a:r>
          </a:p>
        </p:txBody>
      </p:sp>
      <p:sp>
        <p:nvSpPr>
          <p:cNvPr id="17" name="creator-takeaway">
            <a:extLst xmlns:a="http://schemas.openxmlformats.org/drawingml/2006/main">
              <a:ext uri="{FF2B5EF4-FFF2-40B4-BE49-F238E27FC236}">
                <a16:creationId xmlns:a16="http://schemas.microsoft.com/office/drawing/2014/main" id="{5A516BE3-DD23-4762-8D88-EF91B75B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00700"/>
            <a:ext cx="6705600" cy="381000"/>
          </a:xfrm>
          <a:prstGeom xmlns:a="http://schemas.openxmlformats.org/drawingml/2006/main" prst="roundRect">
            <a:avLst>
              <a:gd name="adj" fmla="val 45000"/>
            </a:avLst>
          </a:prstGeom>
          <a:solidFill xmlns:a="http://schemas.openxmlformats.org/drawingml/2006/main">
            <a:srgbClr val="FDEAE8"/>
          </a:solidFill>
          <a:ln xmlns:a="http://schemas.openxmlformats.org/drawingml/2006/main" w="19050">
            <a:solidFill>
              <a:srgbClr val="9B2C2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PERSONAL-PROJECT VELOCITY WITHOUT GIVING UP DESIGN JUDGMENT</a:t>
            </a:r>
          </a:p>
        </p:txBody>
      </p:sp>
      <p:sp>
        <p:nvSpPr>
          <p:cNvPr id="18" name="footer-line-12">
            <a:extLst xmlns:a="http://schemas.openxmlformats.org/drawingml/2006/main">
              <a:ext uri="{FF2B5EF4-FFF2-40B4-BE49-F238E27FC236}">
                <a16:creationId xmlns:a16="http://schemas.microsoft.com/office/drawing/2014/main" id="{44DB59A0-8677-49A7-85FE-868F148F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ource-12">
            <a:extLst xmlns:a="http://schemas.openxmlformats.org/drawingml/2006/main">
              <a:ext uri="{FF2B5EF4-FFF2-40B4-BE49-F238E27FC236}">
                <a16:creationId xmlns:a16="http://schemas.microsoft.com/office/drawing/2014/main" id="{EF7A159C-52E1-4F94-B416-95B353A3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5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folio-12">
            <a:extLst xmlns:a="http://schemas.openxmlformats.org/drawingml/2006/main">
              <a:ext uri="{FF2B5EF4-FFF2-40B4-BE49-F238E27FC236}">
                <a16:creationId xmlns:a16="http://schemas.microsoft.com/office/drawing/2014/main" id="{BDCF718C-D9E4-4DAF-A66B-85596DCE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6566A"/>
                </a:solidFill>
              </a:defRPr>
            </a:pPr>
            <a:r>
              <a:rPr sz="1200" b="1">
                <a:solidFill>
                  <a:srgbClr val="36566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491350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-current-13">
            <a:extLst xmlns:a="http://schemas.openxmlformats.org/drawingml/2006/main">
              <a:ext uri="{FF2B5EF4-FFF2-40B4-BE49-F238E27FC236}">
                <a16:creationId xmlns:a16="http://schemas.microsoft.com/office/drawing/2014/main" id="{AC5B83FA-B607-409E-BA20-33A8659F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19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3">
            <a:extLst xmlns:a="http://schemas.openxmlformats.org/drawingml/2006/main">
              <a:ext uri="{FF2B5EF4-FFF2-40B4-BE49-F238E27FC236}">
                <a16:creationId xmlns:a16="http://schemas.microsoft.com/office/drawing/2014/main" id="{C71B096E-5659-4794-9DF2-A642B3E9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THE MISSING LAYER</a:t>
            </a:r>
          </a:p>
        </p:txBody>
      </p:sp>
      <p:sp>
        <p:nvSpPr>
          <p:cNvPr id="3" name="title-13">
            <a:extLst xmlns:a="http://schemas.openxmlformats.org/drawingml/2006/main">
              <a:ext uri="{FF2B5EF4-FFF2-40B4-BE49-F238E27FC236}">
                <a16:creationId xmlns:a16="http://schemas.microsoft.com/office/drawing/2014/main" id="{961F2AB0-BDBF-49E0-8980-01FE79CD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63A"/>
                </a:solidFill>
              </a:defRPr>
            </a:pPr>
            <a:r>
              <a:rPr sz="2850" b="1">
                <a:solidFill>
                  <a:srgbClr val="08263A"/>
                </a:solidFill>
              </a:rPr>
              <a:t>The missing layer is durable project state</a:t>
            </a:r>
          </a:p>
        </p:txBody>
      </p:sp>
      <p:sp>
        <p:nvSpPr>
          <p:cNvPr id="4" name="subtitle-13">
            <a:extLst xmlns:a="http://schemas.openxmlformats.org/drawingml/2006/main">
              <a:ext uri="{FF2B5EF4-FFF2-40B4-BE49-F238E27FC236}">
                <a16:creationId xmlns:a16="http://schemas.microsoft.com/office/drawing/2014/main" id="{A6C43FA0-FF8F-497A-BF37-D159731F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66A"/>
                </a:solidFill>
              </a:defRPr>
            </a:pPr>
            <a:r>
              <a:rPr sz="1425" b="0">
                <a:solidFill>
                  <a:srgbClr val="36566A"/>
                </a:solidFill>
              </a:rPr>
              <a:t>A transcript can help a conversation. A repository must preserve what the next human or agent needs to act.</a:t>
            </a:r>
          </a:p>
        </p:txBody>
      </p:sp>
      <p:sp>
        <p:nvSpPr>
          <p:cNvPr id="5" name="state-arrow">
            <a:extLst xmlns:a="http://schemas.openxmlformats.org/drawingml/2006/main">
              <a:ext uri="{FF2B5EF4-FFF2-40B4-BE49-F238E27FC236}">
                <a16:creationId xmlns:a16="http://schemas.microsoft.com/office/drawing/2014/main" id="{F1B2B201-5CAE-44D4-AEE3-1E597262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76600"/>
            <a:ext cx="16192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te-chat">
            <a:extLst xmlns:a="http://schemas.openxmlformats.org/drawingml/2006/main">
              <a:ext uri="{FF2B5EF4-FFF2-40B4-BE49-F238E27FC236}">
                <a16:creationId xmlns:a16="http://schemas.microsoft.com/office/drawing/2014/main" id="{448162D3-B6ED-41AD-A063-C2B8A793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4095750" cy="3105150"/>
          </a:xfrm>
          <a:prstGeom xmlns:a="http://schemas.openxmlformats.org/drawingml/2006/main" prst="roundRect">
            <a:avLst>
              <a:gd name="adj" fmla="val 8589"/>
            </a:avLst>
          </a:prstGeom>
          <a:solidFill xmlns:a="http://schemas.openxmlformats.org/drawingml/2006/main">
            <a:srgbClr val="E7F5FB"/>
          </a:solidFill>
          <a:ln xmlns:a="http://schemas.openxmlformats.org/drawingml/2006/main" w="19050">
            <a:solidFill>
              <a:srgbClr val="0056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1"/>
          <a:fontRef xmlns:a="http://schemas.openxmlformats.org/drawingml/2006/main" idx="major"/>
        </p:style>
      </p:sp>
      <p:sp>
        <p:nvSpPr>
          <p:cNvPr id="7" name="state-chat-title">
            <a:extLst xmlns:a="http://schemas.openxmlformats.org/drawingml/2006/main">
              <a:ext uri="{FF2B5EF4-FFF2-40B4-BE49-F238E27FC236}">
                <a16:creationId xmlns:a16="http://schemas.microsoft.com/office/drawing/2014/main" id="{E11A138E-9330-4A76-A4C9-93B7E490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66D"/>
                </a:solidFill>
              </a:defRPr>
            </a:pPr>
            <a:r>
              <a:rPr sz="1800" b="1">
                <a:solidFill>
                  <a:srgbClr val="00566D"/>
                </a:solidFill>
              </a:rPr>
              <a:t>CHAT</a:t>
            </a:r>
          </a:p>
        </p:txBody>
      </p:sp>
      <p:sp>
        <p:nvSpPr>
          <p:cNvPr id="8" name="state-chat-lines">
            <a:extLst xmlns:a="http://schemas.openxmlformats.org/drawingml/2006/main">
              <a:ext uri="{FF2B5EF4-FFF2-40B4-BE49-F238E27FC236}">
                <a16:creationId xmlns:a16="http://schemas.microsoft.com/office/drawing/2014/main" id="{BD939742-8089-4210-97DA-5744474F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32956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566A"/>
                </a:solidFill>
              </a:defRPr>
            </a:pPr>
            <a:r>
              <a:rPr sz="1650" b="1">
                <a:solidFill>
                  <a:srgbClr val="36566A"/>
                </a:solidFill>
              </a:rPr>
              <a:t>“Here is the goal…”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36566A"/>
                </a:solidFill>
              </a:defRPr>
            </a:pPr>
            <a:r>
              <a:rPr sz="1650" b="1">
                <a:solidFill>
                  <a:srgbClr val="36566A"/>
                </a:solidFill>
              </a:rPr>
              <a:t>“Remember the constraint…”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36566A"/>
                </a:solidFill>
              </a:defRPr>
            </a:pPr>
            <a:r>
              <a:rPr sz="1650" b="1">
                <a:solidFill>
                  <a:srgbClr val="36566A"/>
                </a:solidFill>
              </a:rPr>
              <a:t>“What did we decide?”</a:t>
            </a:r>
          </a:p>
        </p:txBody>
      </p:sp>
      <p:sp>
        <p:nvSpPr>
          <p:cNvPr id="9" name="state-chat-fade">
            <a:extLst xmlns:a="http://schemas.openxmlformats.org/drawingml/2006/main">
              <a:ext uri="{FF2B5EF4-FFF2-40B4-BE49-F238E27FC236}">
                <a16:creationId xmlns:a16="http://schemas.microsoft.com/office/drawing/2014/main" id="{6C2783A5-0C4B-4792-9AC8-288BD304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529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B2C2C"/>
                </a:solidFill>
              </a:defRPr>
            </a:pPr>
            <a:r>
              <a:rPr sz="1200" b="1">
                <a:solidFill>
                  <a:srgbClr val="9B2C2C"/>
                </a:solidFill>
              </a:rPr>
              <a:t>conversation fades</a:t>
            </a:r>
          </a:p>
        </p:txBody>
      </p:sp>
      <p:sp>
        <p:nvSpPr>
          <p:cNvPr id="10" name="state-repo">
            <a:extLst xmlns:a="http://schemas.openxmlformats.org/drawingml/2006/main">
              <a:ext uri="{FF2B5EF4-FFF2-40B4-BE49-F238E27FC236}">
                <a16:creationId xmlns:a16="http://schemas.microsoft.com/office/drawing/2014/main" id="{DE40EC32-6AFA-4921-92D3-615D9357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76425"/>
            <a:ext cx="5429250" cy="3524250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5B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2"/>
          <a:fontRef xmlns:a="http://schemas.openxmlformats.org/drawingml/2006/main" idx="major"/>
        </p:style>
      </p:sp>
      <p:sp>
        <p:nvSpPr>
          <p:cNvPr id="11" name="state-repo-title">
            <a:extLst xmlns:a="http://schemas.openxmlformats.org/drawingml/2006/main">
              <a:ext uri="{FF2B5EF4-FFF2-40B4-BE49-F238E27FC236}">
                <a16:creationId xmlns:a16="http://schemas.microsoft.com/office/drawing/2014/main" id="{E395C54F-07F7-4B8A-ACC5-27C61A7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00275"/>
            <a:ext cx="461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B57"/>
                </a:solidFill>
              </a:defRPr>
            </a:pPr>
            <a:r>
              <a:rPr sz="1800" b="1">
                <a:solidFill>
                  <a:srgbClr val="005B57"/>
                </a:solidFill>
              </a:rPr>
              <a:t>REPOSITORY-OWNED STATE</a:t>
            </a:r>
          </a:p>
        </p:txBody>
      </p:sp>
      <p:sp>
        <p:nvSpPr>
          <p:cNvPr id="12" name="state-row-rule-1">
            <a:extLst xmlns:a="http://schemas.openxmlformats.org/drawingml/2006/main">
              <a:ext uri="{FF2B5EF4-FFF2-40B4-BE49-F238E27FC236}">
                <a16:creationId xmlns:a16="http://schemas.microsoft.com/office/drawing/2014/main" id="{63189611-E15C-4C1D-AB58-28928E96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384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ate-row-1">
            <a:extLst xmlns:a="http://schemas.openxmlformats.org/drawingml/2006/main">
              <a:ext uri="{FF2B5EF4-FFF2-40B4-BE49-F238E27FC236}">
                <a16:creationId xmlns:a16="http://schemas.microsoft.com/office/drawing/2014/main" id="{3E0D11FC-DC51-4158-B705-C97AE05F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955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263A"/>
                </a:solidFill>
              </a:defRPr>
            </a:pPr>
            <a:r>
              <a:rPr sz="1650" b="0">
                <a:solidFill>
                  <a:srgbClr val="08263A"/>
                </a:solidFill>
              </a:rPr>
              <a:t>requirements</a:t>
            </a:r>
          </a:p>
        </p:txBody>
      </p:sp>
      <p:sp>
        <p:nvSpPr>
          <p:cNvPr id="14" name="state-row-rule-2">
            <a:extLst xmlns:a="http://schemas.openxmlformats.org/drawingml/2006/main">
              <a:ext uri="{FF2B5EF4-FFF2-40B4-BE49-F238E27FC236}">
                <a16:creationId xmlns:a16="http://schemas.microsoft.com/office/drawing/2014/main" id="{F8592037-1E82-416C-983D-BF38E693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147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te-row-2">
            <a:extLst xmlns:a="http://schemas.openxmlformats.org/drawingml/2006/main">
              <a:ext uri="{FF2B5EF4-FFF2-40B4-BE49-F238E27FC236}">
                <a16:creationId xmlns:a16="http://schemas.microsoft.com/office/drawing/2014/main" id="{5A2599EC-39B3-431F-A8BB-BEE4E619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718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263A"/>
                </a:solidFill>
              </a:defRPr>
            </a:pPr>
            <a:r>
              <a:rPr sz="1650" b="0">
                <a:solidFill>
                  <a:srgbClr val="08263A"/>
                </a:solidFill>
              </a:rPr>
              <a:t>decisions</a:t>
            </a:r>
          </a:p>
        </p:txBody>
      </p:sp>
      <p:sp>
        <p:nvSpPr>
          <p:cNvPr id="16" name="state-row-rule-3">
            <a:extLst xmlns:a="http://schemas.openxmlformats.org/drawingml/2006/main">
              <a:ext uri="{FF2B5EF4-FFF2-40B4-BE49-F238E27FC236}">
                <a16:creationId xmlns:a16="http://schemas.microsoft.com/office/drawing/2014/main" id="{82C427BF-26A3-4C51-91A6-63533F41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909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2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ate-row-3">
            <a:extLst xmlns:a="http://schemas.openxmlformats.org/drawingml/2006/main">
              <a:ext uri="{FF2B5EF4-FFF2-40B4-BE49-F238E27FC236}">
                <a16:creationId xmlns:a16="http://schemas.microsoft.com/office/drawing/2014/main" id="{95FAB75C-A966-4BEE-AE7F-6F0CB405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480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263A"/>
                </a:solidFill>
              </a:defRPr>
            </a:pPr>
            <a:r>
              <a:rPr sz="1650" b="0">
                <a:solidFill>
                  <a:srgbClr val="08263A"/>
                </a:solidFill>
              </a:rPr>
              <a:t>authority</a:t>
            </a:r>
          </a:p>
        </p:txBody>
      </p:sp>
      <p:sp>
        <p:nvSpPr>
          <p:cNvPr id="18" name="state-row-rule-4">
            <a:extLst xmlns:a="http://schemas.openxmlformats.org/drawingml/2006/main">
              <a:ext uri="{FF2B5EF4-FFF2-40B4-BE49-F238E27FC236}">
                <a16:creationId xmlns:a16="http://schemas.microsoft.com/office/drawing/2014/main" id="{2F3DFFB7-F2AC-4BBC-BB15-EB5065D2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672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ate-row-4">
            <a:extLst xmlns:a="http://schemas.openxmlformats.org/drawingml/2006/main">
              <a:ext uri="{FF2B5EF4-FFF2-40B4-BE49-F238E27FC236}">
                <a16:creationId xmlns:a16="http://schemas.microsoft.com/office/drawing/2014/main" id="{6CF5DD82-463D-4681-A435-5748A8FB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2432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263A"/>
                </a:solidFill>
              </a:defRPr>
            </a:pPr>
            <a:r>
              <a:rPr sz="1650" b="0">
                <a:solidFill>
                  <a:srgbClr val="08263A"/>
                </a:solidFill>
              </a:rPr>
              <a:t>accepted evidence</a:t>
            </a:r>
          </a:p>
        </p:txBody>
      </p:sp>
      <p:sp>
        <p:nvSpPr>
          <p:cNvPr id="20" name="state-row-rule-5">
            <a:extLst xmlns:a="http://schemas.openxmlformats.org/drawingml/2006/main">
              <a:ext uri="{FF2B5EF4-FFF2-40B4-BE49-F238E27FC236}">
                <a16:creationId xmlns:a16="http://schemas.microsoft.com/office/drawing/2014/main" id="{BA8FE8EF-9144-40E6-AC7B-460CF7DA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ate-row-5">
            <a:extLst xmlns:a="http://schemas.openxmlformats.org/drawingml/2006/main">
              <a:ext uri="{FF2B5EF4-FFF2-40B4-BE49-F238E27FC236}">
                <a16:creationId xmlns:a16="http://schemas.microsoft.com/office/drawing/2014/main" id="{3FA90B35-ED65-4706-AFF1-1EB42846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005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63A"/>
                </a:solidFill>
              </a:defRPr>
            </a:pPr>
            <a:r>
              <a:rPr sz="1650" b="1">
                <a:solidFill>
                  <a:srgbClr val="08263A"/>
                </a:solidFill>
              </a:rPr>
              <a:t>next authorized work</a:t>
            </a:r>
          </a:p>
        </p:txBody>
      </p:sp>
      <p:sp>
        <p:nvSpPr>
          <p:cNvPr id="22" name="state-conclusion">
            <a:extLst xmlns:a="http://schemas.openxmlformats.org/drawingml/2006/main">
              <a:ext uri="{FF2B5EF4-FFF2-40B4-BE49-F238E27FC236}">
                <a16:creationId xmlns:a16="http://schemas.microsoft.com/office/drawing/2014/main" id="{06C70F5D-4578-419C-A2B9-41F1AAD2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67375"/>
            <a:ext cx="47625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DF4F4"/>
          </a:solidFill>
          <a:ln xmlns:a="http://schemas.openxmlformats.org/drawingml/2006/main" w="19050">
            <a:solidFill>
              <a:srgbClr val="005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REVIEWABLE · ADDRESSABLE · RECOVERABLE</a:t>
            </a:r>
          </a:p>
        </p:txBody>
      </p:sp>
      <p:sp>
        <p:nvSpPr>
          <p:cNvPr id="23" name="footer-line-13">
            <a:extLst xmlns:a="http://schemas.openxmlformats.org/drawingml/2006/main">
              <a:ext uri="{FF2B5EF4-FFF2-40B4-BE49-F238E27FC236}">
                <a16:creationId xmlns:a16="http://schemas.microsoft.com/office/drawing/2014/main" id="{45D2D48E-36E0-4F33-9542-B4057D63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ource-13">
            <a:extLst xmlns:a="http://schemas.openxmlformats.org/drawingml/2006/main">
              <a:ext uri="{FF2B5EF4-FFF2-40B4-BE49-F238E27FC236}">
                <a16:creationId xmlns:a16="http://schemas.microsoft.com/office/drawing/2014/main" id="{813212BB-47F4-4504-992A-F203207B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5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566A"/>
                </a:solidFill>
              </a:defRPr>
            </a:pPr>
            <a:r>
              <a:rPr sz="1200" b="0">
                <a:solidFill>
                  <a:srgbClr val="36566A"/>
                </a:solidFill>
              </a:rPr>
              <a:t>[14] mdkg project-state operating model</a:t>
            </a:r>
          </a:p>
        </p:txBody>
      </p:sp>
      <p:sp>
        <p:nvSpPr>
          <p:cNvPr id="25" name="folio-13">
            <a:extLst xmlns:a="http://schemas.openxmlformats.org/drawingml/2006/main">
              <a:ext uri="{FF2B5EF4-FFF2-40B4-BE49-F238E27FC236}">
                <a16:creationId xmlns:a16="http://schemas.microsoft.com/office/drawing/2014/main" id="{01866141-97A7-4D0D-9756-11101230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6566A"/>
                </a:solidFill>
              </a:defRPr>
            </a:pPr>
            <a:r>
              <a:rPr sz="1200" b="1">
                <a:solidFill>
                  <a:srgbClr val="36566A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908569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header-current-14">
            <a:extLst xmlns:a="http://schemas.openxmlformats.org/drawingml/2006/main">
              <a:ext uri="{FF2B5EF4-FFF2-40B4-BE49-F238E27FC236}">
                <a16:creationId xmlns:a16="http://schemas.microsoft.com/office/drawing/2014/main" id="{D7A89EC9-D719-457B-9EC2-60157E79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19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4">
            <a:extLst xmlns:a="http://schemas.openxmlformats.org/drawingml/2006/main">
              <a:ext uri="{FF2B5EF4-FFF2-40B4-BE49-F238E27FC236}">
                <a16:creationId xmlns:a16="http://schemas.microsoft.com/office/drawing/2014/main" id="{E20591D1-94BC-432A-945C-BC6326D3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THE OPERATING MODEL</a:t>
            </a:r>
          </a:p>
        </p:txBody>
      </p:sp>
      <p:sp>
        <p:nvSpPr>
          <p:cNvPr id="3" name="title-14">
            <a:extLst xmlns:a="http://schemas.openxmlformats.org/drawingml/2006/main">
              <a:ext uri="{FF2B5EF4-FFF2-40B4-BE49-F238E27FC236}">
                <a16:creationId xmlns:a16="http://schemas.microsoft.com/office/drawing/2014/main" id="{A5940330-5B83-4F9E-BC37-0391BFB6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63A"/>
                </a:solidFill>
              </a:defRPr>
            </a:pPr>
            <a:r>
              <a:rPr sz="2850" b="1">
                <a:solidFill>
                  <a:srgbClr val="08263A"/>
                </a:solidFill>
              </a:rPr>
              <a:t>Plan → Work → Evidence</a:t>
            </a:r>
          </a:p>
        </p:txBody>
      </p:sp>
      <p:sp>
        <p:nvSpPr>
          <p:cNvPr id="4" name="subtitle-14">
            <a:extLst xmlns:a="http://schemas.openxmlformats.org/drawingml/2006/main">
              <a:ext uri="{FF2B5EF4-FFF2-40B4-BE49-F238E27FC236}">
                <a16:creationId xmlns:a16="http://schemas.microsoft.com/office/drawing/2014/main" id="{DD385273-0954-4CC0-ACA0-736E0531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66A"/>
                </a:solidFill>
              </a:defRPr>
            </a:pPr>
            <a:r>
              <a:rPr sz="1425" b="0">
                <a:solidFill>
                  <a:srgbClr val="36566A"/>
                </a:solidFill>
              </a:rPr>
              <a:t>One durable loop connects explicit intent to bounded execution and inspectable proof.</a:t>
            </a:r>
          </a:p>
        </p:txBody>
      </p:sp>
      <p:sp>
        <p:nvSpPr>
          <p:cNvPr id="5" name="pwe-arrow-1">
            <a:extLst xmlns:a="http://schemas.openxmlformats.org/drawingml/2006/main">
              <a:ext uri="{FF2B5EF4-FFF2-40B4-BE49-F238E27FC236}">
                <a16:creationId xmlns:a16="http://schemas.microsoft.com/office/drawing/2014/main" id="{35B2FDEF-94CB-4A7B-B658-DACEF531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1242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we-arrow-2">
            <a:extLst xmlns:a="http://schemas.openxmlformats.org/drawingml/2006/main">
              <a:ext uri="{FF2B5EF4-FFF2-40B4-BE49-F238E27FC236}">
                <a16:creationId xmlns:a16="http://schemas.microsoft.com/office/drawing/2014/main" id="{FA567313-2F28-4D52-9247-E0FC2293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24200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we-card-1">
            <a:extLst xmlns:a="http://schemas.openxmlformats.org/drawingml/2006/main">
              <a:ext uri="{FF2B5EF4-FFF2-40B4-BE49-F238E27FC236}">
                <a16:creationId xmlns:a16="http://schemas.microsoft.com/office/drawing/2014/main" id="{FB1102CE-5400-4951-BD61-F3302B75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143250" cy="2647950"/>
          </a:xfrm>
          <a:prstGeom xmlns:a="http://schemas.openxmlformats.org/drawingml/2006/main" prst="roundRect">
            <a:avLst>
              <a:gd name="adj" fmla="val 79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E83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3"/>
          <a:fontRef xmlns:a="http://schemas.openxmlformats.org/drawingml/2006/main" idx="major"/>
        </p:style>
      </p:sp>
      <p:sp>
        <p:nvSpPr>
          <p:cNvPr id="8" name="pwe-topwash-1">
            <a:extLst xmlns:a="http://schemas.openxmlformats.org/drawingml/2006/main">
              <a:ext uri="{FF2B5EF4-FFF2-40B4-BE49-F238E27FC236}">
                <a16:creationId xmlns:a16="http://schemas.microsoft.com/office/drawing/2014/main" id="{36A26E4D-C88C-47E3-AF9A-562C5B71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3105150" cy="942975"/>
          </a:xfrm>
          <a:prstGeom xmlns:a="http://schemas.openxmlformats.org/drawingml/2006/main" prst="roundRect">
            <a:avLst>
              <a:gd name="adj" fmla="val 20202"/>
            </a:avLst>
          </a:prstGeom>
          <a:solidFill xmlns:a="http://schemas.openxmlformats.org/drawingml/2006/main">
            <a:srgbClr val="E7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we-accent-1">
            <a:extLst xmlns:a="http://schemas.openxmlformats.org/drawingml/2006/main">
              <a:ext uri="{FF2B5EF4-FFF2-40B4-BE49-F238E27FC236}">
                <a16:creationId xmlns:a16="http://schemas.microsoft.com/office/drawing/2014/main" id="{16621A6C-B51F-4797-A5CB-7AEB9323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DBFF"/>
          </a:solidFill>
          <a:ln xmlns:a="http://schemas.openxmlformats.org/drawingml/2006/main" w="19050">
            <a:solidFill>
              <a:srgbClr val="08263A"/>
            </a:solidFill>
            <a:prstDash val="solid"/>
          </a:ln>
        </p:spPr>
      </p:sp>
      <p:sp>
        <p:nvSpPr>
          <p:cNvPr id="10" name="pwe-number-1">
            <a:extLst xmlns:a="http://schemas.openxmlformats.org/drawingml/2006/main">
              <a:ext uri="{FF2B5EF4-FFF2-40B4-BE49-F238E27FC236}">
                <a16:creationId xmlns:a16="http://schemas.microsoft.com/office/drawing/2014/main" id="{A917C719-0232-48CC-9B10-ABDCB34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7172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01</a:t>
            </a:r>
          </a:p>
        </p:txBody>
      </p:sp>
      <p:sp>
        <p:nvSpPr>
          <p:cNvPr id="11" name="pwe-title-1">
            <a:extLst xmlns:a="http://schemas.openxmlformats.org/drawingml/2006/main">
              <a:ext uri="{FF2B5EF4-FFF2-40B4-BE49-F238E27FC236}">
                <a16:creationId xmlns:a16="http://schemas.microsoft.com/office/drawing/2014/main" id="{2BA5D10D-C287-42DD-8211-EC40546A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95525"/>
            <a:ext cx="1943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263A"/>
                </a:solidFill>
              </a:defRPr>
            </a:pPr>
            <a:r>
              <a:rPr sz="2175" b="1">
                <a:solidFill>
                  <a:srgbClr val="08263A"/>
                </a:solidFill>
              </a:rPr>
              <a:t>PLAN</a:t>
            </a:r>
          </a:p>
        </p:txBody>
      </p:sp>
      <p:sp>
        <p:nvSpPr>
          <p:cNvPr id="12" name="pwe-rule-1">
            <a:extLst xmlns:a="http://schemas.openxmlformats.org/drawingml/2006/main">
              <a:ext uri="{FF2B5EF4-FFF2-40B4-BE49-F238E27FC236}">
                <a16:creationId xmlns:a16="http://schemas.microsoft.com/office/drawing/2014/main" id="{575E662C-72F4-452D-9F26-E1413E8B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we-detail-1">
            <a:extLst xmlns:a="http://schemas.openxmlformats.org/drawingml/2006/main">
              <a:ext uri="{FF2B5EF4-FFF2-40B4-BE49-F238E27FC236}">
                <a16:creationId xmlns:a16="http://schemas.microsoft.com/office/drawing/2014/main" id="{9CCFF0C8-04F2-4C24-B282-68A5DA1C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3A4E"/>
                </a:solidFill>
              </a:defRPr>
            </a:pPr>
            <a:r>
              <a:rPr sz="1500" b="0">
                <a:solidFill>
                  <a:srgbClr val="113A4E"/>
                </a:solidFill>
              </a:rPr>
              <a:t>Requirements</a:t>
            </a:r>
          </a:p>
          <a:p xmlns:a="http://schemas.openxmlformats.org/drawingml/2006/main">
            <a:pPr algn="l">
              <a:defRPr sz="1500" b="0">
                <a:solidFill>
                  <a:srgbClr val="113A4E"/>
                </a:solidFill>
              </a:defRPr>
            </a:pPr>
            <a:r>
              <a:rPr sz="1500" b="0">
                <a:solidFill>
                  <a:srgbClr val="113A4E"/>
                </a:solidFill>
              </a:rPr>
              <a:t>Decisions</a:t>
            </a:r>
          </a:p>
          <a:p xmlns:a="http://schemas.openxmlformats.org/drawingml/2006/main">
            <a:pPr algn="l">
              <a:defRPr sz="1500" b="0">
                <a:solidFill>
                  <a:srgbClr val="113A4E"/>
                </a:solidFill>
              </a:defRPr>
            </a:pPr>
            <a:r>
              <a:rPr sz="1500" b="0">
                <a:solidFill>
                  <a:srgbClr val="113A4E"/>
                </a:solidFill>
              </a:rPr>
              <a:t>Guardrails</a:t>
            </a:r>
          </a:p>
        </p:txBody>
      </p:sp>
      <p:sp>
        <p:nvSpPr>
          <p:cNvPr id="14" name="pwe-card-2">
            <a:extLst xmlns:a="http://schemas.openxmlformats.org/drawingml/2006/main">
              <a:ext uri="{FF2B5EF4-FFF2-40B4-BE49-F238E27FC236}">
                <a16:creationId xmlns:a16="http://schemas.microsoft.com/office/drawing/2014/main" id="{619C7D78-696C-48E8-9000-22348F8D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81200"/>
            <a:ext cx="3143250" cy="2647950"/>
          </a:xfrm>
          <a:prstGeom xmlns:a="http://schemas.openxmlformats.org/drawingml/2006/main" prst="roundRect">
            <a:avLst>
              <a:gd name="adj" fmla="val 79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E83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3"/>
          <a:fontRef xmlns:a="http://schemas.openxmlformats.org/drawingml/2006/main" idx="major"/>
        </p:style>
      </p:sp>
      <p:sp>
        <p:nvSpPr>
          <p:cNvPr id="15" name="pwe-topwash-2">
            <a:extLst xmlns:a="http://schemas.openxmlformats.org/drawingml/2006/main">
              <a:ext uri="{FF2B5EF4-FFF2-40B4-BE49-F238E27FC236}">
                <a16:creationId xmlns:a16="http://schemas.microsoft.com/office/drawing/2014/main" id="{CF8D5F02-DF23-4E80-A958-CECF9A0C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00250"/>
            <a:ext cx="3105150" cy="942975"/>
          </a:xfrm>
          <a:prstGeom xmlns:a="http://schemas.openxmlformats.org/drawingml/2006/main" prst="roundRect">
            <a:avLst>
              <a:gd name="adj" fmla="val 20202"/>
            </a:avLst>
          </a:prstGeom>
          <a:solidFill xmlns:a="http://schemas.openxmlformats.org/drawingml/2006/main">
            <a:srgbClr val="DD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we-accent-2">
            <a:extLst xmlns:a="http://schemas.openxmlformats.org/drawingml/2006/main">
              <a:ext uri="{FF2B5EF4-FFF2-40B4-BE49-F238E27FC236}">
                <a16:creationId xmlns:a16="http://schemas.microsoft.com/office/drawing/2014/main" id="{8335F7B5-35EB-4549-80A3-7E359E91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2098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C7B3"/>
          </a:solidFill>
          <a:ln xmlns:a="http://schemas.openxmlformats.org/drawingml/2006/main" w="19050">
            <a:solidFill>
              <a:srgbClr val="08263A"/>
            </a:solidFill>
            <a:prstDash val="solid"/>
          </a:ln>
        </p:spPr>
      </p:sp>
      <p:sp>
        <p:nvSpPr>
          <p:cNvPr id="17" name="pwe-number-2">
            <a:extLst xmlns:a="http://schemas.openxmlformats.org/drawingml/2006/main">
              <a:ext uri="{FF2B5EF4-FFF2-40B4-BE49-F238E27FC236}">
                <a16:creationId xmlns:a16="http://schemas.microsoft.com/office/drawing/2014/main" id="{59CD0113-F54B-4A9A-9190-D4A34227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7172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02</a:t>
            </a:r>
          </a:p>
        </p:txBody>
      </p:sp>
      <p:sp>
        <p:nvSpPr>
          <p:cNvPr id="18" name="pwe-title-2">
            <a:extLst xmlns:a="http://schemas.openxmlformats.org/drawingml/2006/main">
              <a:ext uri="{FF2B5EF4-FFF2-40B4-BE49-F238E27FC236}">
                <a16:creationId xmlns:a16="http://schemas.microsoft.com/office/drawing/2014/main" id="{320DF8D4-6E52-4BB8-B047-74EDCE7C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95525"/>
            <a:ext cx="1943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263A"/>
                </a:solidFill>
              </a:defRPr>
            </a:pPr>
            <a:r>
              <a:rPr sz="2175" b="1">
                <a:solidFill>
                  <a:srgbClr val="08263A"/>
                </a:solidFill>
              </a:rPr>
              <a:t>WORK</a:t>
            </a:r>
          </a:p>
        </p:txBody>
      </p:sp>
      <p:sp>
        <p:nvSpPr>
          <p:cNvPr id="19" name="pwe-rule-2">
            <a:extLst xmlns:a="http://schemas.openxmlformats.org/drawingml/2006/main">
              <a:ext uri="{FF2B5EF4-FFF2-40B4-BE49-F238E27FC236}">
                <a16:creationId xmlns:a16="http://schemas.microsoft.com/office/drawing/2014/main" id="{7021B73D-A2AF-4734-8F8C-A8391FE7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04800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we-detail-2">
            <a:extLst xmlns:a="http://schemas.openxmlformats.org/drawingml/2006/main">
              <a:ext uri="{FF2B5EF4-FFF2-40B4-BE49-F238E27FC236}">
                <a16:creationId xmlns:a16="http://schemas.microsoft.com/office/drawing/2014/main" id="{9DAB3F3A-9DB2-4CA6-93F9-8EA8A70C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31470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3A4E"/>
                </a:solidFill>
              </a:defRPr>
            </a:pPr>
            <a:r>
              <a:rPr sz="1500" b="0">
                <a:solidFill>
                  <a:srgbClr val="113A4E"/>
                </a:solidFill>
              </a:rPr>
              <a:t>One bounded node</a:t>
            </a:r>
          </a:p>
          <a:p xmlns:a="http://schemas.openxmlformats.org/drawingml/2006/main">
            <a:pPr algn="l">
              <a:defRPr sz="1500" b="0">
                <a:solidFill>
                  <a:srgbClr val="113A4E"/>
                </a:solidFill>
              </a:defRPr>
            </a:pPr>
            <a:r>
              <a:rPr sz="1500" b="0">
                <a:solidFill>
                  <a:srgbClr val="113A4E"/>
                </a:solidFill>
              </a:rPr>
              <a:t>Explicit authority</a:t>
            </a:r>
          </a:p>
          <a:p xmlns:a="http://schemas.openxmlformats.org/drawingml/2006/main">
            <a:pPr algn="l">
              <a:defRPr sz="1500" b="0">
                <a:solidFill>
                  <a:srgbClr val="113A4E"/>
                </a:solidFill>
              </a:defRPr>
            </a:pPr>
            <a:r>
              <a:rPr sz="1500" b="0">
                <a:solidFill>
                  <a:srgbClr val="113A4E"/>
                </a:solidFill>
              </a:rPr>
              <a:t>Clear handoff</a:t>
            </a:r>
          </a:p>
        </p:txBody>
      </p:sp>
      <p:sp>
        <p:nvSpPr>
          <p:cNvPr id="21" name="pwe-card-3">
            <a:extLst xmlns:a="http://schemas.openxmlformats.org/drawingml/2006/main">
              <a:ext uri="{FF2B5EF4-FFF2-40B4-BE49-F238E27FC236}">
                <a16:creationId xmlns:a16="http://schemas.microsoft.com/office/drawing/2014/main" id="{72D2C660-7BBD-4F98-BF8E-42519ADD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81200"/>
            <a:ext cx="3143250" cy="2647950"/>
          </a:xfrm>
          <a:prstGeom xmlns:a="http://schemas.openxmlformats.org/drawingml/2006/main" prst="roundRect">
            <a:avLst>
              <a:gd name="adj" fmla="val 79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E83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3"/>
          <a:fontRef xmlns:a="http://schemas.openxmlformats.org/drawingml/2006/main" idx="major"/>
        </p:style>
      </p:sp>
      <p:sp>
        <p:nvSpPr>
          <p:cNvPr id="22" name="pwe-topwash-3">
            <a:extLst xmlns:a="http://schemas.openxmlformats.org/drawingml/2006/main">
              <a:ext uri="{FF2B5EF4-FFF2-40B4-BE49-F238E27FC236}">
                <a16:creationId xmlns:a16="http://schemas.microsoft.com/office/drawing/2014/main" id="{F29CAC73-C065-4E05-BCA5-2E297B43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3105150" cy="942975"/>
          </a:xfrm>
          <a:prstGeom xmlns:a="http://schemas.openxmlformats.org/drawingml/2006/main" prst="roundRect">
            <a:avLst>
              <a:gd name="adj" fmla="val 20202"/>
            </a:avLst>
          </a:prstGeom>
          <a:solidFill xmlns:a="http://schemas.openxmlformats.org/drawingml/2006/main">
            <a:srgbClr val="DD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we-accent-3">
            <a:extLst xmlns:a="http://schemas.openxmlformats.org/drawingml/2006/main">
              <a:ext uri="{FF2B5EF4-FFF2-40B4-BE49-F238E27FC236}">
                <a16:creationId xmlns:a16="http://schemas.microsoft.com/office/drawing/2014/main" id="{87C34AEB-CFFA-4471-801F-35B51008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AD4"/>
          </a:solidFill>
          <a:ln xmlns:a="http://schemas.openxmlformats.org/drawingml/2006/main" w="19050">
            <a:solidFill>
              <a:srgbClr val="08263A"/>
            </a:solidFill>
            <a:prstDash val="solid"/>
          </a:ln>
        </p:spPr>
      </p:sp>
      <p:sp>
        <p:nvSpPr>
          <p:cNvPr id="24" name="pwe-number-3">
            <a:extLst xmlns:a="http://schemas.openxmlformats.org/drawingml/2006/main">
              <a:ext uri="{FF2B5EF4-FFF2-40B4-BE49-F238E27FC236}">
                <a16:creationId xmlns:a16="http://schemas.microsoft.com/office/drawing/2014/main" id="{23E2F2E4-134E-4E91-B4E9-586139C5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71725"/>
            <a:ext cx="514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03</a:t>
            </a:r>
          </a:p>
        </p:txBody>
      </p:sp>
      <p:sp>
        <p:nvSpPr>
          <p:cNvPr id="25" name="pwe-title-3">
            <a:extLst xmlns:a="http://schemas.openxmlformats.org/drawingml/2006/main">
              <a:ext uri="{FF2B5EF4-FFF2-40B4-BE49-F238E27FC236}">
                <a16:creationId xmlns:a16="http://schemas.microsoft.com/office/drawing/2014/main" id="{96C41A75-2869-4C95-9F07-CDD1DD72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95525"/>
            <a:ext cx="1943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263A"/>
                </a:solidFill>
              </a:defRPr>
            </a:pPr>
            <a:r>
              <a:rPr sz="2175" b="1">
                <a:solidFill>
                  <a:srgbClr val="08263A"/>
                </a:solidFill>
              </a:rPr>
              <a:t>EVIDENCE</a:t>
            </a:r>
          </a:p>
        </p:txBody>
      </p:sp>
      <p:sp>
        <p:nvSpPr>
          <p:cNvPr id="26" name="pwe-rule-3">
            <a:extLst xmlns:a="http://schemas.openxmlformats.org/drawingml/2006/main">
              <a:ext uri="{FF2B5EF4-FFF2-40B4-BE49-F238E27FC236}">
                <a16:creationId xmlns:a16="http://schemas.microsoft.com/office/drawing/2014/main" id="{2339E0E6-02B6-4FDE-96F3-BAC5C551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we-detail-3">
            <a:extLst xmlns:a="http://schemas.openxmlformats.org/drawingml/2006/main">
              <a:ext uri="{FF2B5EF4-FFF2-40B4-BE49-F238E27FC236}">
                <a16:creationId xmlns:a16="http://schemas.microsoft.com/office/drawing/2014/main" id="{3AA1BC8A-341D-4E8E-A53F-26C4C2C3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1470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3A4E"/>
                </a:solidFill>
              </a:defRPr>
            </a:pPr>
            <a:r>
              <a:rPr sz="1500" b="0">
                <a:solidFill>
                  <a:srgbClr val="113A4E"/>
                </a:solidFill>
              </a:rPr>
              <a:t>Tests + receipts</a:t>
            </a:r>
          </a:p>
          <a:p xmlns:a="http://schemas.openxmlformats.org/drawingml/2006/main">
            <a:pPr algn="l">
              <a:defRPr sz="1500" b="0">
                <a:solidFill>
                  <a:srgbClr val="113A4E"/>
                </a:solidFill>
              </a:defRPr>
            </a:pPr>
            <a:r>
              <a:rPr sz="1500" b="0">
                <a:solidFill>
                  <a:srgbClr val="113A4E"/>
                </a:solidFill>
              </a:rPr>
              <a:t>Checkpoints</a:t>
            </a:r>
          </a:p>
          <a:p xmlns:a="http://schemas.openxmlformats.org/drawingml/2006/main">
            <a:pPr algn="l">
              <a:defRPr sz="1500" b="0">
                <a:solidFill>
                  <a:srgbClr val="113A4E"/>
                </a:solidFill>
              </a:defRPr>
            </a:pPr>
            <a:r>
              <a:rPr sz="1500" b="0">
                <a:solidFill>
                  <a:srgbClr val="113A4E"/>
                </a:solidFill>
              </a:rPr>
              <a:t>Validated state</a:t>
            </a:r>
          </a:p>
        </p:txBody>
      </p:sp>
      <p:sp>
        <p:nvSpPr>
          <p:cNvPr id="28" name="pwe-conclusion">
            <a:extLst xmlns:a="http://schemas.openxmlformats.org/drawingml/2006/main">
              <a:ext uri="{FF2B5EF4-FFF2-40B4-BE49-F238E27FC236}">
                <a16:creationId xmlns:a16="http://schemas.microsoft.com/office/drawing/2014/main" id="{78703ED2-3E31-421E-BEA4-0D184DF4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143500"/>
            <a:ext cx="771525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08263A"/>
          </a:solidFill>
          <a:ln xmlns:a="http://schemas.openxmlformats.org/drawingml/2006/main" w="19050">
            <a:solidFill>
              <a:srgbClr val="00566D"/>
            </a:solidFill>
            <a:prstDash val="solid"/>
          </a:ln>
        </p:spPr>
      </p:sp>
      <p:sp>
        <p:nvSpPr>
          <p:cNvPr id="29" name="pwe-conclusion-text">
            <a:extLst xmlns:a="http://schemas.openxmlformats.org/drawingml/2006/main">
              <a:ext uri="{FF2B5EF4-FFF2-40B4-BE49-F238E27FC236}">
                <a16:creationId xmlns:a16="http://schemas.microsoft.com/office/drawing/2014/main" id="{8F52F88B-0080-489A-B763-07D163C5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5305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C7B3"/>
                </a:solidFill>
              </a:defRPr>
            </a:pPr>
            <a:r>
              <a:rPr sz="1575" b="1">
                <a:solidFill>
                  <a:srgbClr val="13C7B3"/>
                </a:solidFill>
              </a:rPr>
              <a:t>THE FINISH LINE IS ACCEPTED EVIDENCE.</a:t>
            </a:r>
          </a:p>
        </p:txBody>
      </p:sp>
      <p:sp>
        <p:nvSpPr>
          <p:cNvPr id="30" name="footer-line-14">
            <a:extLst xmlns:a="http://schemas.openxmlformats.org/drawingml/2006/main">
              <a:ext uri="{FF2B5EF4-FFF2-40B4-BE49-F238E27FC236}">
                <a16:creationId xmlns:a16="http://schemas.microsoft.com/office/drawing/2014/main" id="{19DD26FD-426C-45D2-826F-948E7D8F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ource-14">
            <a:extLst xmlns:a="http://schemas.openxmlformats.org/drawingml/2006/main">
              <a:ext uri="{FF2B5EF4-FFF2-40B4-BE49-F238E27FC236}">
                <a16:creationId xmlns:a16="http://schemas.microsoft.com/office/drawing/2014/main" id="{24652BC0-41BB-4F3C-B1EA-7C742372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5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566A"/>
                </a:solidFill>
              </a:defRPr>
            </a:pPr>
            <a:r>
              <a:rPr sz="1200" b="0">
                <a:solidFill>
                  <a:srgbClr val="36566A"/>
                </a:solidFill>
              </a:rPr>
              <a:t>[14] mdkg Plan → Work → Evidence</a:t>
            </a:r>
          </a:p>
        </p:txBody>
      </p:sp>
      <p:sp>
        <p:nvSpPr>
          <p:cNvPr id="32" name="folio-14">
            <a:extLst xmlns:a="http://schemas.openxmlformats.org/drawingml/2006/main">
              <a:ext uri="{FF2B5EF4-FFF2-40B4-BE49-F238E27FC236}">
                <a16:creationId xmlns:a16="http://schemas.microsoft.com/office/drawing/2014/main" id="{C4F13C2A-D86B-4765-9C80-976D6275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6566A"/>
                </a:solidFill>
              </a:defRPr>
            </a:pPr>
            <a:r>
              <a:rPr sz="1200" b="1">
                <a:solidFill>
                  <a:srgbClr val="36566A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225009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header-current-15">
            <a:extLst xmlns:a="http://schemas.openxmlformats.org/drawingml/2006/main">
              <a:ext uri="{FF2B5EF4-FFF2-40B4-BE49-F238E27FC236}">
                <a16:creationId xmlns:a16="http://schemas.microsoft.com/office/drawing/2014/main" id="{64385BC2-5C0E-4716-B86F-0AB68997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19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5">
            <a:extLst xmlns:a="http://schemas.openxmlformats.org/drawingml/2006/main">
              <a:ext uri="{FF2B5EF4-FFF2-40B4-BE49-F238E27FC236}">
                <a16:creationId xmlns:a16="http://schemas.microsoft.com/office/drawing/2014/main" id="{041186BB-E44A-4053-B788-B8BF43B1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RECOVERABLE PROJECT STATE</a:t>
            </a:r>
          </a:p>
        </p:txBody>
      </p:sp>
      <p:sp>
        <p:nvSpPr>
          <p:cNvPr id="3" name="title-15">
            <a:extLst xmlns:a="http://schemas.openxmlformats.org/drawingml/2006/main">
              <a:ext uri="{FF2B5EF4-FFF2-40B4-BE49-F238E27FC236}">
                <a16:creationId xmlns:a16="http://schemas.microsoft.com/office/drawing/2014/main" id="{9D6338E8-B31D-4C03-98BE-8837B912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63A"/>
                </a:solidFill>
              </a:defRPr>
            </a:pPr>
            <a:r>
              <a:rPr sz="2850" b="1">
                <a:solidFill>
                  <a:srgbClr val="08263A"/>
                </a:solidFill>
              </a:rPr>
              <a:t>Durable context answers three questions</a:t>
            </a:r>
          </a:p>
        </p:txBody>
      </p:sp>
      <p:sp>
        <p:nvSpPr>
          <p:cNvPr id="4" name="subtitle-15">
            <a:extLst xmlns:a="http://schemas.openxmlformats.org/drawingml/2006/main">
              <a:ext uri="{FF2B5EF4-FFF2-40B4-BE49-F238E27FC236}">
                <a16:creationId xmlns:a16="http://schemas.microsoft.com/office/drawing/2014/main" id="{1AE8619B-83DF-49BB-B08F-727DFDB4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66A"/>
                </a:solidFill>
              </a:defRPr>
            </a:pPr>
            <a:r>
              <a:rPr sz="1425" b="0">
                <a:solidFill>
                  <a:srgbClr val="36566A"/>
                </a:solidFill>
              </a:rPr>
              <a:t>A project should make completion, rationale, and next work recoverable without replaying the entire conversation.</a:t>
            </a:r>
          </a:p>
        </p:txBody>
      </p:sp>
      <p:sp>
        <p:nvSpPr>
          <p:cNvPr id="5" name="ledger-spine">
            <a:extLst xmlns:a="http://schemas.openxmlformats.org/drawingml/2006/main">
              <a:ext uri="{FF2B5EF4-FFF2-40B4-BE49-F238E27FC236}">
                <a16:creationId xmlns:a16="http://schemas.microsoft.com/office/drawing/2014/main" id="{8F3562EB-3AC2-44FD-9094-CA7D8A6B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71675"/>
            <a:ext cx="209550" cy="3771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edger-connector-1">
            <a:extLst xmlns:a="http://schemas.openxmlformats.org/drawingml/2006/main">
              <a:ext uri="{FF2B5EF4-FFF2-40B4-BE49-F238E27FC236}">
                <a16:creationId xmlns:a16="http://schemas.microsoft.com/office/drawing/2014/main" id="{2492F7EF-4A55-433D-A92B-EFB75BD8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edger-number-1">
            <a:extLst xmlns:a="http://schemas.openxmlformats.org/drawingml/2006/main">
              <a:ext uri="{FF2B5EF4-FFF2-40B4-BE49-F238E27FC236}">
                <a16:creationId xmlns:a16="http://schemas.microsoft.com/office/drawing/2014/main" id="{39B21077-A73A-4E50-B7B6-539B5F6A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69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5FB"/>
          </a:solidFill>
          <a:ln xmlns:a="http://schemas.openxmlformats.org/drawingml/2006/main" w="28575">
            <a:solidFill>
              <a:srgbClr val="00566D"/>
            </a:solidFill>
            <a:prstDash val="solid"/>
          </a:ln>
        </p:spPr>
      </p:sp>
      <p:sp>
        <p:nvSpPr>
          <p:cNvPr id="8" name="ledger-number-text-1">
            <a:extLst xmlns:a="http://schemas.openxmlformats.org/drawingml/2006/main">
              <a:ext uri="{FF2B5EF4-FFF2-40B4-BE49-F238E27FC236}">
                <a16:creationId xmlns:a16="http://schemas.microsoft.com/office/drawing/2014/main" id="{3D682E6F-5663-4F1B-92C9-46ED8241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66D"/>
                </a:solidFill>
              </a:defRPr>
            </a:pPr>
            <a:r>
              <a:rPr sz="1275" b="1">
                <a:solidFill>
                  <a:srgbClr val="00566D"/>
                </a:solidFill>
              </a:rPr>
              <a:t>01</a:t>
            </a:r>
          </a:p>
        </p:txBody>
      </p:sp>
      <p:sp>
        <p:nvSpPr>
          <p:cNvPr id="9" name="ledger-question-1">
            <a:extLst xmlns:a="http://schemas.openxmlformats.org/drawingml/2006/main">
              <a:ext uri="{FF2B5EF4-FFF2-40B4-BE49-F238E27FC236}">
                <a16:creationId xmlns:a16="http://schemas.microsoft.com/office/drawing/2014/main" id="{245E5FA6-7805-4CF9-A55A-B6AC184D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1050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566D"/>
                </a:solidFill>
              </a:defRPr>
            </a:pPr>
            <a:r>
              <a:rPr sz="2325" b="1">
                <a:solidFill>
                  <a:srgbClr val="00566D"/>
                </a:solidFill>
              </a:rPr>
              <a:t>WHAT COMPLETED?</a:t>
            </a:r>
          </a:p>
        </p:txBody>
      </p:sp>
      <p:sp>
        <p:nvSpPr>
          <p:cNvPr id="10" name="ledger-answer-1">
            <a:extLst xmlns:a="http://schemas.openxmlformats.org/drawingml/2006/main">
              <a:ext uri="{FF2B5EF4-FFF2-40B4-BE49-F238E27FC236}">
                <a16:creationId xmlns:a16="http://schemas.microsoft.com/office/drawing/2014/main" id="{98147099-2C6C-4449-8D76-85B942F9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657475"/>
            <a:ext cx="840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63A"/>
                </a:solidFill>
              </a:defRPr>
            </a:pPr>
            <a:r>
              <a:rPr sz="1650" b="1">
                <a:solidFill>
                  <a:srgbClr val="08263A"/>
                </a:solidFill>
              </a:rPr>
              <a:t>The accepted outcome, tests, and checkpoint.</a:t>
            </a:r>
          </a:p>
        </p:txBody>
      </p:sp>
      <p:sp>
        <p:nvSpPr>
          <p:cNvPr id="11" name="ledger-connector-2">
            <a:extLst xmlns:a="http://schemas.openxmlformats.org/drawingml/2006/main">
              <a:ext uri="{FF2B5EF4-FFF2-40B4-BE49-F238E27FC236}">
                <a16:creationId xmlns:a16="http://schemas.microsoft.com/office/drawing/2014/main" id="{24CE6AF0-B178-44CB-BADD-9499B2A9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957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edger-number-2">
            <a:extLst xmlns:a="http://schemas.openxmlformats.org/drawingml/2006/main">
              <a:ext uri="{FF2B5EF4-FFF2-40B4-BE49-F238E27FC236}">
                <a16:creationId xmlns:a16="http://schemas.microsoft.com/office/drawing/2014/main" id="{7FEBA0AF-450A-4605-891D-4644464F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4F4"/>
          </a:solidFill>
          <a:ln xmlns:a="http://schemas.openxmlformats.org/drawingml/2006/main" w="28575">
            <a:solidFill>
              <a:srgbClr val="005B57"/>
            </a:solidFill>
            <a:prstDash val="solid"/>
          </a:ln>
        </p:spPr>
      </p:sp>
      <p:sp>
        <p:nvSpPr>
          <p:cNvPr id="13" name="ledger-number-text-2">
            <a:extLst xmlns:a="http://schemas.openxmlformats.org/drawingml/2006/main">
              <a:ext uri="{FF2B5EF4-FFF2-40B4-BE49-F238E27FC236}">
                <a16:creationId xmlns:a16="http://schemas.microsoft.com/office/drawing/2014/main" id="{E53399F7-0287-4D93-A632-51CD1895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147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B57"/>
                </a:solidFill>
              </a:defRPr>
            </a:pPr>
            <a:r>
              <a:rPr sz="1275" b="1">
                <a:solidFill>
                  <a:srgbClr val="005B57"/>
                </a:solidFill>
              </a:rPr>
              <a:t>02</a:t>
            </a:r>
          </a:p>
        </p:txBody>
      </p:sp>
      <p:sp>
        <p:nvSpPr>
          <p:cNvPr id="14" name="ledger-question-2">
            <a:extLst xmlns:a="http://schemas.openxmlformats.org/drawingml/2006/main">
              <a:ext uri="{FF2B5EF4-FFF2-40B4-BE49-F238E27FC236}">
                <a16:creationId xmlns:a16="http://schemas.microsoft.com/office/drawing/2014/main" id="{A2ECC557-AAF9-4268-AF7F-171AAA3B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71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5B57"/>
                </a:solidFill>
              </a:defRPr>
            </a:pPr>
            <a:r>
              <a:rPr sz="2325" b="1">
                <a:solidFill>
                  <a:srgbClr val="005B57"/>
                </a:solidFill>
              </a:rPr>
              <a:t>WHY?</a:t>
            </a:r>
          </a:p>
        </p:txBody>
      </p:sp>
      <p:sp>
        <p:nvSpPr>
          <p:cNvPr id="15" name="ledger-answer-2">
            <a:extLst xmlns:a="http://schemas.openxmlformats.org/drawingml/2006/main">
              <a:ext uri="{FF2B5EF4-FFF2-40B4-BE49-F238E27FC236}">
                <a16:creationId xmlns:a16="http://schemas.microsoft.com/office/drawing/2014/main" id="{4176673C-0E9E-46EF-B7EB-E2F58101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924300"/>
            <a:ext cx="840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63A"/>
                </a:solidFill>
              </a:defRPr>
            </a:pPr>
            <a:r>
              <a:rPr sz="1650" b="1">
                <a:solidFill>
                  <a:srgbClr val="08263A"/>
                </a:solidFill>
              </a:rPr>
              <a:t>The requirements and decisions that shaped the work.</a:t>
            </a:r>
          </a:p>
        </p:txBody>
      </p:sp>
      <p:sp>
        <p:nvSpPr>
          <p:cNvPr id="16" name="ledger-connector-3">
            <a:extLst xmlns:a="http://schemas.openxmlformats.org/drawingml/2006/main">
              <a:ext uri="{FF2B5EF4-FFF2-40B4-BE49-F238E27FC236}">
                <a16:creationId xmlns:a16="http://schemas.microsoft.com/office/drawing/2014/main" id="{2D46B76F-F327-40B1-BD46-9B2D0E12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625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2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edger-number-3">
            <a:extLst xmlns:a="http://schemas.openxmlformats.org/drawingml/2006/main">
              <a:ext uri="{FF2B5EF4-FFF2-40B4-BE49-F238E27FC236}">
                <a16:creationId xmlns:a16="http://schemas.microsoft.com/office/drawing/2014/main" id="{8EFB7245-6566-4F28-B76B-E23C696B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006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AE8"/>
          </a:solidFill>
          <a:ln xmlns:a="http://schemas.openxmlformats.org/drawingml/2006/main" w="28575">
            <a:solidFill>
              <a:srgbClr val="9B2C2C"/>
            </a:solidFill>
            <a:prstDash val="solid"/>
          </a:ln>
        </p:spPr>
      </p:sp>
      <p:sp>
        <p:nvSpPr>
          <p:cNvPr id="18" name="ledger-number-text-3">
            <a:extLst xmlns:a="http://schemas.openxmlformats.org/drawingml/2006/main">
              <a:ext uri="{FF2B5EF4-FFF2-40B4-BE49-F238E27FC236}">
                <a16:creationId xmlns:a16="http://schemas.microsoft.com/office/drawing/2014/main" id="{5987F87B-7A3B-48E2-B478-E73A4203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B2C2C"/>
                </a:solidFill>
              </a:defRPr>
            </a:pPr>
            <a:r>
              <a:rPr sz="1275" b="1">
                <a:solidFill>
                  <a:srgbClr val="9B2C2C"/>
                </a:solidFill>
              </a:rPr>
              <a:t>03</a:t>
            </a:r>
          </a:p>
        </p:txBody>
      </p:sp>
      <p:sp>
        <p:nvSpPr>
          <p:cNvPr id="19" name="ledger-question-3">
            <a:extLst xmlns:a="http://schemas.openxmlformats.org/drawingml/2006/main">
              <a:ext uri="{FF2B5EF4-FFF2-40B4-BE49-F238E27FC236}">
                <a16:creationId xmlns:a16="http://schemas.microsoft.com/office/drawing/2014/main" id="{D2180C84-FF50-4DEE-8057-E8B66953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6386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9B2C2C"/>
                </a:solidFill>
              </a:defRPr>
            </a:pPr>
            <a:r>
              <a:rPr sz="2325" b="1">
                <a:solidFill>
                  <a:srgbClr val="9B2C2C"/>
                </a:solidFill>
              </a:rPr>
              <a:t>WHAT COMES NEXT?</a:t>
            </a:r>
          </a:p>
        </p:txBody>
      </p:sp>
      <p:sp>
        <p:nvSpPr>
          <p:cNvPr id="20" name="ledger-answer-3">
            <a:extLst xmlns:a="http://schemas.openxmlformats.org/drawingml/2006/main">
              <a:ext uri="{FF2B5EF4-FFF2-40B4-BE49-F238E27FC236}">
                <a16:creationId xmlns:a16="http://schemas.microsoft.com/office/drawing/2014/main" id="{D1C1E493-5764-4921-9A5D-9C355203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191125"/>
            <a:ext cx="840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63A"/>
                </a:solidFill>
              </a:defRPr>
            </a:pPr>
            <a:r>
              <a:rPr sz="1650" b="1">
                <a:solidFill>
                  <a:srgbClr val="08263A"/>
                </a:solidFill>
              </a:rPr>
              <a:t>The next authorized node—not a guess at the backlog.</a:t>
            </a:r>
          </a:p>
        </p:txBody>
      </p:sp>
      <p:sp>
        <p:nvSpPr>
          <p:cNvPr id="21" name="footer-line-15">
            <a:extLst xmlns:a="http://schemas.openxmlformats.org/drawingml/2006/main">
              <a:ext uri="{FF2B5EF4-FFF2-40B4-BE49-F238E27FC236}">
                <a16:creationId xmlns:a16="http://schemas.microsoft.com/office/drawing/2014/main" id="{77217A29-25D3-4A92-ADF2-2C40C939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ource-15">
            <a:extLst xmlns:a="http://schemas.openxmlformats.org/drawingml/2006/main">
              <a:ext uri="{FF2B5EF4-FFF2-40B4-BE49-F238E27FC236}">
                <a16:creationId xmlns:a16="http://schemas.microsoft.com/office/drawing/2014/main" id="{92D1DEB6-2ABB-420D-839D-B1B12481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5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566A"/>
                </a:solidFill>
              </a:defRPr>
            </a:pPr>
            <a:r>
              <a:rPr sz="1200" b="0">
                <a:solidFill>
                  <a:srgbClr val="36566A"/>
                </a:solidFill>
              </a:rPr>
              <a:t>[14] mdkg project-state operating model</a:t>
            </a:r>
          </a:p>
        </p:txBody>
      </p:sp>
      <p:sp>
        <p:nvSpPr>
          <p:cNvPr id="23" name="folio-15">
            <a:extLst xmlns:a="http://schemas.openxmlformats.org/drawingml/2006/main">
              <a:ext uri="{FF2B5EF4-FFF2-40B4-BE49-F238E27FC236}">
                <a16:creationId xmlns:a16="http://schemas.microsoft.com/office/drawing/2014/main" id="{007B644F-7AC1-4F1E-9110-B46046F7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6566A"/>
                </a:solidFill>
              </a:defRPr>
            </a:pPr>
            <a:r>
              <a:rPr sz="1200" b="1">
                <a:solidFill>
                  <a:srgbClr val="36566A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280546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current-16">
            <a:extLst xmlns:a="http://schemas.openxmlformats.org/drawingml/2006/main">
              <a:ext uri="{FF2B5EF4-FFF2-40B4-BE49-F238E27FC236}">
                <a16:creationId xmlns:a16="http://schemas.microsoft.com/office/drawing/2014/main" id="{971D3F61-CB23-4BD1-93DF-29ECCA01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19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6">
            <a:extLst xmlns:a="http://schemas.openxmlformats.org/drawingml/2006/main">
              <a:ext uri="{FF2B5EF4-FFF2-40B4-BE49-F238E27FC236}">
                <a16:creationId xmlns:a16="http://schemas.microsoft.com/office/drawing/2014/main" id="{4FF4BD7D-27E3-4B88-AC42-07E89982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WHERE MDKG FITS</a:t>
            </a:r>
          </a:p>
        </p:txBody>
      </p:sp>
      <p:sp>
        <p:nvSpPr>
          <p:cNvPr id="3" name="title-16">
            <a:extLst xmlns:a="http://schemas.openxmlformats.org/drawingml/2006/main">
              <a:ext uri="{FF2B5EF4-FFF2-40B4-BE49-F238E27FC236}">
                <a16:creationId xmlns:a16="http://schemas.microsoft.com/office/drawing/2014/main" id="{3E7F6316-ADBE-4361-88E4-B23FEF71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63A"/>
                </a:solidFill>
              </a:defRPr>
            </a:pPr>
            <a:r>
              <a:rPr sz="2850" b="1">
                <a:solidFill>
                  <a:srgbClr val="08263A"/>
                </a:solidFill>
              </a:rPr>
              <a:t>mdkg keeps the human at the architecture layer</a:t>
            </a:r>
          </a:p>
        </p:txBody>
      </p:sp>
      <p:sp>
        <p:nvSpPr>
          <p:cNvPr id="4" name="subtitle-16">
            <a:extLst xmlns:a="http://schemas.openxmlformats.org/drawingml/2006/main">
              <a:ext uri="{FF2B5EF4-FFF2-40B4-BE49-F238E27FC236}">
                <a16:creationId xmlns:a16="http://schemas.microsoft.com/office/drawing/2014/main" id="{AEEEB9E7-9D91-4A49-A8D9-5BAF824A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66A"/>
                </a:solidFill>
              </a:defRPr>
            </a:pPr>
            <a:r>
              <a:rPr sz="1425" b="0">
                <a:solidFill>
                  <a:srgbClr val="36566A"/>
                </a:solidFill>
              </a:rPr>
              <a:t>Structured Markdown holds durable project state while coding agents keep using their existing harnesses.</a:t>
            </a:r>
          </a:p>
        </p:txBody>
      </p:sp>
      <p:sp>
        <p:nvSpPr>
          <p:cNvPr id="5" name="architecture-layer">
            <a:extLst xmlns:a="http://schemas.openxmlformats.org/drawingml/2006/main">
              <a:ext uri="{FF2B5EF4-FFF2-40B4-BE49-F238E27FC236}">
                <a16:creationId xmlns:a16="http://schemas.microsoft.com/office/drawing/2014/main" id="{02D3D4EF-58DB-4D75-BE9F-DE19BB52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12001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8263A"/>
          </a:solidFill>
          <a:ln xmlns:a="http://schemas.openxmlformats.org/drawingml/2006/main" w="28575">
            <a:solidFill>
              <a:srgbClr val="005B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4"/>
          <a:fontRef xmlns:a="http://schemas.openxmlformats.org/drawingml/2006/main" idx="major"/>
        </p:style>
      </p:sp>
      <p:sp>
        <p:nvSpPr>
          <p:cNvPr id="6" name="architecture-layer-kicker">
            <a:extLst xmlns:a="http://schemas.openxmlformats.org/drawingml/2006/main">
              <a:ext uri="{FF2B5EF4-FFF2-40B4-BE49-F238E27FC236}">
                <a16:creationId xmlns:a16="http://schemas.microsoft.com/office/drawing/2014/main" id="{811412FC-055E-4A3C-8326-59F3A0D2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C7B3"/>
                </a:solidFill>
              </a:defRPr>
            </a:pPr>
            <a:r>
              <a:rPr sz="1350" b="1">
                <a:solidFill>
                  <a:srgbClr val="13C7B3"/>
                </a:solidFill>
              </a:rPr>
              <a:t>HUMAN DECISIONS</a:t>
            </a:r>
          </a:p>
        </p:txBody>
      </p:sp>
      <p:sp>
        <p:nvSpPr>
          <p:cNvPr id="7" name="architecture-layer-title">
            <a:extLst xmlns:a="http://schemas.openxmlformats.org/drawingml/2006/main">
              <a:ext uri="{FF2B5EF4-FFF2-40B4-BE49-F238E27FC236}">
                <a16:creationId xmlns:a16="http://schemas.microsoft.com/office/drawing/2014/main" id="{CAAFC1D0-923A-41C7-AFEA-ADAAB3BF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4317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BFD"/>
                </a:solidFill>
              </a:defRPr>
            </a:pPr>
            <a:r>
              <a:rPr sz="2325" b="1">
                <a:solidFill>
                  <a:srgbClr val="F7FBFD"/>
                </a:solidFill>
              </a:rPr>
              <a:t>Architecture · planning · authority</a:t>
            </a:r>
          </a:p>
        </p:txBody>
      </p:sp>
      <p:sp>
        <p:nvSpPr>
          <p:cNvPr id="8" name="repo-layer">
            <a:extLst xmlns:a="http://schemas.openxmlformats.org/drawingml/2006/main">
              <a:ext uri="{FF2B5EF4-FFF2-40B4-BE49-F238E27FC236}">
                <a16:creationId xmlns:a16="http://schemas.microsoft.com/office/drawing/2014/main" id="{5115E97D-41C8-4B17-BA8E-DC51D4F7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33775"/>
            <a:ext cx="929640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56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5"/>
          <a:fontRef xmlns:a="http://schemas.openxmlformats.org/drawingml/2006/main" idx="major"/>
        </p:style>
      </p:sp>
      <p:sp>
        <p:nvSpPr>
          <p:cNvPr id="9" name="repo-layer-title">
            <a:extLst xmlns:a="http://schemas.openxmlformats.org/drawingml/2006/main">
              <a:ext uri="{FF2B5EF4-FFF2-40B4-BE49-F238E27FC236}">
                <a16:creationId xmlns:a16="http://schemas.microsoft.com/office/drawing/2014/main" id="{45948F00-0A21-4081-A82C-F50AF61F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43325"/>
            <a:ext cx="861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566D"/>
                </a:solidFill>
              </a:defRPr>
            </a:pPr>
            <a:r>
              <a:rPr sz="1650" b="1">
                <a:solidFill>
                  <a:srgbClr val="00566D"/>
                </a:solidFill>
              </a:rPr>
              <a:t>REPO-OWNED MARKDOWN KNOWLEDGE GRAPH</a:t>
            </a:r>
          </a:p>
        </p:txBody>
      </p:sp>
      <p:sp>
        <p:nvSpPr>
          <p:cNvPr id="10" name="repo-layer-items">
            <a:extLst xmlns:a="http://schemas.openxmlformats.org/drawingml/2006/main">
              <a:ext uri="{FF2B5EF4-FFF2-40B4-BE49-F238E27FC236}">
                <a16:creationId xmlns:a16="http://schemas.microsoft.com/office/drawing/2014/main" id="{C178F034-0194-47EA-BA99-D67E5DFA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191000"/>
            <a:ext cx="861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263A"/>
                </a:solidFill>
              </a:defRPr>
            </a:pPr>
            <a:r>
              <a:rPr sz="1500" b="1">
                <a:solidFill>
                  <a:srgbClr val="08263A"/>
                </a:solidFill>
              </a:rPr>
              <a:t>goals · requirements · decisions · work · checkpoints</a:t>
            </a:r>
          </a:p>
        </p:txBody>
      </p:sp>
      <p:sp>
        <p:nvSpPr>
          <p:cNvPr id="11" name="harness-connector-1">
            <a:extLst xmlns:a="http://schemas.openxmlformats.org/drawingml/2006/main">
              <a:ext uri="{FF2B5EF4-FFF2-40B4-BE49-F238E27FC236}">
                <a16:creationId xmlns:a16="http://schemas.microsoft.com/office/drawing/2014/main" id="{E293FEB3-03E1-4546-8166-D08049EF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00575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harness-connector-2">
            <a:extLst xmlns:a="http://schemas.openxmlformats.org/drawingml/2006/main">
              <a:ext uri="{FF2B5EF4-FFF2-40B4-BE49-F238E27FC236}">
                <a16:creationId xmlns:a16="http://schemas.microsoft.com/office/drawing/2014/main" id="{53A7C982-3E24-4F25-89B3-4408EC78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00575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arness-connector-3">
            <a:extLst xmlns:a="http://schemas.openxmlformats.org/drawingml/2006/main">
              <a:ext uri="{FF2B5EF4-FFF2-40B4-BE49-F238E27FC236}">
                <a16:creationId xmlns:a16="http://schemas.microsoft.com/office/drawing/2014/main" id="{2E9186AE-54FF-455A-9EF5-761D402E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00575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harness-1">
            <a:extLst xmlns:a="http://schemas.openxmlformats.org/drawingml/2006/main">
              <a:ext uri="{FF2B5EF4-FFF2-40B4-BE49-F238E27FC236}">
                <a16:creationId xmlns:a16="http://schemas.microsoft.com/office/drawing/2014/main" id="{0EA09E6B-7614-4899-8F71-D8D96CC9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62525"/>
            <a:ext cx="24384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E7F5FB"/>
          </a:solidFill>
          <a:ln xmlns:a="http://schemas.openxmlformats.org/drawingml/2006/main" w="19050">
            <a:solidFill>
              <a:srgbClr val="00566D"/>
            </a:solidFill>
            <a:prstDash val="solid"/>
          </a:ln>
        </p:spPr>
      </p:sp>
      <p:sp>
        <p:nvSpPr>
          <p:cNvPr id="15" name="harness-label-1">
            <a:extLst xmlns:a="http://schemas.openxmlformats.org/drawingml/2006/main">
              <a:ext uri="{FF2B5EF4-FFF2-40B4-BE49-F238E27FC236}">
                <a16:creationId xmlns:a16="http://schemas.microsoft.com/office/drawing/2014/main" id="{4248E82E-FCB1-42B7-9068-676769A2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1816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566D"/>
                </a:solidFill>
              </a:defRPr>
            </a:pPr>
            <a:r>
              <a:rPr sz="1500" b="1">
                <a:solidFill>
                  <a:srgbClr val="00566D"/>
                </a:solidFill>
              </a:rPr>
              <a:t>CODEX</a:t>
            </a:r>
          </a:p>
        </p:txBody>
      </p:sp>
      <p:sp>
        <p:nvSpPr>
          <p:cNvPr id="16" name="harness-2">
            <a:extLst xmlns:a="http://schemas.openxmlformats.org/drawingml/2006/main">
              <a:ext uri="{FF2B5EF4-FFF2-40B4-BE49-F238E27FC236}">
                <a16:creationId xmlns:a16="http://schemas.microsoft.com/office/drawing/2014/main" id="{0BB8C9D6-E82C-4D09-9193-A8F4D5AD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962525"/>
            <a:ext cx="24384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DDF4F4"/>
          </a:solidFill>
          <a:ln xmlns:a="http://schemas.openxmlformats.org/drawingml/2006/main" w="19050">
            <a:solidFill>
              <a:srgbClr val="005B57"/>
            </a:solidFill>
            <a:prstDash val="solid"/>
          </a:ln>
        </p:spPr>
      </p:sp>
      <p:sp>
        <p:nvSpPr>
          <p:cNvPr id="17" name="harness-label-2">
            <a:extLst xmlns:a="http://schemas.openxmlformats.org/drawingml/2006/main">
              <a:ext uri="{FF2B5EF4-FFF2-40B4-BE49-F238E27FC236}">
                <a16:creationId xmlns:a16="http://schemas.microsoft.com/office/drawing/2014/main" id="{77BB600E-AF43-45B5-9A81-B2C6B31A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1816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5B57"/>
                </a:solidFill>
              </a:defRPr>
            </a:pPr>
            <a:r>
              <a:rPr sz="1500" b="1">
                <a:solidFill>
                  <a:srgbClr val="005B57"/>
                </a:solidFill>
              </a:rPr>
              <a:t>CLAUDE CODE</a:t>
            </a:r>
          </a:p>
        </p:txBody>
      </p:sp>
      <p:sp>
        <p:nvSpPr>
          <p:cNvPr id="18" name="harness-3">
            <a:extLst xmlns:a="http://schemas.openxmlformats.org/drawingml/2006/main">
              <a:ext uri="{FF2B5EF4-FFF2-40B4-BE49-F238E27FC236}">
                <a16:creationId xmlns:a16="http://schemas.microsoft.com/office/drawing/2014/main" id="{B4F17F4D-140A-4CBB-A53B-DB495BD4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62525"/>
            <a:ext cx="24384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FDEAE8"/>
          </a:solidFill>
          <a:ln xmlns:a="http://schemas.openxmlformats.org/drawingml/2006/main" w="19050">
            <a:solidFill>
              <a:srgbClr val="9B2C2C"/>
            </a:solidFill>
            <a:prstDash val="solid"/>
          </a:ln>
        </p:spPr>
      </p:sp>
      <p:sp>
        <p:nvSpPr>
          <p:cNvPr id="19" name="harness-label-3">
            <a:extLst xmlns:a="http://schemas.openxmlformats.org/drawingml/2006/main">
              <a:ext uri="{FF2B5EF4-FFF2-40B4-BE49-F238E27FC236}">
                <a16:creationId xmlns:a16="http://schemas.microsoft.com/office/drawing/2014/main" id="{B0434C3E-CF8F-40CE-930B-D821B5B4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8160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B2C2C"/>
                </a:solidFill>
              </a:defRPr>
            </a:pPr>
            <a:r>
              <a:rPr sz="1500" b="1">
                <a:solidFill>
                  <a:srgbClr val="9B2C2C"/>
                </a:solidFill>
              </a:rPr>
              <a:t>OTHER HARNESSES</a:t>
            </a:r>
          </a:p>
        </p:txBody>
      </p:sp>
      <p:sp>
        <p:nvSpPr>
          <p:cNvPr id="20" name="footer-line-16">
            <a:extLst xmlns:a="http://schemas.openxmlformats.org/drawingml/2006/main">
              <a:ext uri="{FF2B5EF4-FFF2-40B4-BE49-F238E27FC236}">
                <a16:creationId xmlns:a16="http://schemas.microsoft.com/office/drawing/2014/main" id="{E2A7CB98-A2BD-4FA1-826A-33B2D29A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ource-16">
            <a:extLst xmlns:a="http://schemas.openxmlformats.org/drawingml/2006/main">
              <a:ext uri="{FF2B5EF4-FFF2-40B4-BE49-F238E27FC236}">
                <a16:creationId xmlns:a16="http://schemas.microsoft.com/office/drawing/2014/main" id="{F885786A-99DC-4645-805A-3185561C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5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566A"/>
                </a:solidFill>
              </a:defRPr>
            </a:pPr>
            <a:r>
              <a:rPr sz="1200" b="0">
                <a:solidFill>
                  <a:srgbClr val="36566A"/>
                </a:solidFill>
              </a:rPr>
              <a:t>[13] pre-v1 public alpha · [14] Plan → Work → Evidence</a:t>
            </a:r>
          </a:p>
        </p:txBody>
      </p:sp>
      <p:sp>
        <p:nvSpPr>
          <p:cNvPr id="22" name="folio-16">
            <a:extLst xmlns:a="http://schemas.openxmlformats.org/drawingml/2006/main">
              <a:ext uri="{FF2B5EF4-FFF2-40B4-BE49-F238E27FC236}">
                <a16:creationId xmlns:a16="http://schemas.microsoft.com/office/drawing/2014/main" id="{57468D90-5433-4D75-85F1-EFCDA53E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6566A"/>
                </a:solidFill>
              </a:defRPr>
            </a:pPr>
            <a:r>
              <a:rPr sz="1200" b="1">
                <a:solidFill>
                  <a:srgbClr val="36566A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313042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header-current-17">
            <a:extLst xmlns:a="http://schemas.openxmlformats.org/drawingml/2006/main">
              <a:ext uri="{FF2B5EF4-FFF2-40B4-BE49-F238E27FC236}">
                <a16:creationId xmlns:a16="http://schemas.microsoft.com/office/drawing/2014/main" id="{99D9065F-C80E-4147-90F4-433677E7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19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7">
            <a:extLst xmlns:a="http://schemas.openxmlformats.org/drawingml/2006/main">
              <a:ext uri="{FF2B5EF4-FFF2-40B4-BE49-F238E27FC236}">
                <a16:creationId xmlns:a16="http://schemas.microsoft.com/office/drawing/2014/main" id="{95152847-2647-4716-AC12-66A45BBF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REUSABLE → SPECIALIZED</a:t>
            </a:r>
          </a:p>
        </p:txBody>
      </p:sp>
      <p:sp>
        <p:nvSpPr>
          <p:cNvPr id="3" name="title-17">
            <a:extLst xmlns:a="http://schemas.openxmlformats.org/drawingml/2006/main">
              <a:ext uri="{FF2B5EF4-FFF2-40B4-BE49-F238E27FC236}">
                <a16:creationId xmlns:a16="http://schemas.microsoft.com/office/drawing/2014/main" id="{628B2AE0-A50E-4ABE-AC91-00EFE773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63A"/>
                </a:solidFill>
              </a:defRPr>
            </a:pPr>
            <a:r>
              <a:rPr sz="2850" b="1">
                <a:solidFill>
                  <a:srgbClr val="08263A"/>
                </a:solidFill>
              </a:rPr>
              <a:t>A reusable specification becomes bounded execution</a:t>
            </a:r>
          </a:p>
        </p:txBody>
      </p:sp>
      <p:sp>
        <p:nvSpPr>
          <p:cNvPr id="4" name="subtitle-17">
            <a:extLst xmlns:a="http://schemas.openxmlformats.org/drawingml/2006/main">
              <a:ext uri="{FF2B5EF4-FFF2-40B4-BE49-F238E27FC236}">
                <a16:creationId xmlns:a16="http://schemas.microsoft.com/office/drawing/2014/main" id="{A569F333-D340-41F0-871A-538D6F33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66A"/>
                </a:solidFill>
              </a:defRPr>
            </a:pPr>
            <a:r>
              <a:rPr sz="1425" b="0">
                <a:solidFill>
                  <a:srgbClr val="36566A"/>
                </a:solidFill>
              </a:rPr>
              <a:t>The goal stays recognizable while the audience, requirements, work, and proof become specific.</a:t>
            </a:r>
          </a:p>
        </p:txBody>
      </p:sp>
      <p:sp>
        <p:nvSpPr>
          <p:cNvPr id="5" name="source-goal">
            <a:extLst xmlns:a="http://schemas.openxmlformats.org/drawingml/2006/main">
              <a:ext uri="{FF2B5EF4-FFF2-40B4-BE49-F238E27FC236}">
                <a16:creationId xmlns:a16="http://schemas.microsoft.com/office/drawing/2014/main" id="{DA42A08A-6B20-499D-83A5-FAB76BF9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4362450" cy="3724275"/>
          </a:xfrm>
          <a:prstGeom xmlns:a="http://schemas.openxmlformats.org/drawingml/2006/main" prst="roundRect">
            <a:avLst>
              <a:gd name="adj" fmla="val 5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E83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6" name="source-goal-pill">
            <a:extLst xmlns:a="http://schemas.openxmlformats.org/drawingml/2006/main">
              <a:ext uri="{FF2B5EF4-FFF2-40B4-BE49-F238E27FC236}">
                <a16:creationId xmlns:a16="http://schemas.microsoft.com/office/drawing/2014/main" id="{B12CADF9-FD3B-40CE-9654-7FEEFC32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5025"/>
            <a:ext cx="2571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5FB"/>
          </a:solidFill>
          <a:ln xmlns:a="http://schemas.openxmlformats.org/drawingml/2006/main" w="19050">
            <a:solidFill>
              <a:srgbClr val="00566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566D"/>
                </a:solidFill>
              </a:defRPr>
            </a:pPr>
            <a:r>
              <a:rPr sz="1200" b="1">
                <a:solidFill>
                  <a:srgbClr val="00566D"/>
                </a:solidFill>
              </a:rPr>
              <a:t>SOURCE SPECIFICATION</a:t>
            </a:r>
          </a:p>
        </p:txBody>
      </p:sp>
      <p:sp>
        <p:nvSpPr>
          <p:cNvPr id="7" name="source-goal-id">
            <a:extLst xmlns:a="http://schemas.openxmlformats.org/drawingml/2006/main">
              <a:ext uri="{FF2B5EF4-FFF2-40B4-BE49-F238E27FC236}">
                <a16:creationId xmlns:a16="http://schemas.microsoft.com/office/drawing/2014/main" id="{14C32959-6C68-4BBB-B021-7BC62207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03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63A"/>
                </a:solidFill>
              </a:defRPr>
            </a:pPr>
            <a:r>
              <a:rPr sz="2550" b="1">
                <a:solidFill>
                  <a:srgbClr val="08263A"/>
                </a:solidFill>
              </a:rPr>
              <a:t>goal-1</a:t>
            </a:r>
          </a:p>
        </p:txBody>
      </p:sp>
      <p:sp>
        <p:nvSpPr>
          <p:cNvPr id="8" name="source-label-Objective">
            <a:extLst xmlns:a="http://schemas.openxmlformats.org/drawingml/2006/main">
              <a:ext uri="{FF2B5EF4-FFF2-40B4-BE49-F238E27FC236}">
                <a16:creationId xmlns:a16="http://schemas.microsoft.com/office/drawing/2014/main" id="{4D823E65-5A93-41DA-8D48-B7703818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OBJECTIVE</a:t>
            </a:r>
          </a:p>
        </p:txBody>
      </p:sp>
      <p:sp>
        <p:nvSpPr>
          <p:cNvPr id="9" name="source-value-Objective">
            <a:extLst xmlns:a="http://schemas.openxmlformats.org/drawingml/2006/main">
              <a:ext uri="{FF2B5EF4-FFF2-40B4-BE49-F238E27FC236}">
                <a16:creationId xmlns:a16="http://schemas.microsoft.com/office/drawing/2014/main" id="{5F4E0A65-AD0D-43E3-B422-6C50780A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263A"/>
                </a:solidFill>
              </a:defRPr>
            </a:pPr>
            <a:r>
              <a:rPr sz="1275" b="1">
                <a:solidFill>
                  <a:srgbClr val="08263A"/>
                </a:solidFill>
              </a:rPr>
              <a:t>Create a public landing page</a:t>
            </a:r>
          </a:p>
        </p:txBody>
      </p:sp>
      <p:sp>
        <p:nvSpPr>
          <p:cNvPr id="10" name="source-label-Fixed guardrails">
            <a:extLst xmlns:a="http://schemas.openxmlformats.org/drawingml/2006/main">
              <a:ext uri="{FF2B5EF4-FFF2-40B4-BE49-F238E27FC236}">
                <a16:creationId xmlns:a16="http://schemas.microsoft.com/office/drawing/2014/main" id="{38EE56F9-450A-4932-9570-16FB8694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FIXED GUARDRAILS</a:t>
            </a:r>
          </a:p>
        </p:txBody>
      </p:sp>
      <p:sp>
        <p:nvSpPr>
          <p:cNvPr id="11" name="source-value-Fixed guardrails">
            <a:extLst xmlns:a="http://schemas.openxmlformats.org/drawingml/2006/main">
              <a:ext uri="{FF2B5EF4-FFF2-40B4-BE49-F238E27FC236}">
                <a16:creationId xmlns:a16="http://schemas.microsoft.com/office/drawing/2014/main" id="{132A4446-602E-48DD-AFA3-A31F1E65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263A"/>
                </a:solidFill>
              </a:defRPr>
            </a:pPr>
            <a:r>
              <a:rPr sz="1275" b="1">
                <a:solidFill>
                  <a:srgbClr val="08263A"/>
                </a:solidFill>
              </a:rPr>
              <a:t>Ocean Flow · static Astro</a:t>
            </a:r>
          </a:p>
        </p:txBody>
      </p:sp>
      <p:sp>
        <p:nvSpPr>
          <p:cNvPr id="12" name="source-label-Variable">
            <a:extLst xmlns:a="http://schemas.openxmlformats.org/drawingml/2006/main">
              <a:ext uri="{FF2B5EF4-FFF2-40B4-BE49-F238E27FC236}">
                <a16:creationId xmlns:a16="http://schemas.microsoft.com/office/drawing/2014/main" id="{C92BCE64-6D0E-41A0-9012-D0A9FE97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148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566A"/>
                </a:solidFill>
              </a:defRPr>
            </a:pPr>
            <a:r>
              <a:rPr sz="1200" b="1">
                <a:solidFill>
                  <a:srgbClr val="36566A"/>
                </a:solidFill>
              </a:rPr>
              <a:t>VARIABLE</a:t>
            </a:r>
          </a:p>
        </p:txBody>
      </p:sp>
      <p:sp>
        <p:nvSpPr>
          <p:cNvPr id="13" name="source-value-Variable">
            <a:extLst xmlns:a="http://schemas.openxmlformats.org/drawingml/2006/main">
              <a:ext uri="{FF2B5EF4-FFF2-40B4-BE49-F238E27FC236}">
                <a16:creationId xmlns:a16="http://schemas.microsoft.com/office/drawing/2014/main" id="{277FCEFD-AD29-4520-8D0F-FB8D2E87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263A"/>
                </a:solidFill>
              </a:defRPr>
            </a:pPr>
            <a:r>
              <a:rPr sz="1275" b="1">
                <a:solidFill>
                  <a:srgbClr val="08263A"/>
                </a:solidFill>
              </a:rPr>
              <a:t>Audience · offer · composition</a:t>
            </a:r>
          </a:p>
        </p:txBody>
      </p:sp>
      <p:sp>
        <p:nvSpPr>
          <p:cNvPr id="14" name="specialize-underlay">
            <a:extLst xmlns:a="http://schemas.openxmlformats.org/drawingml/2006/main">
              <a:ext uri="{FF2B5EF4-FFF2-40B4-BE49-F238E27FC236}">
                <a16:creationId xmlns:a16="http://schemas.microsoft.com/office/drawing/2014/main" id="{D76A923A-2A6E-4562-AA62-30ADE0D2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495675"/>
            <a:ext cx="14478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pecialize-arrow">
            <a:extLst xmlns:a="http://schemas.openxmlformats.org/drawingml/2006/main">
              <a:ext uri="{FF2B5EF4-FFF2-40B4-BE49-F238E27FC236}">
                <a16:creationId xmlns:a16="http://schemas.microsoft.com/office/drawing/2014/main" id="{23C398E6-099D-4602-9212-41FC4BD1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14700"/>
            <a:ext cx="1352550" cy="523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pecialize-label">
            <a:extLst xmlns:a="http://schemas.openxmlformats.org/drawingml/2006/main">
              <a:ext uri="{FF2B5EF4-FFF2-40B4-BE49-F238E27FC236}">
                <a16:creationId xmlns:a16="http://schemas.microsoft.com/office/drawing/2014/main" id="{B56C7F56-39B2-4567-A341-CFC37FAF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76550"/>
            <a:ext cx="13144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E839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SPECIALIZE</a:t>
            </a:r>
          </a:p>
        </p:txBody>
      </p:sp>
      <p:sp>
        <p:nvSpPr>
          <p:cNvPr id="17" name="executed-goal">
            <a:extLst xmlns:a="http://schemas.openxmlformats.org/drawingml/2006/main">
              <a:ext uri="{FF2B5EF4-FFF2-40B4-BE49-F238E27FC236}">
                <a16:creationId xmlns:a16="http://schemas.microsoft.com/office/drawing/2014/main" id="{7BAC4F29-C954-4F70-8AFE-AB444B43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04975"/>
            <a:ext cx="4572000" cy="4105275"/>
          </a:xfrm>
          <a:prstGeom xmlns:a="http://schemas.openxmlformats.org/drawingml/2006/main" prst="roundRect">
            <a:avLst>
              <a:gd name="adj" fmla="val 51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5B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5"/>
          <a:fontRef xmlns:a="http://schemas.openxmlformats.org/drawingml/2006/main" idx="major"/>
        </p:style>
      </p:sp>
      <p:sp>
        <p:nvSpPr>
          <p:cNvPr id="18" name="executed-current">
            <a:extLst xmlns:a="http://schemas.openxmlformats.org/drawingml/2006/main">
              <a:ext uri="{FF2B5EF4-FFF2-40B4-BE49-F238E27FC236}">
                <a16:creationId xmlns:a16="http://schemas.microsoft.com/office/drawing/2014/main" id="{ADEA0C16-F9A1-4617-853B-FBA5A658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04975"/>
            <a:ext cx="4572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executed-goal-pill">
            <a:extLst xmlns:a="http://schemas.openxmlformats.org/drawingml/2006/main">
              <a:ext uri="{FF2B5EF4-FFF2-40B4-BE49-F238E27FC236}">
                <a16:creationId xmlns:a16="http://schemas.microsoft.com/office/drawing/2014/main" id="{BD06E4C1-D394-4DC1-9ECA-5DB51625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71675"/>
            <a:ext cx="2266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F4"/>
          </a:solidFill>
          <a:ln xmlns:a="http://schemas.openxmlformats.org/drawingml/2006/main" w="19050">
            <a:solidFill>
              <a:srgbClr val="005B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SPECIALIZED EXECUTION</a:t>
            </a:r>
          </a:p>
        </p:txBody>
      </p:sp>
      <p:sp>
        <p:nvSpPr>
          <p:cNvPr id="20" name="executed-goal-id">
            <a:extLst xmlns:a="http://schemas.openxmlformats.org/drawingml/2006/main">
              <a:ext uri="{FF2B5EF4-FFF2-40B4-BE49-F238E27FC236}">
                <a16:creationId xmlns:a16="http://schemas.microsoft.com/office/drawing/2014/main" id="{FC13FDBD-39DC-4843-9946-3C690FE3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574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63A"/>
                </a:solidFill>
              </a:defRPr>
            </a:pPr>
            <a:r>
              <a:rPr sz="2550" b="1">
                <a:solidFill>
                  <a:srgbClr val="08263A"/>
                </a:solidFill>
              </a:rPr>
              <a:t>goal-1</a:t>
            </a:r>
          </a:p>
        </p:txBody>
      </p:sp>
      <p:sp>
        <p:nvSpPr>
          <p:cNvPr id="21" name="executed-label-Positioning">
            <a:extLst xmlns:a="http://schemas.openxmlformats.org/drawingml/2006/main">
              <a:ext uri="{FF2B5EF4-FFF2-40B4-BE49-F238E27FC236}">
                <a16:creationId xmlns:a16="http://schemas.microsoft.com/office/drawing/2014/main" id="{1B44F717-17FE-437F-8204-D50ABD07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POSITIONING</a:t>
            </a:r>
          </a:p>
        </p:txBody>
      </p:sp>
      <p:sp>
        <p:nvSpPr>
          <p:cNvPr id="22" name="executed-value-Positioning">
            <a:extLst xmlns:a="http://schemas.openxmlformats.org/drawingml/2006/main">
              <a:ext uri="{FF2B5EF4-FFF2-40B4-BE49-F238E27FC236}">
                <a16:creationId xmlns:a16="http://schemas.microsoft.com/office/drawing/2014/main" id="{8A4B3F44-FE64-4645-A683-E94211D6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6707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263A"/>
                </a:solidFill>
              </a:defRPr>
            </a:pPr>
            <a:r>
              <a:rPr sz="1275" b="1">
                <a:solidFill>
                  <a:srgbClr val="08263A"/>
                </a:solidFill>
              </a:rPr>
              <a:t>Selected audience + promise</a:t>
            </a:r>
          </a:p>
        </p:txBody>
      </p:sp>
      <p:sp>
        <p:nvSpPr>
          <p:cNvPr id="23" name="executed-label-Requirements">
            <a:extLst xmlns:a="http://schemas.openxmlformats.org/drawingml/2006/main">
              <a:ext uri="{FF2B5EF4-FFF2-40B4-BE49-F238E27FC236}">
                <a16:creationId xmlns:a16="http://schemas.microsoft.com/office/drawing/2014/main" id="{2197E660-C950-4792-80E3-962FAFD0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14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REQUIREMENTS</a:t>
            </a:r>
          </a:p>
        </p:txBody>
      </p:sp>
      <p:sp>
        <p:nvSpPr>
          <p:cNvPr id="24" name="executed-value-Requirements">
            <a:extLst xmlns:a="http://schemas.openxmlformats.org/drawingml/2006/main">
              <a:ext uri="{FF2B5EF4-FFF2-40B4-BE49-F238E27FC236}">
                <a16:creationId xmlns:a16="http://schemas.microsoft.com/office/drawing/2014/main" id="{38664CC3-15A2-43B3-95E2-CBBDEA5A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5287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263A"/>
                </a:solidFill>
              </a:defRPr>
            </a:pPr>
            <a:r>
              <a:rPr sz="1275" b="1">
                <a:solidFill>
                  <a:srgbClr val="08263A"/>
                </a:solidFill>
              </a:rPr>
              <a:t>Static Astro · zero client JS</a:t>
            </a:r>
          </a:p>
        </p:txBody>
      </p:sp>
      <p:sp>
        <p:nvSpPr>
          <p:cNvPr id="25" name="executed-label-Work">
            <a:extLst xmlns:a="http://schemas.openxmlformats.org/drawingml/2006/main">
              <a:ext uri="{FF2B5EF4-FFF2-40B4-BE49-F238E27FC236}">
                <a16:creationId xmlns:a16="http://schemas.microsoft.com/office/drawing/2014/main" id="{BC495BD8-C989-4523-B400-91C76507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005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WORK</a:t>
            </a:r>
          </a:p>
        </p:txBody>
      </p:sp>
      <p:sp>
        <p:nvSpPr>
          <p:cNvPr id="26" name="executed-value-Work">
            <a:extLst xmlns:a="http://schemas.openxmlformats.org/drawingml/2006/main">
              <a:ext uri="{FF2B5EF4-FFF2-40B4-BE49-F238E27FC236}">
                <a16:creationId xmlns:a16="http://schemas.microsoft.com/office/drawing/2014/main" id="{D03FC2FD-84A2-488E-ADD4-F451D663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3867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263A"/>
                </a:solidFill>
              </a:defRPr>
            </a:pPr>
            <a:r>
              <a:rPr sz="1275" b="1">
                <a:solidFill>
                  <a:srgbClr val="08263A"/>
                </a:solidFill>
              </a:rPr>
              <a:t>Bounded nodes · explicit authority</a:t>
            </a:r>
          </a:p>
        </p:txBody>
      </p:sp>
      <p:sp>
        <p:nvSpPr>
          <p:cNvPr id="27" name="executed-label-Evidence">
            <a:extLst xmlns:a="http://schemas.openxmlformats.org/drawingml/2006/main">
              <a:ext uri="{FF2B5EF4-FFF2-40B4-BE49-F238E27FC236}">
                <a16:creationId xmlns:a16="http://schemas.microsoft.com/office/drawing/2014/main" id="{8B3563EE-F258-485C-8319-1DB3A819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863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EVIDENCE</a:t>
            </a:r>
          </a:p>
        </p:txBody>
      </p:sp>
      <p:sp>
        <p:nvSpPr>
          <p:cNvPr id="28" name="executed-value-Evidence">
            <a:extLst xmlns:a="http://schemas.openxmlformats.org/drawingml/2006/main">
              <a:ext uri="{FF2B5EF4-FFF2-40B4-BE49-F238E27FC236}">
                <a16:creationId xmlns:a16="http://schemas.microsoft.com/office/drawing/2014/main" id="{70E538F4-2598-49C7-B8EA-453C008D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32447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263A"/>
                </a:solidFill>
              </a:defRPr>
            </a:pPr>
            <a:r>
              <a:rPr sz="1275" b="1">
                <a:solidFill>
                  <a:srgbClr val="08263A"/>
                </a:solidFill>
              </a:rPr>
              <a:t>Build · routes · receipts</a:t>
            </a:r>
          </a:p>
        </p:txBody>
      </p:sp>
      <p:sp>
        <p:nvSpPr>
          <p:cNvPr id="29" name="footer-line-17">
            <a:extLst xmlns:a="http://schemas.openxmlformats.org/drawingml/2006/main">
              <a:ext uri="{FF2B5EF4-FFF2-40B4-BE49-F238E27FC236}">
                <a16:creationId xmlns:a16="http://schemas.microsoft.com/office/drawing/2014/main" id="{03170677-4F4C-4D92-B661-27CDD6E2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ource-17">
            <a:extLst xmlns:a="http://schemas.openxmlformats.org/drawingml/2006/main">
              <a:ext uri="{FF2B5EF4-FFF2-40B4-BE49-F238E27FC236}">
                <a16:creationId xmlns:a16="http://schemas.microsoft.com/office/drawing/2014/main" id="{B0764050-4BF7-47AD-B943-E1224EC8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5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folio-17">
            <a:extLst xmlns:a="http://schemas.openxmlformats.org/drawingml/2006/main">
              <a:ext uri="{FF2B5EF4-FFF2-40B4-BE49-F238E27FC236}">
                <a16:creationId xmlns:a16="http://schemas.microsoft.com/office/drawing/2014/main" id="{C221ED79-5539-4A0F-BF64-7A8BF316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6566A"/>
                </a:solidFill>
              </a:defRPr>
            </a:pPr>
            <a:r>
              <a:rPr sz="1200" b="1">
                <a:solidFill>
                  <a:srgbClr val="36566A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295880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826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veal-current-underlay">
            <a:extLst xmlns:a="http://schemas.openxmlformats.org/drawingml/2006/main">
              <a:ext uri="{FF2B5EF4-FFF2-40B4-BE49-F238E27FC236}">
                <a16:creationId xmlns:a16="http://schemas.microsoft.com/office/drawing/2014/main" id="{D9FED5E7-8F33-426F-9983-98693C08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91075"/>
            <a:ext cx="97536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5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reveal-current">
            <a:extLst xmlns:a="http://schemas.openxmlformats.org/drawingml/2006/main">
              <a:ext uri="{FF2B5EF4-FFF2-40B4-BE49-F238E27FC236}">
                <a16:creationId xmlns:a16="http://schemas.microsoft.com/office/drawing/2014/main" id="{985EE208-693A-42FD-B689-67EF9291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29175"/>
            <a:ext cx="9753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veal-node-1">
            <a:extLst xmlns:a="http://schemas.openxmlformats.org/drawingml/2006/main">
              <a:ext uri="{FF2B5EF4-FFF2-40B4-BE49-F238E27FC236}">
                <a16:creationId xmlns:a16="http://schemas.microsoft.com/office/drawing/2014/main" id="{CCDCEEBA-65C4-4C13-9F96-18D956A9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667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63A"/>
          </a:solidFill>
          <a:ln xmlns:a="http://schemas.openxmlformats.org/drawingml/2006/main" w="28575">
            <a:solidFill>
              <a:srgbClr val="13C7B3"/>
            </a:solidFill>
            <a:prstDash val="solid"/>
          </a:ln>
        </p:spPr>
      </p:sp>
      <p:sp>
        <p:nvSpPr>
          <p:cNvPr id="4" name="reveal-node-2">
            <a:extLst xmlns:a="http://schemas.openxmlformats.org/drawingml/2006/main">
              <a:ext uri="{FF2B5EF4-FFF2-40B4-BE49-F238E27FC236}">
                <a16:creationId xmlns:a16="http://schemas.microsoft.com/office/drawing/2014/main" id="{9C3A0025-0D3D-4410-9278-B97F714B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67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63A"/>
          </a:solidFill>
          <a:ln xmlns:a="http://schemas.openxmlformats.org/drawingml/2006/main" w="28575">
            <a:solidFill>
              <a:srgbClr val="13C7B3"/>
            </a:solidFill>
            <a:prstDash val="solid"/>
          </a:ln>
        </p:spPr>
      </p:sp>
      <p:sp>
        <p:nvSpPr>
          <p:cNvPr id="5" name="reveal-node-3">
            <a:extLst xmlns:a="http://schemas.openxmlformats.org/drawingml/2006/main">
              <a:ext uri="{FF2B5EF4-FFF2-40B4-BE49-F238E27FC236}">
                <a16:creationId xmlns:a16="http://schemas.microsoft.com/office/drawing/2014/main" id="{F62BBB31-4D99-4E88-A546-D94E8D77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667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63A"/>
          </a:solidFill>
          <a:ln xmlns:a="http://schemas.openxmlformats.org/drawingml/2006/main" w="28575">
            <a:solidFill>
              <a:srgbClr val="13C7B3"/>
            </a:solidFill>
            <a:prstDash val="solid"/>
          </a:ln>
        </p:spPr>
      </p:sp>
      <p:sp>
        <p:nvSpPr>
          <p:cNvPr id="6" name="reveal-node-4">
            <a:extLst xmlns:a="http://schemas.openxmlformats.org/drawingml/2006/main">
              <a:ext uri="{FF2B5EF4-FFF2-40B4-BE49-F238E27FC236}">
                <a16:creationId xmlns:a16="http://schemas.microsoft.com/office/drawing/2014/main" id="{D38D36D2-B196-4793-A3B2-FCF701B4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67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AE8"/>
          </a:solidFill>
          <a:ln xmlns:a="http://schemas.openxmlformats.org/drawingml/2006/main" w="28575">
            <a:solidFill>
              <a:srgbClr val="9B2C2C"/>
            </a:solidFill>
            <a:prstDash val="solid"/>
          </a:ln>
        </p:spPr>
      </p:sp>
      <p:sp>
        <p:nvSpPr>
          <p:cNvPr id="7" name="reveal-kicker">
            <a:extLst xmlns:a="http://schemas.openxmlformats.org/drawingml/2006/main">
              <a:ext uri="{FF2B5EF4-FFF2-40B4-BE49-F238E27FC236}">
                <a16:creationId xmlns:a16="http://schemas.microsoft.com/office/drawing/2014/main" id="{D32A1589-0A6C-4C87-83AA-1D42A849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066800"/>
            <a:ext cx="975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C7B3"/>
                </a:solidFill>
              </a:defRPr>
            </a:pPr>
            <a:r>
              <a:rPr sz="1500" b="1">
                <a:solidFill>
                  <a:srgbClr val="13C7B3"/>
                </a:solidFill>
              </a:rPr>
              <a:t>LIVE REVEAL</a:t>
            </a:r>
          </a:p>
        </p:txBody>
      </p:sp>
      <p:sp>
        <p:nvSpPr>
          <p:cNvPr id="8" name="reveal-title">
            <a:extLst xmlns:a="http://schemas.openxmlformats.org/drawingml/2006/main">
              <a:ext uri="{FF2B5EF4-FFF2-40B4-BE49-F238E27FC236}">
                <a16:creationId xmlns:a16="http://schemas.microsoft.com/office/drawing/2014/main" id="{DFF467B2-21FF-46F0-B334-75CA6BF5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90700"/>
            <a:ext cx="975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F7FBFD"/>
                </a:solidFill>
              </a:defRPr>
            </a:pPr>
            <a:r>
              <a:rPr sz="4500" b="1">
                <a:solidFill>
                  <a:srgbClr val="F7FBFD"/>
                </a:solidFill>
              </a:rPr>
              <a:t>Let’s inspect the run</a:t>
            </a:r>
          </a:p>
        </p:txBody>
      </p:sp>
      <p:sp>
        <p:nvSpPr>
          <p:cNvPr id="9" name="reveal-subtitle">
            <a:extLst xmlns:a="http://schemas.openxmlformats.org/drawingml/2006/main">
              <a:ext uri="{FF2B5EF4-FFF2-40B4-BE49-F238E27FC236}">
                <a16:creationId xmlns:a16="http://schemas.microsoft.com/office/drawing/2014/main" id="{3FA5CD04-AC46-416F-8150-C3D9FC92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38475"/>
            <a:ext cx="975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EEAD4"/>
                </a:solidFill>
              </a:defRPr>
            </a:pPr>
            <a:r>
              <a:rPr sz="1875" b="1">
                <a:solidFill>
                  <a:srgbClr val="5EEAD4"/>
                </a:solidFill>
              </a:rPr>
              <a:t>Source specification  →  specialized goal  →  output  →  evidence</a:t>
            </a:r>
          </a:p>
        </p:txBody>
      </p:sp>
      <p:sp>
        <p:nvSpPr>
          <p:cNvPr id="10" name="reveal-prompt">
            <a:extLst xmlns:a="http://schemas.openxmlformats.org/drawingml/2006/main">
              <a:ext uri="{FF2B5EF4-FFF2-40B4-BE49-F238E27FC236}">
                <a16:creationId xmlns:a16="http://schemas.microsoft.com/office/drawing/2014/main" id="{8212BFF1-4215-4141-A79A-7C9F88B5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10000"/>
            <a:ext cx="975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7FBFD"/>
                </a:solidFill>
              </a:defRPr>
            </a:pPr>
            <a:r>
              <a:rPr sz="1725" b="0">
                <a:solidFill>
                  <a:srgbClr val="F7FBFD"/>
                </a:solidFill>
              </a:rPr>
              <a:t>What completed?   Why?   What comes next?</a:t>
            </a:r>
          </a:p>
        </p:txBody>
      </p:sp>
    </p:spTree>
    <p:extLst>
      <p:ext uri="{BB962C8B-B14F-4D97-AF65-F5344CB8AC3E}">
        <p14:creationId xmlns:p14="http://schemas.microsoft.com/office/powerpoint/2010/main" val="66613374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header-current-19">
            <a:extLst xmlns:a="http://schemas.openxmlformats.org/drawingml/2006/main">
              <a:ext uri="{FF2B5EF4-FFF2-40B4-BE49-F238E27FC236}">
                <a16:creationId xmlns:a16="http://schemas.microsoft.com/office/drawing/2014/main" id="{51968FA3-6D42-45F3-982F-3DDFB6A5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19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19">
            <a:extLst xmlns:a="http://schemas.openxmlformats.org/drawingml/2006/main">
              <a:ext uri="{FF2B5EF4-FFF2-40B4-BE49-F238E27FC236}">
                <a16:creationId xmlns:a16="http://schemas.microsoft.com/office/drawing/2014/main" id="{4B8B490C-253B-434D-AD01-8C6D980A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TRY THE PUBLIC ALPHA</a:t>
            </a:r>
          </a:p>
        </p:txBody>
      </p:sp>
      <p:sp>
        <p:nvSpPr>
          <p:cNvPr id="3" name="title-19">
            <a:extLst xmlns:a="http://schemas.openxmlformats.org/drawingml/2006/main">
              <a:ext uri="{FF2B5EF4-FFF2-40B4-BE49-F238E27FC236}">
                <a16:creationId xmlns:a16="http://schemas.microsoft.com/office/drawing/2014/main" id="{F0403685-5DDE-45B8-B1BD-64E24CC0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63A"/>
                </a:solidFill>
              </a:defRPr>
            </a:pPr>
            <a:r>
              <a:rPr sz="2850" b="1">
                <a:solidFill>
                  <a:srgbClr val="08263A"/>
                </a:solidFill>
              </a:rPr>
              <a:t>Try mdkg on one real project</a:t>
            </a:r>
          </a:p>
        </p:txBody>
      </p:sp>
      <p:sp>
        <p:nvSpPr>
          <p:cNvPr id="4" name="subtitle-19">
            <a:extLst xmlns:a="http://schemas.openxmlformats.org/drawingml/2006/main">
              <a:ext uri="{FF2B5EF4-FFF2-40B4-BE49-F238E27FC236}">
                <a16:creationId xmlns:a16="http://schemas.microsoft.com/office/drawing/2014/main" id="{60F3D4AD-A673-4F56-8F0D-DA46FA7D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66A"/>
                </a:solidFill>
              </a:defRPr>
            </a:pPr>
            <a:r>
              <a:rPr sz="1425" b="0">
                <a:solidFill>
                  <a:srgbClr val="36566A"/>
                </a:solidFill>
              </a:rPr>
              <a:t>Use the quickstart, keep the experiment bounded, and send feedback that improves the pre-v1 workflow.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3245797b26450e"/>
          <a:stretch xmlns:a="http://schemas.openxmlformats.org/drawingml/2006/main"/>
        </p:blipFill>
        <p:spPr>
          <a:xfrm xmlns:a="http://schemas.openxmlformats.org/drawingml/2006/main">
            <a:off x="1447800" y="2105025"/>
            <a:ext cx="2819400" cy="28194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fcc3a9e2a4907"/>
          <a:stretch xmlns:a="http://schemas.openxmlformats.org/drawingml/2006/main"/>
        </p:blipFill>
        <p:spPr>
          <a:xfrm xmlns:a="http://schemas.openxmlformats.org/drawingml/2006/main">
            <a:off x="7924800" y="2105025"/>
            <a:ext cx="2819400" cy="2819400"/>
          </a:xfrm>
          <a:prstGeom xmlns:a="http://schemas.openxmlformats.org/drawingml/2006/main" prst="rect">
            <a:avLst/>
          </a:prstGeom>
        </p:spPr>
      </p:pic>
      <p:sp>
        <p:nvSpPr>
          <p:cNvPr id="7" name="quickstart-label">
            <a:extLst xmlns:a="http://schemas.openxmlformats.org/drawingml/2006/main">
              <a:ext uri="{FF2B5EF4-FFF2-40B4-BE49-F238E27FC236}">
                <a16:creationId xmlns:a16="http://schemas.microsoft.com/office/drawing/2014/main" id="{ECE70CB8-3A59-43EE-8550-3237FC8F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358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566D"/>
                </a:solidFill>
              </a:defRPr>
            </a:pPr>
            <a:r>
              <a:rPr sz="1800" b="1">
                <a:solidFill>
                  <a:srgbClr val="00566D"/>
                </a:solidFill>
              </a:rPr>
              <a:t>QUICKSTART</a:t>
            </a:r>
          </a:p>
        </p:txBody>
      </p:sp>
      <p:sp>
        <p:nvSpPr>
          <p:cNvPr id="8" name="quickstart-url">
            <a:extLst xmlns:a="http://schemas.openxmlformats.org/drawingml/2006/main">
              <a:ext uri="{FF2B5EF4-FFF2-40B4-BE49-F238E27FC236}">
                <a16:creationId xmlns:a16="http://schemas.microsoft.com/office/drawing/2014/main" id="{946DEBB2-81B2-4221-A2CE-F9123C15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docs.mdkg.dev/start-here/quickstart/</a:t>
            </a:r>
          </a:p>
        </p:txBody>
      </p:sp>
      <p:sp>
        <p:nvSpPr>
          <p:cNvPr id="9" name="feedback-label">
            <a:extLst xmlns:a="http://schemas.openxmlformats.org/drawingml/2006/main">
              <a:ext uri="{FF2B5EF4-FFF2-40B4-BE49-F238E27FC236}">
                <a16:creationId xmlns:a16="http://schemas.microsoft.com/office/drawing/2014/main" id="{3234E31D-E0DC-431A-8F16-65111E12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67300"/>
            <a:ext cx="358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5B57"/>
                </a:solidFill>
              </a:defRPr>
            </a:pPr>
            <a:r>
              <a:rPr sz="1800" b="1">
                <a:solidFill>
                  <a:srgbClr val="005B57"/>
                </a:solidFill>
              </a:rPr>
              <a:t>SEND FEEDBACK</a:t>
            </a:r>
          </a:p>
        </p:txBody>
      </p:sp>
      <p:sp>
        <p:nvSpPr>
          <p:cNvPr id="10" name="feedback-url">
            <a:extLst xmlns:a="http://schemas.openxmlformats.org/drawingml/2006/main">
              <a:ext uri="{FF2B5EF4-FFF2-40B4-BE49-F238E27FC236}">
                <a16:creationId xmlns:a16="http://schemas.microsoft.com/office/drawing/2014/main" id="{A0C47F5D-1EDE-4451-BD71-18EE8F7D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864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github.com/nickreames/mdkg/issues</a:t>
            </a:r>
          </a:p>
        </p:txBody>
      </p:sp>
      <p:sp>
        <p:nvSpPr>
          <p:cNvPr id="11" name="cta-divider">
            <a:extLst xmlns:a="http://schemas.openxmlformats.org/drawingml/2006/main">
              <a:ext uri="{FF2B5EF4-FFF2-40B4-BE49-F238E27FC236}">
                <a16:creationId xmlns:a16="http://schemas.microsoft.com/office/drawing/2014/main" id="{C187C3B0-4E47-4880-9939-A87AA4B2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2857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lpha-status">
            <a:extLst xmlns:a="http://schemas.openxmlformats.org/drawingml/2006/main">
              <a:ext uri="{FF2B5EF4-FFF2-40B4-BE49-F238E27FC236}">
                <a16:creationId xmlns:a16="http://schemas.microsoft.com/office/drawing/2014/main" id="{12A08F10-9534-4B9E-8352-71E2AC53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876925"/>
            <a:ext cx="46863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AE8"/>
          </a:solidFill>
          <a:ln xmlns:a="http://schemas.openxmlformats.org/drawingml/2006/main" w="19050">
            <a:solidFill>
              <a:srgbClr val="9B2C2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PRE-V1 · PUBLIC ALPHA · ACTIVE IMPROVEMENT</a:t>
            </a:r>
          </a:p>
        </p:txBody>
      </p:sp>
      <p:sp>
        <p:nvSpPr>
          <p:cNvPr id="13" name="footer-line-19">
            <a:extLst xmlns:a="http://schemas.openxmlformats.org/drawingml/2006/main">
              <a:ext uri="{FF2B5EF4-FFF2-40B4-BE49-F238E27FC236}">
                <a16:creationId xmlns:a16="http://schemas.microsoft.com/office/drawing/2014/main" id="{9A45D556-F90C-433E-98F6-14684158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ource-19">
            <a:extLst xmlns:a="http://schemas.openxmlformats.org/drawingml/2006/main">
              <a:ext uri="{FF2B5EF4-FFF2-40B4-BE49-F238E27FC236}">
                <a16:creationId xmlns:a16="http://schemas.microsoft.com/office/drawing/2014/main" id="{ACA1E6FD-D755-4CA1-B78A-AF4759C8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5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566A"/>
                </a:solidFill>
              </a:defRPr>
            </a:pPr>
            <a:r>
              <a:rPr sz="1200" b="0">
                <a:solidFill>
                  <a:srgbClr val="36566A"/>
                </a:solidFill>
              </a:rPr>
              <a:t>[13] mdkg Public Alpha Contract</a:t>
            </a:r>
          </a:p>
        </p:txBody>
      </p:sp>
      <p:sp>
        <p:nvSpPr>
          <p:cNvPr id="15" name="folio-19">
            <a:extLst xmlns:a="http://schemas.openxmlformats.org/drawingml/2006/main">
              <a:ext uri="{FF2B5EF4-FFF2-40B4-BE49-F238E27FC236}">
                <a16:creationId xmlns:a16="http://schemas.microsoft.com/office/drawing/2014/main" id="{B3E8BEF5-4A13-4370-B31A-460E1BB8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6566A"/>
                </a:solidFill>
              </a:defRPr>
            </a:pPr>
            <a:r>
              <a:rPr sz="1200" b="1">
                <a:solidFill>
                  <a:srgbClr val="36566A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111799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header-current-20">
            <a:extLst xmlns:a="http://schemas.openxmlformats.org/drawingml/2006/main">
              <a:ext uri="{FF2B5EF4-FFF2-40B4-BE49-F238E27FC236}">
                <a16:creationId xmlns:a16="http://schemas.microsoft.com/office/drawing/2014/main" id="{0F894786-8B14-4194-BED8-C878D43A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419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C7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20">
            <a:extLst xmlns:a="http://schemas.openxmlformats.org/drawingml/2006/main">
              <a:ext uri="{FF2B5EF4-FFF2-40B4-BE49-F238E27FC236}">
                <a16:creationId xmlns:a16="http://schemas.microsoft.com/office/drawing/2014/main" id="{1E4E124C-B492-429D-8772-69203EE0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B57"/>
                </a:solidFill>
              </a:defRPr>
            </a:pPr>
            <a:r>
              <a:rPr sz="1200" b="1">
                <a:solidFill>
                  <a:srgbClr val="005B57"/>
                </a:solidFill>
              </a:rPr>
              <a:t>REFERENCE</a:t>
            </a:r>
          </a:p>
        </p:txBody>
      </p:sp>
      <p:sp>
        <p:nvSpPr>
          <p:cNvPr id="3" name="title-20">
            <a:extLst xmlns:a="http://schemas.openxmlformats.org/drawingml/2006/main">
              <a:ext uri="{FF2B5EF4-FFF2-40B4-BE49-F238E27FC236}">
                <a16:creationId xmlns:a16="http://schemas.microsoft.com/office/drawing/2014/main" id="{453A83A0-275E-47D4-8019-320C4C3D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263A"/>
                </a:solidFill>
              </a:defRPr>
            </a:pPr>
            <a:r>
              <a:rPr sz="2850" b="1">
                <a:solidFill>
                  <a:srgbClr val="08263A"/>
                </a:solidFill>
              </a:rPr>
              <a:t>Sources</a:t>
            </a:r>
          </a:p>
        </p:txBody>
      </p:sp>
      <p:sp>
        <p:nvSpPr>
          <p:cNvPr id="4" name="subtitle-20">
            <a:extLst xmlns:a="http://schemas.openxmlformats.org/drawingml/2006/main">
              <a:ext uri="{FF2B5EF4-FFF2-40B4-BE49-F238E27FC236}">
                <a16:creationId xmlns:a16="http://schemas.microsoft.com/office/drawing/2014/main" id="{F45C76E1-5927-45C3-AC15-DE47B729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6566A"/>
                </a:solidFill>
              </a:defRPr>
            </a:pPr>
            <a:r>
              <a:rPr sz="1425" b="0">
                <a:solidFill>
                  <a:srgbClr val="36566A"/>
                </a:solidFill>
              </a:rPr>
              <a:t>Primary sources for the capability timeline and product claims.</a:t>
            </a:r>
          </a:p>
        </p:txBody>
      </p:sp>
      <p:sp>
        <p:nvSpPr>
          <p:cNvPr id="5" name="source-index-rule-1">
            <a:extLst xmlns:a="http://schemas.openxmlformats.org/drawingml/2006/main">
              <a:ext uri="{FF2B5EF4-FFF2-40B4-BE49-F238E27FC236}">
                <a16:creationId xmlns:a16="http://schemas.microsoft.com/office/drawing/2014/main" id="{296256B0-1CEE-4FCE-B0AF-1248D773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urce-index-1">
            <a:extLst xmlns:a="http://schemas.openxmlformats.org/drawingml/2006/main">
              <a:ext uri="{FF2B5EF4-FFF2-40B4-BE49-F238E27FC236}">
                <a16:creationId xmlns:a16="http://schemas.microsoft.com/office/drawing/2014/main" id="{3953F205-8CD8-4D15-B184-C37E8EFE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859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[1] GitHub · Copilot technical preview · 2021</a:t>
            </a:r>
          </a:p>
        </p:txBody>
      </p:sp>
      <p:sp>
        <p:nvSpPr>
          <p:cNvPr id="7" name="source-index-rule-2">
            <a:extLst xmlns:a="http://schemas.openxmlformats.org/drawingml/2006/main">
              <a:ext uri="{FF2B5EF4-FFF2-40B4-BE49-F238E27FC236}">
                <a16:creationId xmlns:a16="http://schemas.microsoft.com/office/drawing/2014/main" id="{9247AAB4-A8B3-46D3-AE66-4FC37141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urce-index-2">
            <a:extLst xmlns:a="http://schemas.openxmlformats.org/drawingml/2006/main">
              <a:ext uri="{FF2B5EF4-FFF2-40B4-BE49-F238E27FC236}">
                <a16:creationId xmlns:a16="http://schemas.microsoft.com/office/drawing/2014/main" id="{FBFDA0E3-55ED-4789-8E7D-712D6FD6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479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[2] OpenAI · ChatGPT research preview · 2022</a:t>
            </a:r>
          </a:p>
        </p:txBody>
      </p:sp>
      <p:sp>
        <p:nvSpPr>
          <p:cNvPr id="9" name="source-index-rule-3">
            <a:extLst xmlns:a="http://schemas.openxmlformats.org/drawingml/2006/main">
              <a:ext uri="{FF2B5EF4-FFF2-40B4-BE49-F238E27FC236}">
                <a16:creationId xmlns:a16="http://schemas.microsoft.com/office/drawing/2014/main" id="{D3F01808-01E1-4E4C-AA6B-BEFD5CB5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ource-index-3">
            <a:extLst xmlns:a="http://schemas.openxmlformats.org/drawingml/2006/main">
              <a:ext uri="{FF2B5EF4-FFF2-40B4-BE49-F238E27FC236}">
                <a16:creationId xmlns:a16="http://schemas.microsoft.com/office/drawing/2014/main" id="{B0FC5077-6F93-4904-BBEC-2D911EBA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[3] OpenAI · o1 reasoning · 2024</a:t>
            </a:r>
          </a:p>
        </p:txBody>
      </p:sp>
      <p:sp>
        <p:nvSpPr>
          <p:cNvPr id="11" name="source-index-rule-4">
            <a:extLst xmlns:a="http://schemas.openxmlformats.org/drawingml/2006/main">
              <a:ext uri="{FF2B5EF4-FFF2-40B4-BE49-F238E27FC236}">
                <a16:creationId xmlns:a16="http://schemas.microsoft.com/office/drawing/2014/main" id="{0D316CA5-9B6C-4BD8-8CFE-AB94DD76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ource-index-4">
            <a:extLst xmlns:a="http://schemas.openxmlformats.org/drawingml/2006/main">
              <a:ext uri="{FF2B5EF4-FFF2-40B4-BE49-F238E27FC236}">
                <a16:creationId xmlns:a16="http://schemas.microsoft.com/office/drawing/2014/main" id="{3FE29565-7E1E-4A04-A77E-CA4BA54C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718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[4] Anthropic · Claude Code · 2025</a:t>
            </a:r>
          </a:p>
        </p:txBody>
      </p:sp>
      <p:sp>
        <p:nvSpPr>
          <p:cNvPr id="13" name="source-index-rule-5">
            <a:extLst xmlns:a="http://schemas.openxmlformats.org/drawingml/2006/main">
              <a:ext uri="{FF2B5EF4-FFF2-40B4-BE49-F238E27FC236}">
                <a16:creationId xmlns:a16="http://schemas.microsoft.com/office/drawing/2014/main" id="{E735D2BF-367E-4737-89E5-42E24638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ource-index-5">
            <a:extLst xmlns:a="http://schemas.openxmlformats.org/drawingml/2006/main">
              <a:ext uri="{FF2B5EF4-FFF2-40B4-BE49-F238E27FC236}">
                <a16:creationId xmlns:a16="http://schemas.microsoft.com/office/drawing/2014/main" id="{C69A81D6-8CF7-48B5-8B06-FC9E1F2B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338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[5] Cursor · Agent overview · living docs</a:t>
            </a:r>
          </a:p>
        </p:txBody>
      </p:sp>
      <p:sp>
        <p:nvSpPr>
          <p:cNvPr id="15" name="source-index-rule-6">
            <a:extLst xmlns:a="http://schemas.openxmlformats.org/drawingml/2006/main">
              <a:ext uri="{FF2B5EF4-FFF2-40B4-BE49-F238E27FC236}">
                <a16:creationId xmlns:a16="http://schemas.microsoft.com/office/drawing/2014/main" id="{B9BA3F62-8AA6-4D47-8633-B5B31026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ource-index-6">
            <a:extLst xmlns:a="http://schemas.openxmlformats.org/drawingml/2006/main">
              <a:ext uri="{FF2B5EF4-FFF2-40B4-BE49-F238E27FC236}">
                <a16:creationId xmlns:a16="http://schemas.microsoft.com/office/drawing/2014/main" id="{BB350846-53EE-49E2-B015-9A241582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958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[6] Anthropic · Agent Skills · 2025</a:t>
            </a:r>
          </a:p>
        </p:txBody>
      </p:sp>
      <p:sp>
        <p:nvSpPr>
          <p:cNvPr id="17" name="source-index-rule-7">
            <a:extLst xmlns:a="http://schemas.openxmlformats.org/drawingml/2006/main">
              <a:ext uri="{FF2B5EF4-FFF2-40B4-BE49-F238E27FC236}">
                <a16:creationId xmlns:a16="http://schemas.microsoft.com/office/drawing/2014/main" id="{2E09BC32-C5E8-4E28-A8B7-7F1B30A2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ource-index-7">
            <a:extLst xmlns:a="http://schemas.openxmlformats.org/drawingml/2006/main">
              <a:ext uri="{FF2B5EF4-FFF2-40B4-BE49-F238E27FC236}">
                <a16:creationId xmlns:a16="http://schemas.microsoft.com/office/drawing/2014/main" id="{9B9F7897-1439-41C0-9C9E-1D3BFD85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578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[7] OpenAI · Introducing Codex · 2025</a:t>
            </a:r>
          </a:p>
        </p:txBody>
      </p:sp>
      <p:sp>
        <p:nvSpPr>
          <p:cNvPr id="19" name="source-index-rule-8">
            <a:extLst xmlns:a="http://schemas.openxmlformats.org/drawingml/2006/main">
              <a:ext uri="{FF2B5EF4-FFF2-40B4-BE49-F238E27FC236}">
                <a16:creationId xmlns:a16="http://schemas.microsoft.com/office/drawing/2014/main" id="{DF38905E-D416-42AE-8DCC-99688C1E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907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ource-index-8">
            <a:extLst xmlns:a="http://schemas.openxmlformats.org/drawingml/2006/main">
              <a:ext uri="{FF2B5EF4-FFF2-40B4-BE49-F238E27FC236}">
                <a16:creationId xmlns:a16="http://schemas.microsoft.com/office/drawing/2014/main" id="{C22C90BE-482C-4F6C-AC9D-8B8ACF1D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859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[8] OpenAI · Agents transforming work · 2026</a:t>
            </a:r>
          </a:p>
        </p:txBody>
      </p:sp>
      <p:sp>
        <p:nvSpPr>
          <p:cNvPr id="21" name="source-index-rule-9">
            <a:extLst xmlns:a="http://schemas.openxmlformats.org/drawingml/2006/main">
              <a:ext uri="{FF2B5EF4-FFF2-40B4-BE49-F238E27FC236}">
                <a16:creationId xmlns:a16="http://schemas.microsoft.com/office/drawing/2014/main" id="{9F0C36CA-A431-48BA-9E6E-1F2BCC94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527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ource-index-9">
            <a:extLst xmlns:a="http://schemas.openxmlformats.org/drawingml/2006/main">
              <a:ext uri="{FF2B5EF4-FFF2-40B4-BE49-F238E27FC236}">
                <a16:creationId xmlns:a16="http://schemas.microsoft.com/office/drawing/2014/main" id="{5C20B100-5F6F-442B-ADBC-558FFC0D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479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[9] Anthropic · Long-running harnesses · 2025</a:t>
            </a:r>
          </a:p>
        </p:txBody>
      </p:sp>
      <p:sp>
        <p:nvSpPr>
          <p:cNvPr id="23" name="source-index-rule-10">
            <a:extLst xmlns:a="http://schemas.openxmlformats.org/drawingml/2006/main">
              <a:ext uri="{FF2B5EF4-FFF2-40B4-BE49-F238E27FC236}">
                <a16:creationId xmlns:a16="http://schemas.microsoft.com/office/drawing/2014/main" id="{F5432906-E5D0-4AA8-8247-B34097A7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146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ource-index-10">
            <a:extLst xmlns:a="http://schemas.openxmlformats.org/drawingml/2006/main">
              <a:ext uri="{FF2B5EF4-FFF2-40B4-BE49-F238E27FC236}">
                <a16:creationId xmlns:a16="http://schemas.microsoft.com/office/drawing/2014/main" id="{6E0C194A-BE31-48BB-BE4D-A4234875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099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[10] OpenAI · GPT-4.1 context · 2025</a:t>
            </a:r>
          </a:p>
        </p:txBody>
      </p:sp>
      <p:sp>
        <p:nvSpPr>
          <p:cNvPr id="25" name="source-index-rule-11">
            <a:extLst xmlns:a="http://schemas.openxmlformats.org/drawingml/2006/main">
              <a:ext uri="{FF2B5EF4-FFF2-40B4-BE49-F238E27FC236}">
                <a16:creationId xmlns:a16="http://schemas.microsoft.com/office/drawing/2014/main" id="{CC5B5768-32E5-4E00-B897-27671557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766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ource-index-11">
            <a:extLst xmlns:a="http://schemas.openxmlformats.org/drawingml/2006/main">
              <a:ext uri="{FF2B5EF4-FFF2-40B4-BE49-F238E27FC236}">
                <a16:creationId xmlns:a16="http://schemas.microsoft.com/office/drawing/2014/main" id="{A8E6E833-F217-473B-AF13-51F8DCBC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7187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[11] Anthropic · Context engineering · 2025</a:t>
            </a:r>
          </a:p>
        </p:txBody>
      </p:sp>
      <p:sp>
        <p:nvSpPr>
          <p:cNvPr id="27" name="source-index-rule-12">
            <a:extLst xmlns:a="http://schemas.openxmlformats.org/drawingml/2006/main">
              <a:ext uri="{FF2B5EF4-FFF2-40B4-BE49-F238E27FC236}">
                <a16:creationId xmlns:a16="http://schemas.microsoft.com/office/drawing/2014/main" id="{183CEFF4-C3C5-4418-95E6-B45C1741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386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ource-index-12">
            <a:extLst xmlns:a="http://schemas.openxmlformats.org/drawingml/2006/main">
              <a:ext uri="{FF2B5EF4-FFF2-40B4-BE49-F238E27FC236}">
                <a16:creationId xmlns:a16="http://schemas.microsoft.com/office/drawing/2014/main" id="{5E54886B-227A-43D5-8045-D429C7C8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338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[12] METR · Task-completion time horizons · 2026</a:t>
            </a:r>
          </a:p>
        </p:txBody>
      </p:sp>
      <p:sp>
        <p:nvSpPr>
          <p:cNvPr id="29" name="source-index-rule-13">
            <a:extLst xmlns:a="http://schemas.openxmlformats.org/drawingml/2006/main">
              <a:ext uri="{FF2B5EF4-FFF2-40B4-BE49-F238E27FC236}">
                <a16:creationId xmlns:a16="http://schemas.microsoft.com/office/drawing/2014/main" id="{2D4FE7F1-3CF8-402E-9BE0-53951C5E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006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2C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ource-index-13">
            <a:extLst xmlns:a="http://schemas.openxmlformats.org/drawingml/2006/main">
              <a:ext uri="{FF2B5EF4-FFF2-40B4-BE49-F238E27FC236}">
                <a16:creationId xmlns:a16="http://schemas.microsoft.com/office/drawing/2014/main" id="{EB91524F-7554-43BD-B035-E419ED3F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958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[13] mdkg · Public Alpha Contract</a:t>
            </a:r>
          </a:p>
        </p:txBody>
      </p:sp>
      <p:sp>
        <p:nvSpPr>
          <p:cNvPr id="31" name="source-index-rule-14">
            <a:extLst xmlns:a="http://schemas.openxmlformats.org/drawingml/2006/main">
              <a:ext uri="{FF2B5EF4-FFF2-40B4-BE49-F238E27FC236}">
                <a16:creationId xmlns:a16="http://schemas.microsoft.com/office/drawing/2014/main" id="{AEEBC39D-159A-44DC-9B5D-B2AADA15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6257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ource-index-14">
            <a:extLst xmlns:a="http://schemas.openxmlformats.org/drawingml/2006/main">
              <a:ext uri="{FF2B5EF4-FFF2-40B4-BE49-F238E27FC236}">
                <a16:creationId xmlns:a16="http://schemas.microsoft.com/office/drawing/2014/main" id="{3792FB87-25D8-4F7C-8678-8634DA22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263A"/>
                </a:solidFill>
              </a:defRPr>
            </a:pPr>
            <a:r>
              <a:rPr sz="1200" b="1">
                <a:solidFill>
                  <a:srgbClr val="08263A"/>
                </a:solidFill>
              </a:rPr>
              <a:t>[14] mdkg · Plan → Work → Evidence source</a:t>
            </a:r>
          </a:p>
        </p:txBody>
      </p:sp>
      <p:sp>
        <p:nvSpPr>
          <p:cNvPr id="33" name="footer-line-20">
            <a:extLst xmlns:a="http://schemas.openxmlformats.org/drawingml/2006/main">
              <a:ext uri="{FF2B5EF4-FFF2-40B4-BE49-F238E27FC236}">
                <a16:creationId xmlns:a16="http://schemas.microsoft.com/office/drawing/2014/main" id="{A1AA7402-CAA2-4B3E-A4C5-CC46675C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3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ource-20">
            <a:extLst xmlns:a="http://schemas.openxmlformats.org/drawingml/2006/main">
              <a:ext uri="{FF2B5EF4-FFF2-40B4-BE49-F238E27FC236}">
                <a16:creationId xmlns:a16="http://schemas.microsoft.com/office/drawing/2014/main" id="{CC228161-3F56-4884-96C9-1F77FE40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95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6566A"/>
                </a:solidFill>
              </a:defRPr>
            </a:pPr>
            <a:r>
              <a:rPr sz="1200" b="0">
                <a:solidFill>
                  <a:srgbClr val="36566A"/>
                </a:solidFill>
              </a:rPr>
              <a:t>Full URLs and claim limitations are retained in speaker notes.</a:t>
            </a:r>
          </a:p>
        </p:txBody>
      </p:sp>
      <p:sp>
        <p:nvSpPr>
          <p:cNvPr id="35" name="folio-20">
            <a:extLst xmlns:a="http://schemas.openxmlformats.org/drawingml/2006/main">
              <a:ext uri="{FF2B5EF4-FFF2-40B4-BE49-F238E27FC236}">
                <a16:creationId xmlns:a16="http://schemas.microsoft.com/office/drawing/2014/main" id="{372CE271-125C-48C7-92F5-24FC8FC7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36566A"/>
                </a:solidFill>
              </a:defRPr>
            </a:pPr>
            <a:r>
              <a:rPr sz="1200" b="1">
                <a:solidFill>
                  <a:srgbClr val="36566A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0008406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09550" dist="76200" dir="5400000">
              <a:srgbClr val="08263A">
                <a:alpha val="14000"/>
              </a:srgbClr>
            </a:outerShdw>
          </a:effectLst>
        </a:effectStyle>
        <a:effectStyle>
          <a:effectLst>
            <a:outerShdw blurRad="171450" dist="57150" dir="5400000">
              <a:srgbClr val="08263A">
                <a:alpha val="8000"/>
              </a:srgbClr>
            </a:outerShdw>
          </a:effectLst>
        </a:effectStyle>
        <a:effectStyle>
          <a:effectLst>
            <a:outerShdw blurRad="152400" dist="47625" dir="5400000">
              <a:srgbClr val="08263A">
                <a:alpha val="8000"/>
              </a:srgbClr>
            </a:outerShdw>
          </a:effectLst>
        </a:effectStyle>
        <a:effectStyle>
          <a:effectLst>
            <a:outerShdw blurRad="209550" dist="76200" dir="5400000">
              <a:srgbClr val="08263A">
                <a:alpha val="16000"/>
              </a:srgbClr>
            </a:outerShdw>
          </a:effectLst>
        </a:effectStyle>
        <a:effectStyle>
          <a:effectLst>
            <a:outerShdw blurRad="209550" dist="76200" dir="5400000">
              <a:srgbClr val="08263A">
                <a:alpha val="10000"/>
              </a:srgbClr>
            </a:outerShdw>
          </a:effectLst>
        </a:effectStyle>
        <a:effectStyle>
          <a:effectLst>
            <a:outerShdw blurRad="209550" dist="76200" dir="5400000">
              <a:srgbClr val="005B57">
                <a:alpha val="15000"/>
              </a:srgbClr>
            </a:outerShdw>
          </a:effectLst>
        </a:effectStyle>
        <a:effectStyle>
          <a:effectLst>
            <a:outerShdw blurRad="209550" dist="76200" dir="5400000">
              <a:srgbClr val="00566D">
                <a:alpha val="10000"/>
              </a:srgbClr>
            </a:outerShdw>
          </a:effectLst>
        </a:effectStyle>
        <a:effectStyle>
          <a:effectLst>
            <a:outerShdw blurRad="209550" dist="76200" dir="5400000">
              <a:srgbClr val="005B57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5B57">
                <a:alpha val="8000"/>
              </a:srgbClr>
            </a:outerShdw>
          </a:effectLst>
        </a:effectStyle>
        <a:effectStyle>
          <a:effectLst>
            <a:outerShdw blurRad="228600" dist="76200" dir="5400000">
              <a:srgbClr val="00566D">
                <a:alpha val="10000"/>
              </a:srgbClr>
            </a:outerShdw>
          </a:effectLst>
        </a:effectStyle>
        <a:effectStyle>
          <a:effectLst>
            <a:outerShdw blurRad="228600" dist="76200" dir="5400000">
              <a:srgbClr val="005B57">
                <a:alpha val="18000"/>
              </a:srgbClr>
            </a:outerShdw>
          </a:effectLst>
        </a:effectStyle>
        <a:effectStyle>
          <a:effectLst>
            <a:outerShdw blurRad="171450" dist="57150" dir="5400000">
              <a:srgbClr val="00566D">
                <a:alpha val="8000"/>
              </a:srgbClr>
            </a:outerShdw>
          </a:effectLst>
        </a:effectStyle>
        <a:effectStyle>
          <a:effectLst>
            <a:outerShdw blurRad="228600" dist="76200" dir="5400000">
              <a:srgbClr val="005B57">
                <a:alpha val="12000"/>
              </a:srgbClr>
            </a:outerShdw>
          </a:effectLst>
        </a:effectStyle>
        <a:effectStyle>
          <a:effectLst>
            <a:outerShdw blurRad="190500" dist="76200" dir="5400000">
              <a:srgbClr val="08263A">
                <a:alpha val="10000"/>
              </a:srgbClr>
            </a:outerShdw>
          </a:effectLst>
        </a:effectStyle>
        <a:effectStyle>
          <a:effectLst>
            <a:outerShdw blurRad="190500" dist="66675" dir="5400000">
              <a:srgbClr val="005B57">
                <a:alpha val="14000"/>
              </a:srgbClr>
            </a:outerShdw>
          </a:effectLst>
        </a:effectStyle>
        <a:effectStyle>
          <a:effectLst>
            <a:outerShdw blurRad="171450" dist="57150" dir="5400000">
              <a:srgbClr val="00566D">
                <a:alpha val="9000"/>
              </a:srgbClr>
            </a:outerShdw>
          </a:effectLst>
        </a:effectStyle>
        <a:effectStyle>
          <a:effectLst>
            <a:outerShdw blurRad="171450" dist="57150" dir="5400000">
              <a:srgbClr val="08263A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2026-07-27T16:24:48.7960000Z</dcterms:created>
  <dcterms:modified xsi:type="dcterms:W3CDTF">2026-07-27T16:24:48.7960000Z</dcterms:modified>
</coreProperties>
</file>