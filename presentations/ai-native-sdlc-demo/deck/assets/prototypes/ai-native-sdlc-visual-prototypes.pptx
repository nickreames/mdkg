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30cb93229f4b3e" /><Relationship Type="http://schemas.openxmlformats.org/officeDocument/2006/relationships/extended-properties" Target="/docProps/app.xml" Id="R836786c7faf544ac" /><Relationship Type="http://schemas.openxmlformats.org/officeDocument/2006/relationships/officeDocument" Target="/ppt/presentation.xml" Id="Rd00f1880349347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1802f01b24e32"/>
  </p:sldMasterIdLst>
  <p:notesMasterIdLst>
    <p:notesMasterId xmlns:r="http://schemas.openxmlformats.org/officeDocument/2006/relationships" r:id="Rdc0f4c342cb84b75"/>
  </p:notesMasterIdLst>
  <p:sldIdLst>
    <p:sldId xmlns:r="http://schemas.openxmlformats.org/officeDocument/2006/relationships" id="256" r:id="Rd65f3e30db654dda"/>
    <p:sldId xmlns:r="http://schemas.openxmlformats.org/officeDocument/2006/relationships" id="257" r:id="R0c748c10aeca44c8"/>
    <p:sldId xmlns:r="http://schemas.openxmlformats.org/officeDocument/2006/relationships" id="258" r:id="Rf7c44c95f30b4e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597721decd42d9" /><Relationship Type="http://schemas.openxmlformats.org/officeDocument/2006/relationships/slideMaster" Target="/ppt/slideMasters/slideMaster1.xml" Id="Rf4a1802f01b24e32" /><Relationship Type="http://schemas.openxmlformats.org/officeDocument/2006/relationships/notesMaster" Target="/ppt/notesMasters/notesMaster1.xml" Id="Rdc0f4c342cb84b75" /><Relationship Type="http://schemas.openxmlformats.org/officeDocument/2006/relationships/presProps" Target="/ppt/presProps.xml" Id="R99d4d21a05bb4ede" /><Relationship Type="http://schemas.openxmlformats.org/officeDocument/2006/relationships/tableStyles" Target="/ppt/tableStyles.xml" Id="R4fe74aa474454cb9" /><Relationship Type="http://schemas.openxmlformats.org/officeDocument/2006/relationships/slide" Target="/ppt/slides/slide1.xml" Id="Rd65f3e30db654dda" /><Relationship Type="http://schemas.openxmlformats.org/officeDocument/2006/relationships/slide" Target="/ppt/slides/slide2.xml" Id="R0c748c10aeca44c8" /><Relationship Type="http://schemas.openxmlformats.org/officeDocument/2006/relationships/slide" Target="/ppt/slides/slide3.xml" Id="Rf7c44c95f30b4e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6f38adc12742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0" dir="0">
              <a:srgbClr val="3EDBFF">
                <a:alpha val="35000"/>
              </a:srgbClr>
            </a:outerShdw>
          </a:effectLst>
        </a:effectStyle>
        <a:effectStyle>
          <a:effectLst>
            <a:outerShdw blurRad="171450" dist="47625" dir="5400000">
              <a:srgbClr val="13C7B3">
                <a:alpha val="25000"/>
              </a:srgbClr>
            </a:outerShdw>
          </a:effectLst>
        </a:effectStyle>
        <a:effectStyle>
          <a:effectLst>
            <a:outerShdw blurRad="190500" dist="76200" dir="5400000">
              <a:srgbClr val="000000">
                <a:alpha val="18000"/>
              </a:srgbClr>
            </a:outerShdw>
          </a:effectLst>
        </a:effectStyle>
        <a:effectStyle>
          <a:effectLst>
            <a:outerShdw blurRad="209550" dist="76200" dir="5400000">
              <a:srgbClr val="13C7B3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5f22335a604705" /><Relationship Type="http://schemas.openxmlformats.org/officeDocument/2006/relationships/notesMaster" Target="/ppt/notesMasters/notesMaster1.xml" Id="Ra37df2dcb1a244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03ded639204984" /><Relationship Type="http://schemas.openxmlformats.org/officeDocument/2006/relationships/notesMaster" Target="/ppt/notesMasters/notesMaster1.xml" Id="R5254e13bbf994e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ba2ee1cda2491e" /><Relationship Type="http://schemas.openxmlformats.org/officeDocument/2006/relationships/notesMaster" Target="/ppt/notesMasters/notesMaster1.xml" Id="R6c74cb645c1c4d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show a loose, overlapping progression from line completion to bounded goals.</a:t>
            </a:r>
          </a:p>
          <a:p xmlns:a="http://schemas.openxmlformats.org/drawingml/2006/main">
            <a:r>
              <a:t>Call out that capabilities accumulate; this is not a strict product chronology.</a:t>
            </a:r>
          </a:p>
          <a:p xmlns:a="http://schemas.openxmlformats.org/drawingml/2006/main">
            <a:r>
              <a:t>Mandatory caveat: an eight-hour benchmark or human-equivalent task horizon is not eight hours of elapsed agent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https://github.blog/news-insights/product-news/introducing-github-copilot-ai-pair-programmer/</a:t>
            </a:r>
          </a:p>
          <a:p xmlns:a="http://schemas.openxmlformats.org/drawingml/2006/main">
            <a:r>
              <a:t>[2] https://openai.com/index/chatgpt/</a:t>
            </a:r>
          </a:p>
          <a:p xmlns:a="http://schemas.openxmlformats.org/drawingml/2006/main">
            <a:r>
              <a:t>[3] https://openai.com/index/learning-to-reason-with-llms/</a:t>
            </a:r>
          </a:p>
          <a:p xmlns:a="http://schemas.openxmlformats.org/drawingml/2006/main">
            <a:r>
              <a:t>[4] https://www.anthropic.com/news/claude-3-7-sonnet</a:t>
            </a:r>
          </a:p>
          <a:p xmlns:a="http://schemas.openxmlformats.org/drawingml/2006/main">
            <a:r>
              <a:t>[5] https://docs.cursor.com/en/agent/overview</a:t>
            </a:r>
          </a:p>
          <a:p xmlns:a="http://schemas.openxmlformats.org/drawingml/2006/main">
            <a:r>
              <a:t>[6] https://www.anthropic.com/engineering/equipping-agents-for-the-real-world-with-agent-skills</a:t>
            </a:r>
          </a:p>
          <a:p xmlns:a="http://schemas.openxmlformats.org/drawingml/2006/main">
            <a:r>
              <a:t>[7] https://openai.com/index/introducing-codex/</a:t>
            </a:r>
          </a:p>
          <a:p xmlns:a="http://schemas.openxmlformats.org/drawingml/2006/main">
            <a:r>
              <a:t>[8] https://openai.com/index/how-agents-are-transforming-work/</a:t>
            </a:r>
          </a:p>
          <a:p xmlns:a="http://schemas.openxmlformats.org/drawingml/2006/main">
            <a:r>
              <a:t>[9] https://www.anthropic.com/engineering/effective-harnesses-for-long-running-agents</a:t>
            </a:r>
          </a:p>
          <a:p xmlns:a="http://schemas.openxmlformats.org/drawingml/2006/main">
            <a:r>
              <a:t>[10] https://openai.com/index/gpt-4-1/</a:t>
            </a:r>
          </a:p>
          <a:p xmlns:a="http://schemas.openxmlformats.org/drawingml/2006/main">
            <a:r>
              <a:t>[11] https://www.anthropic.com/engineering/effective-context-engineering-for-ai-agents</a:t>
            </a:r>
          </a:p>
          <a:p xmlns:a="http://schemas.openxmlformats.org/drawingml/2006/main">
            <a:r>
              <a:t>[12] https://metr.org/time-horizons/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introduce the smallest memorable mdkg operating model.</a:t>
            </a:r>
          </a:p>
          <a:p xmlns:a="http://schemas.openxmlformats.org/drawingml/2006/main">
            <a:r>
              <a:t>Primary claim: dependable agentic work connects an explicit plan to bounded execution and inspectable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[14] https://github.com/nickreames/mdkg/blob/580be1e6efffe852e9996186e85e2bcbcd3e3e3b/mdkg-dev/src/pages/index.astro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prepare the audience to read the reveal as source-to-execution proof, without teaching graph mechanics.</a:t>
            </a:r>
          </a:p>
          <a:p xmlns:a="http://schemas.openxmlformats.org/drawingml/2006/main">
            <a:r>
              <a:t>This prototype is an illustrative structure only. It is not evidence that Demo 2 or Demo 3 exists.</a:t>
            </a:r>
          </a:p>
          <a:p xmlns:a="http://schemas.openxmlformats.org/drawingml/2006/main">
            <a:r>
              <a:t>Speaker cue: read this as a reusable starting specification becoming a specific, executed specification.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 architecture contract: presentations/ai-native-sdlc-demo/.mdkg/design/edd-1-ai-native-sdlc-presentation-demo-program-architecture-and-execution.md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f76a50a1c42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b40e8fb08c4839" /><Relationship Type="http://schemas.openxmlformats.org/officeDocument/2006/relationships/slideLayout" Target="/ppt/slideLayouts/slideLayout1.xml" Id="Rb02e7b8c843643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e7b8c843643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0" dir="0">
              <a:srgbClr val="3EDBFF">
                <a:alpha val="35000"/>
              </a:srgbClr>
            </a:outerShdw>
          </a:effectLst>
        </a:effectStyle>
        <a:effectStyle>
          <a:effectLst>
            <a:outerShdw blurRad="171450" dist="47625" dir="5400000">
              <a:srgbClr val="13C7B3">
                <a:alpha val="25000"/>
              </a:srgbClr>
            </a:outerShdw>
          </a:effectLst>
        </a:effectStyle>
        <a:effectStyle>
          <a:effectLst>
            <a:outerShdw blurRad="190500" dist="76200" dir="5400000">
              <a:srgbClr val="000000">
                <a:alpha val="18000"/>
              </a:srgbClr>
            </a:outerShdw>
          </a:effectLst>
        </a:effectStyle>
        <a:effectStyle>
          <a:effectLst>
            <a:outerShdw blurRad="209550" dist="76200" dir="5400000">
              <a:srgbClr val="13C7B3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732fea01d4137" /><Relationship Type="http://schemas.openxmlformats.org/officeDocument/2006/relationships/notesSlide" Target="/ppt/notesSlides/notesSlide1.xml" Id="R79c25030f16042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773eae1ea467e" /><Relationship Type="http://schemas.openxmlformats.org/officeDocument/2006/relationships/notesSlide" Target="/ppt/notesSlides/notesSlide2.xml" Id="Rb9dcc73677af49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967524d454ca3" /><Relationship Type="http://schemas.openxmlformats.org/officeDocument/2006/relationships/notesSlide" Target="/ppt/notesSlides/notesSlide3.xml" Id="Rba6e7846f55b40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-1">
            <a:extLst xmlns:a="http://schemas.openxmlformats.org/drawingml/2006/main">
              <a:ext uri="{FF2B5EF4-FFF2-40B4-BE49-F238E27FC236}">
                <a16:creationId xmlns:a16="http://schemas.microsoft.com/office/drawing/2014/main" id="{99964A58-814F-4C71-9F46-74CE05BD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C7B3"/>
                </a:solidFill>
              </a:defRPr>
            </a:pPr>
            <a:r>
              <a:rPr sz="1200" b="1">
                <a:solidFill>
                  <a:srgbClr val="13C7B3"/>
                </a:solidFill>
              </a:rPr>
              <a:t>CAPABILITY PROGRESSION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20381078-0610-46B0-AE40-0ACD6470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B"/>
                </a:solidFill>
              </a:defRPr>
            </a:pPr>
            <a:r>
              <a:rPr sz="2850" b="1">
                <a:solidFill>
                  <a:srgbClr val="F4F8FB"/>
                </a:solidFill>
              </a:rPr>
              <a:t>The unit of coding work kept expanding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73D5DB5D-4EE2-42DF-82E9-1453C4C0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D4E1"/>
                </a:solidFill>
              </a:defRPr>
            </a:pPr>
            <a:r>
              <a:rPr sz="1350" b="0">
                <a:solidFill>
                  <a:srgbClr val="C2D4E1"/>
                </a:solidFill>
              </a:rPr>
              <a:t>Capabilities accumulated. Product dates overlap; each stage adds reach without deleting the previous one.</a:t>
            </a:r>
          </a:p>
        </p:txBody>
      </p:sp>
      <p:sp>
        <p:nvSpPr>
          <p:cNvPr id="4" name="timeline-current">
            <a:extLst xmlns:a="http://schemas.openxmlformats.org/drawingml/2006/main">
              <a:ext uri="{FF2B5EF4-FFF2-40B4-BE49-F238E27FC236}">
                <a16:creationId xmlns:a16="http://schemas.microsoft.com/office/drawing/2014/main" id="{62E25289-086A-48FC-A5F1-FCC2A654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10306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DB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timeline-arrow">
            <a:extLst xmlns:a="http://schemas.openxmlformats.org/drawingml/2006/main">
              <a:ext uri="{FF2B5EF4-FFF2-40B4-BE49-F238E27FC236}">
                <a16:creationId xmlns:a16="http://schemas.microsoft.com/office/drawing/2014/main" id="{BDDE6EF6-CE4F-4CDB-9266-8F6C458A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200400"/>
            <a:ext cx="609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D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card-1">
            <a:extLst xmlns:a="http://schemas.openxmlformats.org/drawingml/2006/main">
              <a:ext uri="{FF2B5EF4-FFF2-40B4-BE49-F238E27FC236}">
                <a16:creationId xmlns:a16="http://schemas.microsoft.com/office/drawing/2014/main" id="{2FAB7069-A99B-4F37-A768-43CD460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16764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B2236"/>
          </a:solidFill>
          <a:ln xmlns:a="http://schemas.openxmlformats.org/drawingml/2006/main" w="9525">
            <a:solidFill>
              <a:srgbClr val="234A63"/>
            </a:solidFill>
            <a:prstDash val="solid"/>
          </a:ln>
        </p:spPr>
      </p:sp>
      <p:sp>
        <p:nvSpPr>
          <p:cNvPr id="7" name="stage-date-1">
            <a:extLst xmlns:a="http://schemas.openxmlformats.org/drawingml/2006/main">
              <a:ext uri="{FF2B5EF4-FFF2-40B4-BE49-F238E27FC236}">
                <a16:creationId xmlns:a16="http://schemas.microsoft.com/office/drawing/2014/main" id="{49E2AC8C-732B-440C-BDF1-8A4280AD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C7B3"/>
                </a:solidFill>
              </a:defRPr>
            </a:pPr>
            <a:r>
              <a:rPr sz="1050" b="1">
                <a:solidFill>
                  <a:srgbClr val="13C7B3"/>
                </a:solidFill>
              </a:rPr>
              <a:t>2021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A8B5E7A2-DD50-48C2-9B54-13392E12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AUTOCOMPLETE</a:t>
            </a:r>
          </a:p>
        </p:txBody>
      </p:sp>
      <p:sp>
        <p:nvSpPr>
          <p:cNvPr id="9" name="stage-product-1">
            <a:extLst xmlns:a="http://schemas.openxmlformats.org/drawingml/2006/main">
              <a:ext uri="{FF2B5EF4-FFF2-40B4-BE49-F238E27FC236}">
                <a16:creationId xmlns:a16="http://schemas.microsoft.com/office/drawing/2014/main" id="{0D79767C-8334-465F-9B76-39C1D5C4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2B5"/>
                </a:solidFill>
              </a:defRPr>
            </a:pPr>
            <a:r>
              <a:rPr sz="975" b="0">
                <a:solidFill>
                  <a:srgbClr val="86A2B5"/>
                </a:solidFill>
              </a:rPr>
              <a:t>GitHub Copilot</a:t>
            </a:r>
          </a:p>
        </p:txBody>
      </p:sp>
      <p:sp>
        <p:nvSpPr>
          <p:cNvPr id="10" name="stage-connector-1">
            <a:extLst xmlns:a="http://schemas.openxmlformats.org/drawingml/2006/main">
              <a:ext uri="{FF2B5EF4-FFF2-40B4-BE49-F238E27FC236}">
                <a16:creationId xmlns:a16="http://schemas.microsoft.com/office/drawing/2014/main" id="{FB1A19EF-68F6-495C-82FC-666D9A78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38475"/>
            <a:ext cx="285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dot-1">
            <a:extLst xmlns:a="http://schemas.openxmlformats.org/drawingml/2006/main">
              <a:ext uri="{FF2B5EF4-FFF2-40B4-BE49-F238E27FC236}">
                <a16:creationId xmlns:a16="http://schemas.microsoft.com/office/drawing/2014/main" id="{0EB03D44-952E-479B-BCC4-8AB0F56D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DBFF"/>
          </a:solidFill>
          <a:ln xmlns:a="http://schemas.openxmlformats.org/drawingml/2006/main" w="9525">
            <a:solidFill>
              <a:srgbClr val="061A2C"/>
            </a:solidFill>
            <a:prstDash val="solid"/>
          </a:ln>
        </p:spPr>
      </p:sp>
      <p:sp>
        <p:nvSpPr>
          <p:cNvPr id="12" name="stage-card-2">
            <a:extLst xmlns:a="http://schemas.openxmlformats.org/drawingml/2006/main">
              <a:ext uri="{FF2B5EF4-FFF2-40B4-BE49-F238E27FC236}">
                <a16:creationId xmlns:a16="http://schemas.microsoft.com/office/drawing/2014/main" id="{03708F3C-986E-4706-A908-9C57E70E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29050"/>
            <a:ext cx="16764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B2236"/>
          </a:solidFill>
          <a:ln xmlns:a="http://schemas.openxmlformats.org/drawingml/2006/main" w="9525">
            <a:solidFill>
              <a:srgbClr val="234A63"/>
            </a:solidFill>
            <a:prstDash val="solid"/>
          </a:ln>
        </p:spPr>
      </p:sp>
      <p:sp>
        <p:nvSpPr>
          <p:cNvPr id="13" name="stage-date-2">
            <a:extLst xmlns:a="http://schemas.openxmlformats.org/drawingml/2006/main">
              <a:ext uri="{FF2B5EF4-FFF2-40B4-BE49-F238E27FC236}">
                <a16:creationId xmlns:a16="http://schemas.microsoft.com/office/drawing/2014/main" id="{C5DBECA5-AC98-46C1-A2CA-34D0D10A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624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C7B3"/>
                </a:solidFill>
              </a:defRPr>
            </a:pPr>
            <a:r>
              <a:rPr sz="1050" b="1">
                <a:solidFill>
                  <a:srgbClr val="13C7B3"/>
                </a:solidFill>
              </a:rPr>
              <a:t>2022</a:t>
            </a:r>
          </a:p>
        </p:txBody>
      </p:sp>
      <p:sp>
        <p:nvSpPr>
          <p:cNvPr id="14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B611224A-AEEB-40E6-A503-0B6D6882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PROMPT</a:t>
            </a:r>
          </a:p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ENGINEERING</a:t>
            </a:r>
          </a:p>
        </p:txBody>
      </p:sp>
      <p:sp>
        <p:nvSpPr>
          <p:cNvPr id="15" name="stage-product-2">
            <a:extLst xmlns:a="http://schemas.openxmlformats.org/drawingml/2006/main">
              <a:ext uri="{FF2B5EF4-FFF2-40B4-BE49-F238E27FC236}">
                <a16:creationId xmlns:a16="http://schemas.microsoft.com/office/drawing/2014/main" id="{4CFDAF9A-5E47-4A79-9E0A-5D228C12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57725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2B5"/>
                </a:solidFill>
              </a:defRPr>
            </a:pPr>
            <a:r>
              <a:rPr sz="975" b="0">
                <a:solidFill>
                  <a:srgbClr val="86A2B5"/>
                </a:solidFill>
              </a:rPr>
              <a:t>ChatGPT</a:t>
            </a:r>
          </a:p>
        </p:txBody>
      </p:sp>
      <p:sp>
        <p:nvSpPr>
          <p:cNvPr id="16" name="stage-connector-2">
            <a:extLst xmlns:a="http://schemas.openxmlformats.org/drawingml/2006/main">
              <a:ext uri="{FF2B5EF4-FFF2-40B4-BE49-F238E27FC236}">
                <a16:creationId xmlns:a16="http://schemas.microsoft.com/office/drawing/2014/main" id="{55D53DE6-B055-4432-B56A-2516664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09950"/>
            <a:ext cx="28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ge-dot-2">
            <a:extLst xmlns:a="http://schemas.openxmlformats.org/drawingml/2006/main">
              <a:ext uri="{FF2B5EF4-FFF2-40B4-BE49-F238E27FC236}">
                <a16:creationId xmlns:a16="http://schemas.microsoft.com/office/drawing/2014/main" id="{C87D0FC6-AD1C-425B-B171-6546F04C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38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DBFF"/>
          </a:solidFill>
          <a:ln xmlns:a="http://schemas.openxmlformats.org/drawingml/2006/main" w="9525">
            <a:solidFill>
              <a:srgbClr val="061A2C"/>
            </a:solidFill>
            <a:prstDash val="solid"/>
          </a:ln>
        </p:spPr>
      </p:sp>
      <p:sp>
        <p:nvSpPr>
          <p:cNvPr id="18" name="stage-card-3">
            <a:extLst xmlns:a="http://schemas.openxmlformats.org/drawingml/2006/main">
              <a:ext uri="{FF2B5EF4-FFF2-40B4-BE49-F238E27FC236}">
                <a16:creationId xmlns:a16="http://schemas.microsoft.com/office/drawing/2014/main" id="{93D6D060-E9B7-405E-8AE0-24CA3E7F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71675"/>
            <a:ext cx="16764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B2236"/>
          </a:solidFill>
          <a:ln xmlns:a="http://schemas.openxmlformats.org/drawingml/2006/main" w="9525">
            <a:solidFill>
              <a:srgbClr val="234A63"/>
            </a:solidFill>
            <a:prstDash val="solid"/>
          </a:ln>
        </p:spPr>
      </p:sp>
      <p:sp>
        <p:nvSpPr>
          <p:cNvPr id="19" name="stage-date-3">
            <a:extLst xmlns:a="http://schemas.openxmlformats.org/drawingml/2006/main">
              <a:ext uri="{FF2B5EF4-FFF2-40B4-BE49-F238E27FC236}">
                <a16:creationId xmlns:a16="http://schemas.microsoft.com/office/drawing/2014/main" id="{BBACFBDB-CA7C-4369-B12A-C4943784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050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C7B3"/>
                </a:solidFill>
              </a:defRPr>
            </a:pPr>
            <a:r>
              <a:rPr sz="1050" b="1">
                <a:solidFill>
                  <a:srgbClr val="13C7B3"/>
                </a:solidFill>
              </a:rPr>
              <a:t>2024</a:t>
            </a:r>
          </a:p>
        </p:txBody>
      </p:sp>
      <p:sp>
        <p:nvSpPr>
          <p:cNvPr id="20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D84D4771-5C0C-47CD-832A-585F63EC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REASONING</a:t>
            </a:r>
          </a:p>
        </p:txBody>
      </p:sp>
      <p:sp>
        <p:nvSpPr>
          <p:cNvPr id="21" name="stage-product-3">
            <a:extLst xmlns:a="http://schemas.openxmlformats.org/drawingml/2006/main">
              <a:ext uri="{FF2B5EF4-FFF2-40B4-BE49-F238E27FC236}">
                <a16:creationId xmlns:a16="http://schemas.microsoft.com/office/drawing/2014/main" id="{F589891C-921F-4B0D-989C-8089E092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2B5"/>
                </a:solidFill>
              </a:defRPr>
            </a:pPr>
            <a:r>
              <a:rPr sz="975" b="0">
                <a:solidFill>
                  <a:srgbClr val="86A2B5"/>
                </a:solidFill>
              </a:rPr>
              <a:t>OpenAI o1</a:t>
            </a:r>
          </a:p>
        </p:txBody>
      </p:sp>
      <p:sp>
        <p:nvSpPr>
          <p:cNvPr id="22" name="stage-connector-3">
            <a:extLst xmlns:a="http://schemas.openxmlformats.org/drawingml/2006/main">
              <a:ext uri="{FF2B5EF4-FFF2-40B4-BE49-F238E27FC236}">
                <a16:creationId xmlns:a16="http://schemas.microsoft.com/office/drawing/2014/main" id="{971EBE08-A436-4E0E-8289-3E0403CE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285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ge-dot-3">
            <a:extLst xmlns:a="http://schemas.openxmlformats.org/drawingml/2006/main">
              <a:ext uri="{FF2B5EF4-FFF2-40B4-BE49-F238E27FC236}">
                <a16:creationId xmlns:a16="http://schemas.microsoft.com/office/drawing/2014/main" id="{7DBA73E6-4002-4733-8D3A-4FC68C1E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DBFF"/>
          </a:solidFill>
          <a:ln xmlns:a="http://schemas.openxmlformats.org/drawingml/2006/main" w="9525">
            <a:solidFill>
              <a:srgbClr val="061A2C"/>
            </a:solidFill>
            <a:prstDash val="solid"/>
          </a:ln>
        </p:spPr>
      </p:sp>
      <p:sp>
        <p:nvSpPr>
          <p:cNvPr id="24" name="stage-card-4">
            <a:extLst xmlns:a="http://schemas.openxmlformats.org/drawingml/2006/main">
              <a:ext uri="{FF2B5EF4-FFF2-40B4-BE49-F238E27FC236}">
                <a16:creationId xmlns:a16="http://schemas.microsoft.com/office/drawing/2014/main" id="{9565849C-8D75-4784-827A-E933686E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16764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B2236"/>
          </a:solidFill>
          <a:ln xmlns:a="http://schemas.openxmlformats.org/drawingml/2006/main" w="9525">
            <a:solidFill>
              <a:srgbClr val="234A63"/>
            </a:solidFill>
            <a:prstDash val="solid"/>
          </a:ln>
        </p:spPr>
      </p:sp>
      <p:sp>
        <p:nvSpPr>
          <p:cNvPr id="25" name="stage-date-4">
            <a:extLst xmlns:a="http://schemas.openxmlformats.org/drawingml/2006/main">
              <a:ext uri="{FF2B5EF4-FFF2-40B4-BE49-F238E27FC236}">
                <a16:creationId xmlns:a16="http://schemas.microsoft.com/office/drawing/2014/main" id="{B9036165-22D3-479B-B4BF-8BEA55BC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624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C7B3"/>
                </a:solidFill>
              </a:defRPr>
            </a:pPr>
            <a:r>
              <a:rPr sz="1050" b="1">
                <a:solidFill>
                  <a:srgbClr val="13C7B3"/>
                </a:solidFill>
              </a:rPr>
              <a:t>2025</a:t>
            </a:r>
          </a:p>
        </p:txBody>
      </p:sp>
      <p:sp>
        <p:nvSpPr>
          <p:cNvPr id="26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CD71280C-580A-428A-B4C4-84B224EF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100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TOOL USE</a:t>
            </a:r>
          </a:p>
        </p:txBody>
      </p:sp>
      <p:sp>
        <p:nvSpPr>
          <p:cNvPr id="27" name="stage-product-4">
            <a:extLst xmlns:a="http://schemas.openxmlformats.org/drawingml/2006/main">
              <a:ext uri="{FF2B5EF4-FFF2-40B4-BE49-F238E27FC236}">
                <a16:creationId xmlns:a16="http://schemas.microsoft.com/office/drawing/2014/main" id="{28922CE4-ACCE-4CB9-91B5-C901984E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57725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2B5"/>
                </a:solidFill>
              </a:defRPr>
            </a:pPr>
            <a:r>
              <a:rPr sz="975" b="0">
                <a:solidFill>
                  <a:srgbClr val="86A2B5"/>
                </a:solidFill>
              </a:rPr>
              <a:t>Claude Code</a:t>
            </a:r>
          </a:p>
        </p:txBody>
      </p:sp>
      <p:sp>
        <p:nvSpPr>
          <p:cNvPr id="28" name="stage-connector-4">
            <a:extLst xmlns:a="http://schemas.openxmlformats.org/drawingml/2006/main">
              <a:ext uri="{FF2B5EF4-FFF2-40B4-BE49-F238E27FC236}">
                <a16:creationId xmlns:a16="http://schemas.microsoft.com/office/drawing/2014/main" id="{85A43B5C-B248-45D5-A829-0EAC4262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09950"/>
            <a:ext cx="28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tage-dot-4">
            <a:extLst xmlns:a="http://schemas.openxmlformats.org/drawingml/2006/main">
              <a:ext uri="{FF2B5EF4-FFF2-40B4-BE49-F238E27FC236}">
                <a16:creationId xmlns:a16="http://schemas.microsoft.com/office/drawing/2014/main" id="{14249738-A75D-40E8-8BBF-88E8E9B0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DBFF"/>
          </a:solidFill>
          <a:ln xmlns:a="http://schemas.openxmlformats.org/drawingml/2006/main" w="9525">
            <a:solidFill>
              <a:srgbClr val="061A2C"/>
            </a:solidFill>
            <a:prstDash val="solid"/>
          </a:ln>
        </p:spPr>
      </p:sp>
      <p:sp>
        <p:nvSpPr>
          <p:cNvPr id="30" name="stage-card-5">
            <a:extLst xmlns:a="http://schemas.openxmlformats.org/drawingml/2006/main">
              <a:ext uri="{FF2B5EF4-FFF2-40B4-BE49-F238E27FC236}">
                <a16:creationId xmlns:a16="http://schemas.microsoft.com/office/drawing/2014/main" id="{369B087B-DAE1-4F6E-86B7-A7A32BCD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71675"/>
            <a:ext cx="16764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B2236"/>
          </a:solidFill>
          <a:ln xmlns:a="http://schemas.openxmlformats.org/drawingml/2006/main" w="9525">
            <a:solidFill>
              <a:srgbClr val="234A63"/>
            </a:solidFill>
            <a:prstDash val="solid"/>
          </a:ln>
        </p:spPr>
      </p:sp>
      <p:sp>
        <p:nvSpPr>
          <p:cNvPr id="31" name="stage-date-5">
            <a:extLst xmlns:a="http://schemas.openxmlformats.org/drawingml/2006/main">
              <a:ext uri="{FF2B5EF4-FFF2-40B4-BE49-F238E27FC236}">
                <a16:creationId xmlns:a16="http://schemas.microsoft.com/office/drawing/2014/main" id="{EB01E641-8C62-40A6-A2D2-A55BB05A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050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C7B3"/>
                </a:solidFill>
              </a:defRPr>
            </a:pPr>
            <a:r>
              <a:rPr sz="1050" b="1">
                <a:solidFill>
                  <a:srgbClr val="13C7B3"/>
                </a:solidFill>
              </a:rPr>
              <a:t>2025</a:t>
            </a:r>
          </a:p>
        </p:txBody>
      </p:sp>
      <p:sp>
        <p:nvSpPr>
          <p:cNvPr id="32" name="stage-label-5">
            <a:extLst xmlns:a="http://schemas.openxmlformats.org/drawingml/2006/main">
              <a:ext uri="{FF2B5EF4-FFF2-40B4-BE49-F238E27FC236}">
                <a16:creationId xmlns:a16="http://schemas.microsoft.com/office/drawing/2014/main" id="{9A38BA73-D54E-42DE-8EFD-B979DDB1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52675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CONDITIONAL</a:t>
            </a:r>
          </a:p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CONTEXT</a:t>
            </a:r>
          </a:p>
        </p:txBody>
      </p:sp>
      <p:sp>
        <p:nvSpPr>
          <p:cNvPr id="33" name="stage-product-5">
            <a:extLst xmlns:a="http://schemas.openxmlformats.org/drawingml/2006/main">
              <a:ext uri="{FF2B5EF4-FFF2-40B4-BE49-F238E27FC236}">
                <a16:creationId xmlns:a16="http://schemas.microsoft.com/office/drawing/2014/main" id="{85F111A9-7799-4A9A-8999-C8B975E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003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2B5"/>
                </a:solidFill>
              </a:defRPr>
            </a:pPr>
            <a:r>
              <a:rPr sz="975" b="0">
                <a:solidFill>
                  <a:srgbClr val="86A2B5"/>
                </a:solidFill>
              </a:rPr>
              <a:t>SKILL.md</a:t>
            </a:r>
          </a:p>
        </p:txBody>
      </p:sp>
      <p:sp>
        <p:nvSpPr>
          <p:cNvPr id="34" name="stage-connector-5">
            <a:extLst xmlns:a="http://schemas.openxmlformats.org/drawingml/2006/main">
              <a:ext uri="{FF2B5EF4-FFF2-40B4-BE49-F238E27FC236}">
                <a16:creationId xmlns:a16="http://schemas.microsoft.com/office/drawing/2014/main" id="{CF66BB3E-4D7F-45D0-AC0C-EAC050AE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38475"/>
            <a:ext cx="285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tage-dot-5">
            <a:extLst xmlns:a="http://schemas.openxmlformats.org/drawingml/2006/main">
              <a:ext uri="{FF2B5EF4-FFF2-40B4-BE49-F238E27FC236}">
                <a16:creationId xmlns:a16="http://schemas.microsoft.com/office/drawing/2014/main" id="{E1DDE227-85E1-47EA-8C04-5FF8AF61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DBFF"/>
          </a:solidFill>
          <a:ln xmlns:a="http://schemas.openxmlformats.org/drawingml/2006/main" w="9525">
            <a:solidFill>
              <a:srgbClr val="061A2C"/>
            </a:solidFill>
            <a:prstDash val="solid"/>
          </a:ln>
        </p:spPr>
      </p:sp>
      <p:sp>
        <p:nvSpPr>
          <p:cNvPr id="36" name="stage-card-6">
            <a:extLst xmlns:a="http://schemas.openxmlformats.org/drawingml/2006/main">
              <a:ext uri="{FF2B5EF4-FFF2-40B4-BE49-F238E27FC236}">
                <a16:creationId xmlns:a16="http://schemas.microsoft.com/office/drawing/2014/main" id="{5087D1F0-BC60-4F2F-88F8-85A6912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29050"/>
            <a:ext cx="16764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A2840"/>
          </a:solidFill>
          <a:ln xmlns:a="http://schemas.openxmlformats.org/drawingml/2006/main" w="9525">
            <a:solidFill>
              <a:srgbClr val="FF7A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7" name="stage-date-6">
            <a:extLst xmlns:a="http://schemas.openxmlformats.org/drawingml/2006/main">
              <a:ext uri="{FF2B5EF4-FFF2-40B4-BE49-F238E27FC236}">
                <a16:creationId xmlns:a16="http://schemas.microsoft.com/office/drawing/2014/main" id="{8066C19C-E00A-4244-9846-C4C7611F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624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6E"/>
                </a:solidFill>
              </a:defRPr>
            </a:pPr>
            <a:r>
              <a:rPr sz="1050" b="1">
                <a:solidFill>
                  <a:srgbClr val="FF7A6E"/>
                </a:solidFill>
              </a:rPr>
              <a:t>2025–26</a:t>
            </a:r>
          </a:p>
        </p:txBody>
      </p:sp>
      <p:sp>
        <p:nvSpPr>
          <p:cNvPr id="38" name="stage-label-6">
            <a:extLst xmlns:a="http://schemas.openxmlformats.org/drawingml/2006/main">
              <a:ext uri="{FF2B5EF4-FFF2-40B4-BE49-F238E27FC236}">
                <a16:creationId xmlns:a16="http://schemas.microsoft.com/office/drawing/2014/main" id="{11EE3F83-5F47-4C4D-BC5A-D6F14DE6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100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LONG</a:t>
            </a:r>
          </a:p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HORIZON</a:t>
            </a:r>
          </a:p>
        </p:txBody>
      </p:sp>
      <p:sp>
        <p:nvSpPr>
          <p:cNvPr id="39" name="stage-product-6">
            <a:extLst xmlns:a="http://schemas.openxmlformats.org/drawingml/2006/main">
              <a:ext uri="{FF2B5EF4-FFF2-40B4-BE49-F238E27FC236}">
                <a16:creationId xmlns:a16="http://schemas.microsoft.com/office/drawing/2014/main" id="{A7A3DF56-567D-44B9-B35C-34BBBBAD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57725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2B5"/>
                </a:solidFill>
              </a:defRPr>
            </a:pPr>
            <a:r>
              <a:rPr sz="975" b="0">
                <a:solidFill>
                  <a:srgbClr val="86A2B5"/>
                </a:solidFill>
              </a:rPr>
              <a:t>Codex + Claude</a:t>
            </a:r>
          </a:p>
        </p:txBody>
      </p:sp>
      <p:sp>
        <p:nvSpPr>
          <p:cNvPr id="40" name="stage-connector-6">
            <a:extLst xmlns:a="http://schemas.openxmlformats.org/drawingml/2006/main">
              <a:ext uri="{FF2B5EF4-FFF2-40B4-BE49-F238E27FC236}">
                <a16:creationId xmlns:a16="http://schemas.microsoft.com/office/drawing/2014/main" id="{9231D73D-0F85-41C3-9867-F7B2F32F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409950"/>
            <a:ext cx="28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tage-dot-6">
            <a:extLst xmlns:a="http://schemas.openxmlformats.org/drawingml/2006/main">
              <a:ext uri="{FF2B5EF4-FFF2-40B4-BE49-F238E27FC236}">
                <a16:creationId xmlns:a16="http://schemas.microsoft.com/office/drawing/2014/main" id="{44EA86A5-F380-49A4-B599-3243C948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38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9525">
            <a:solidFill>
              <a:srgbClr val="061A2C"/>
            </a:solidFill>
            <a:prstDash val="solid"/>
          </a:ln>
        </p:spPr>
      </p:sp>
      <p:sp>
        <p:nvSpPr>
          <p:cNvPr id="42" name="horizon-caveat">
            <a:extLst xmlns:a="http://schemas.openxmlformats.org/drawingml/2006/main">
              <a:ext uri="{FF2B5EF4-FFF2-40B4-BE49-F238E27FC236}">
                <a16:creationId xmlns:a16="http://schemas.microsoft.com/office/drawing/2014/main" id="{ACDD77E9-E054-4F1E-8341-D5A5CD4B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62625"/>
            <a:ext cx="61341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F46"/>
          </a:solidFill>
          <a:ln xmlns:a="http://schemas.openxmlformats.org/drawingml/2006/main" w="9525">
            <a:solidFill>
              <a:srgbClr val="234A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2D4E1"/>
                </a:solidFill>
              </a:defRPr>
            </a:pPr>
            <a:r>
              <a:rPr sz="1050" b="1">
                <a:solidFill>
                  <a:srgbClr val="C2D4E1"/>
                </a:solidFill>
              </a:rPr>
              <a:t>Evidence rule  ·  human-equivalent task horizon ≠ elapsed agent runtime</a:t>
            </a:r>
          </a:p>
        </p:txBody>
      </p:sp>
      <p:sp>
        <p:nvSpPr>
          <p:cNvPr id="43" name="footer-line-1">
            <a:extLst xmlns:a="http://schemas.openxmlformats.org/drawingml/2006/main">
              <a:ext uri="{FF2B5EF4-FFF2-40B4-BE49-F238E27FC236}">
                <a16:creationId xmlns:a16="http://schemas.microsoft.com/office/drawing/2014/main" id="{CBCAA486-93BE-4B86-9B63-10EE1B9A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ource-1">
            <a:extLst xmlns:a="http://schemas.openxmlformats.org/drawingml/2006/main">
              <a:ext uri="{FF2B5EF4-FFF2-40B4-BE49-F238E27FC236}">
                <a16:creationId xmlns:a16="http://schemas.microsoft.com/office/drawing/2014/main" id="{7293F2A7-14BB-4902-B666-0F36B14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6A2B5"/>
                </a:solidFill>
              </a:defRPr>
            </a:pPr>
            <a:r>
              <a:rPr sz="900" b="0">
                <a:solidFill>
                  <a:srgbClr val="86A2B5"/>
                </a:solidFill>
              </a:rPr>
              <a:t>[1–12] Primary sources and limitations in claim matrix + speaker notes</a:t>
            </a:r>
          </a:p>
        </p:txBody>
      </p:sp>
      <p:sp>
        <p:nvSpPr>
          <p:cNvPr id="45" name="folio-1">
            <a:extLst xmlns:a="http://schemas.openxmlformats.org/drawingml/2006/main">
              <a:ext uri="{FF2B5EF4-FFF2-40B4-BE49-F238E27FC236}">
                <a16:creationId xmlns:a16="http://schemas.microsoft.com/office/drawing/2014/main" id="{F5506E53-2F8A-4536-8161-9BD47A62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A2B5"/>
                </a:solidFill>
              </a:defRPr>
            </a:pPr>
            <a:r>
              <a:rPr sz="900" b="1">
                <a:solidFill>
                  <a:srgbClr val="86A2B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3001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-2">
            <a:extLst xmlns:a="http://schemas.openxmlformats.org/drawingml/2006/main">
              <a:ext uri="{FF2B5EF4-FFF2-40B4-BE49-F238E27FC236}">
                <a16:creationId xmlns:a16="http://schemas.microsoft.com/office/drawing/2014/main" id="{7EC9BC2B-20EB-45F8-9EF1-806EBDF9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C7B3"/>
                </a:solidFill>
              </a:defRPr>
            </a:pPr>
            <a:r>
              <a:rPr sz="1200" b="1">
                <a:solidFill>
                  <a:srgbClr val="13C7B3"/>
                </a:solidFill>
              </a:rPr>
              <a:t>THE OPERATING MODEL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C8C618-5952-4CAD-8A46-2874E63F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B"/>
                </a:solidFill>
              </a:defRPr>
            </a:pPr>
            <a:r>
              <a:rPr sz="2850" b="1">
                <a:solidFill>
                  <a:srgbClr val="F4F8FB"/>
                </a:solidFill>
              </a:rPr>
              <a:t>A dependable agentic SDLC has one durable loop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2DAF428A-44FB-47AD-984C-731923E6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D4E1"/>
                </a:solidFill>
              </a:defRPr>
            </a:pPr>
            <a:r>
              <a:rPr sz="1350" b="0">
                <a:solidFill>
                  <a:srgbClr val="C2D4E1"/>
                </a:solidFill>
              </a:rPr>
              <a:t>Not more ceremony—better project state for the next human or agent.</a:t>
            </a:r>
          </a:p>
        </p:txBody>
      </p:sp>
      <p:sp>
        <p:nvSpPr>
          <p:cNvPr id="4" name="pwe-card-1">
            <a:extLst xmlns:a="http://schemas.openxmlformats.org/drawingml/2006/main">
              <a:ext uri="{FF2B5EF4-FFF2-40B4-BE49-F238E27FC236}">
                <a16:creationId xmlns:a16="http://schemas.microsoft.com/office/drawing/2014/main" id="{38B9E2E3-D95A-46BF-8198-2E42B6BE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3143250" cy="26098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0B2236"/>
          </a:solidFill>
          <a:ln xmlns:a="http://schemas.openxmlformats.org/drawingml/2006/main" w="9525">
            <a:solidFill>
              <a:srgbClr val="234A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" name="pwe-accent-1">
            <a:extLst xmlns:a="http://schemas.openxmlformats.org/drawingml/2006/main">
              <a:ext uri="{FF2B5EF4-FFF2-40B4-BE49-F238E27FC236}">
                <a16:creationId xmlns:a16="http://schemas.microsoft.com/office/drawing/2014/main" id="{921DF265-994C-4051-A665-C9A03D2D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D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we-number-1">
            <a:extLst xmlns:a="http://schemas.openxmlformats.org/drawingml/2006/main">
              <a:ext uri="{FF2B5EF4-FFF2-40B4-BE49-F238E27FC236}">
                <a16:creationId xmlns:a16="http://schemas.microsoft.com/office/drawing/2014/main" id="{DA20E922-41DC-47E8-BB42-F701A605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2C"/>
                </a:solidFill>
              </a:defRPr>
            </a:pPr>
            <a:r>
              <a:rPr sz="1200" b="1">
                <a:solidFill>
                  <a:srgbClr val="061A2C"/>
                </a:solidFill>
              </a:rPr>
              <a:t>01</a:t>
            </a:r>
          </a:p>
        </p:txBody>
      </p:sp>
      <p:sp>
        <p:nvSpPr>
          <p:cNvPr id="7" name="pwe-title-1">
            <a:extLst xmlns:a="http://schemas.openxmlformats.org/drawingml/2006/main">
              <a:ext uri="{FF2B5EF4-FFF2-40B4-BE49-F238E27FC236}">
                <a16:creationId xmlns:a16="http://schemas.microsoft.com/office/drawing/2014/main" id="{F636AABA-5174-4458-8B8B-1E0C422C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241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8FB"/>
                </a:solidFill>
              </a:defRPr>
            </a:pPr>
            <a:r>
              <a:rPr sz="2175" b="1">
                <a:solidFill>
                  <a:srgbClr val="F4F8FB"/>
                </a:solidFill>
              </a:rPr>
              <a:t>PLAN</a:t>
            </a:r>
          </a:p>
        </p:txBody>
      </p:sp>
      <p:sp>
        <p:nvSpPr>
          <p:cNvPr id="8" name="pwe-rule-1">
            <a:extLst xmlns:a="http://schemas.openxmlformats.org/drawingml/2006/main">
              <a:ext uri="{FF2B5EF4-FFF2-40B4-BE49-F238E27FC236}">
                <a16:creationId xmlns:a16="http://schemas.microsoft.com/office/drawing/2014/main" id="{A29D52AA-D752-4105-9388-ABCD7071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43225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we-detail-1">
            <a:extLst xmlns:a="http://schemas.openxmlformats.org/drawingml/2006/main">
              <a:ext uri="{FF2B5EF4-FFF2-40B4-BE49-F238E27FC236}">
                <a16:creationId xmlns:a16="http://schemas.microsoft.com/office/drawing/2014/main" id="{379E65B8-FD46-4E32-9B43-FBEDC77B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D4E1"/>
                </a:solidFill>
              </a:defRPr>
            </a:pPr>
            <a:r>
              <a:rPr sz="1500" b="0">
                <a:solidFill>
                  <a:srgbClr val="C2D4E1"/>
                </a:solidFill>
              </a:rPr>
              <a:t>Requirements</a:t>
            </a:r>
          </a:p>
          <a:p xmlns:a="http://schemas.openxmlformats.org/drawingml/2006/main">
            <a:pPr algn="l">
              <a:defRPr sz="1500" b="0">
                <a:solidFill>
                  <a:srgbClr val="C2D4E1"/>
                </a:solidFill>
              </a:defRPr>
            </a:pPr>
            <a:r>
              <a:rPr sz="1500" b="0">
                <a:solidFill>
                  <a:srgbClr val="C2D4E1"/>
                </a:solidFill>
              </a:rPr>
              <a:t>Decisions</a:t>
            </a:r>
          </a:p>
          <a:p xmlns:a="http://schemas.openxmlformats.org/drawingml/2006/main">
            <a:pPr algn="l">
              <a:defRPr sz="1500" b="0">
                <a:solidFill>
                  <a:srgbClr val="C2D4E1"/>
                </a:solidFill>
              </a:defRPr>
            </a:pPr>
            <a:r>
              <a:rPr sz="1500" b="0">
                <a:solidFill>
                  <a:srgbClr val="C2D4E1"/>
                </a:solidFill>
              </a:rPr>
              <a:t>Guardrails</a:t>
            </a:r>
          </a:p>
        </p:txBody>
      </p:sp>
      <p:sp>
        <p:nvSpPr>
          <p:cNvPr id="10" name="pwe-card-2">
            <a:extLst xmlns:a="http://schemas.openxmlformats.org/drawingml/2006/main">
              <a:ext uri="{FF2B5EF4-FFF2-40B4-BE49-F238E27FC236}">
                <a16:creationId xmlns:a16="http://schemas.microsoft.com/office/drawing/2014/main" id="{C275E211-BCB3-4565-8660-F24C84D9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28825"/>
            <a:ext cx="3143250" cy="26098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0B2236"/>
          </a:solidFill>
          <a:ln xmlns:a="http://schemas.openxmlformats.org/drawingml/2006/main" w="9525">
            <a:solidFill>
              <a:srgbClr val="234A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1" name="pwe-accent-2">
            <a:extLst xmlns:a="http://schemas.openxmlformats.org/drawingml/2006/main">
              <a:ext uri="{FF2B5EF4-FFF2-40B4-BE49-F238E27FC236}">
                <a16:creationId xmlns:a16="http://schemas.microsoft.com/office/drawing/2014/main" id="{3CF1A81A-ED72-4C2B-891A-ADD6FE0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383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we-number-2">
            <a:extLst xmlns:a="http://schemas.openxmlformats.org/drawingml/2006/main">
              <a:ext uri="{FF2B5EF4-FFF2-40B4-BE49-F238E27FC236}">
                <a16:creationId xmlns:a16="http://schemas.microsoft.com/office/drawing/2014/main" id="{42A5FA44-503A-44EC-833E-008BB043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907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2C"/>
                </a:solidFill>
              </a:defRPr>
            </a:pPr>
            <a:r>
              <a:rPr sz="1200" b="1">
                <a:solidFill>
                  <a:srgbClr val="061A2C"/>
                </a:solidFill>
              </a:rPr>
              <a:t>02</a:t>
            </a:r>
          </a:p>
        </p:txBody>
      </p:sp>
      <p:sp>
        <p:nvSpPr>
          <p:cNvPr id="13" name="pwe-title-2">
            <a:extLst xmlns:a="http://schemas.openxmlformats.org/drawingml/2006/main">
              <a:ext uri="{FF2B5EF4-FFF2-40B4-BE49-F238E27FC236}">
                <a16:creationId xmlns:a16="http://schemas.microsoft.com/office/drawing/2014/main" id="{2D4D5EB4-CD66-4D0D-8C81-3EAA72C9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241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8FB"/>
                </a:solidFill>
              </a:defRPr>
            </a:pPr>
            <a:r>
              <a:rPr sz="2175" b="1">
                <a:solidFill>
                  <a:srgbClr val="F4F8FB"/>
                </a:solidFill>
              </a:rPr>
              <a:t>WORK</a:t>
            </a:r>
          </a:p>
        </p:txBody>
      </p:sp>
      <p:sp>
        <p:nvSpPr>
          <p:cNvPr id="14" name="pwe-rule-2">
            <a:extLst xmlns:a="http://schemas.openxmlformats.org/drawingml/2006/main">
              <a:ext uri="{FF2B5EF4-FFF2-40B4-BE49-F238E27FC236}">
                <a16:creationId xmlns:a16="http://schemas.microsoft.com/office/drawing/2014/main" id="{16739A79-53AB-41E2-B6D5-8EDE3BAF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43225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we-detail-2">
            <a:extLst xmlns:a="http://schemas.openxmlformats.org/drawingml/2006/main">
              <a:ext uri="{FF2B5EF4-FFF2-40B4-BE49-F238E27FC236}">
                <a16:creationId xmlns:a16="http://schemas.microsoft.com/office/drawing/2014/main" id="{494DA27C-F2A0-43C1-8766-6D7538CA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09925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D4E1"/>
                </a:solidFill>
              </a:defRPr>
            </a:pPr>
            <a:r>
              <a:rPr sz="1500" b="0">
                <a:solidFill>
                  <a:srgbClr val="C2D4E1"/>
                </a:solidFill>
              </a:rPr>
              <a:t>One bounded node</a:t>
            </a:r>
          </a:p>
          <a:p xmlns:a="http://schemas.openxmlformats.org/drawingml/2006/main">
            <a:pPr algn="l">
              <a:defRPr sz="1500" b="0">
                <a:solidFill>
                  <a:srgbClr val="C2D4E1"/>
                </a:solidFill>
              </a:defRPr>
            </a:pPr>
            <a:r>
              <a:rPr sz="1500" b="0">
                <a:solidFill>
                  <a:srgbClr val="C2D4E1"/>
                </a:solidFill>
              </a:rPr>
              <a:t>Explicit authority</a:t>
            </a:r>
          </a:p>
          <a:p xmlns:a="http://schemas.openxmlformats.org/drawingml/2006/main">
            <a:pPr algn="l">
              <a:defRPr sz="1500" b="0">
                <a:solidFill>
                  <a:srgbClr val="C2D4E1"/>
                </a:solidFill>
              </a:defRPr>
            </a:pPr>
            <a:r>
              <a:rPr sz="1500" b="0">
                <a:solidFill>
                  <a:srgbClr val="C2D4E1"/>
                </a:solidFill>
              </a:rPr>
              <a:t>Clear handoff</a:t>
            </a:r>
          </a:p>
        </p:txBody>
      </p:sp>
      <p:sp>
        <p:nvSpPr>
          <p:cNvPr id="16" name="pwe-card-3">
            <a:extLst xmlns:a="http://schemas.openxmlformats.org/drawingml/2006/main">
              <a:ext uri="{FF2B5EF4-FFF2-40B4-BE49-F238E27FC236}">
                <a16:creationId xmlns:a16="http://schemas.microsoft.com/office/drawing/2014/main" id="{02634697-DE7B-4366-8E17-7E52130B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28825"/>
            <a:ext cx="3143250" cy="26098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0B2236"/>
          </a:solidFill>
          <a:ln xmlns:a="http://schemas.openxmlformats.org/drawingml/2006/main" w="9525">
            <a:solidFill>
              <a:srgbClr val="234A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7" name="pwe-accent-3">
            <a:extLst xmlns:a="http://schemas.openxmlformats.org/drawingml/2006/main">
              <a:ext uri="{FF2B5EF4-FFF2-40B4-BE49-F238E27FC236}">
                <a16:creationId xmlns:a16="http://schemas.microsoft.com/office/drawing/2014/main" id="{3C5C6784-E551-4237-9C86-543B85B3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we-number-3">
            <a:extLst xmlns:a="http://schemas.openxmlformats.org/drawingml/2006/main">
              <a:ext uri="{FF2B5EF4-FFF2-40B4-BE49-F238E27FC236}">
                <a16:creationId xmlns:a16="http://schemas.microsoft.com/office/drawing/2014/main" id="{A4945E1B-35A4-4B43-9CFD-6ADFEA5E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907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A2C"/>
                </a:solidFill>
              </a:defRPr>
            </a:pPr>
            <a:r>
              <a:rPr sz="1200" b="1">
                <a:solidFill>
                  <a:srgbClr val="061A2C"/>
                </a:solidFill>
              </a:rPr>
              <a:t>03</a:t>
            </a:r>
          </a:p>
        </p:txBody>
      </p:sp>
      <p:sp>
        <p:nvSpPr>
          <p:cNvPr id="19" name="pwe-title-3">
            <a:extLst xmlns:a="http://schemas.openxmlformats.org/drawingml/2006/main">
              <a:ext uri="{FF2B5EF4-FFF2-40B4-BE49-F238E27FC236}">
                <a16:creationId xmlns:a16="http://schemas.microsoft.com/office/drawing/2014/main" id="{FDAC95D4-E36B-4487-9C2E-8323EAC8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241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8FB"/>
                </a:solidFill>
              </a:defRPr>
            </a:pPr>
            <a:r>
              <a:rPr sz="2175" b="1">
                <a:solidFill>
                  <a:srgbClr val="F4F8FB"/>
                </a:solidFill>
              </a:rPr>
              <a:t>EVIDENCE</a:t>
            </a:r>
          </a:p>
        </p:txBody>
      </p:sp>
      <p:sp>
        <p:nvSpPr>
          <p:cNvPr id="20" name="pwe-rule-3">
            <a:extLst xmlns:a="http://schemas.openxmlformats.org/drawingml/2006/main">
              <a:ext uri="{FF2B5EF4-FFF2-40B4-BE49-F238E27FC236}">
                <a16:creationId xmlns:a16="http://schemas.microsoft.com/office/drawing/2014/main" id="{1F04C743-CBA5-44EB-8045-F85536FC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43225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we-detail-3">
            <a:extLst xmlns:a="http://schemas.openxmlformats.org/drawingml/2006/main">
              <a:ext uri="{FF2B5EF4-FFF2-40B4-BE49-F238E27FC236}">
                <a16:creationId xmlns:a16="http://schemas.microsoft.com/office/drawing/2014/main" id="{18A9112C-3BFF-4030-A392-3BB42C20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09925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D4E1"/>
                </a:solidFill>
              </a:defRPr>
            </a:pPr>
            <a:r>
              <a:rPr sz="1500" b="0">
                <a:solidFill>
                  <a:srgbClr val="C2D4E1"/>
                </a:solidFill>
              </a:rPr>
              <a:t>Tests + receipts</a:t>
            </a:r>
          </a:p>
          <a:p xmlns:a="http://schemas.openxmlformats.org/drawingml/2006/main">
            <a:pPr algn="l">
              <a:defRPr sz="1500" b="0">
                <a:solidFill>
                  <a:srgbClr val="C2D4E1"/>
                </a:solidFill>
              </a:defRPr>
            </a:pPr>
            <a:r>
              <a:rPr sz="1500" b="0">
                <a:solidFill>
                  <a:srgbClr val="C2D4E1"/>
                </a:solidFill>
              </a:rPr>
              <a:t>Checkpoints</a:t>
            </a:r>
          </a:p>
          <a:p xmlns:a="http://schemas.openxmlformats.org/drawingml/2006/main">
            <a:pPr algn="l">
              <a:defRPr sz="1500" b="0">
                <a:solidFill>
                  <a:srgbClr val="C2D4E1"/>
                </a:solidFill>
              </a:defRPr>
            </a:pPr>
            <a:r>
              <a:rPr sz="1500" b="0">
                <a:solidFill>
                  <a:srgbClr val="C2D4E1"/>
                </a:solidFill>
              </a:rPr>
              <a:t>Validated state</a:t>
            </a:r>
          </a:p>
        </p:txBody>
      </p:sp>
      <p:sp>
        <p:nvSpPr>
          <p:cNvPr id="22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F030257E-6FBB-409C-B83E-ACCA0F01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095625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D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66571AD2-CDB2-447F-A655-E00FDEE9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95625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questions-band">
            <a:extLst xmlns:a="http://schemas.openxmlformats.org/drawingml/2006/main">
              <a:ext uri="{FF2B5EF4-FFF2-40B4-BE49-F238E27FC236}">
                <a16:creationId xmlns:a16="http://schemas.microsoft.com/office/drawing/2014/main" id="{23429881-1633-417C-88E6-A13F229E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88582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2840"/>
          </a:solidFill>
          <a:ln xmlns:a="http://schemas.openxmlformats.org/drawingml/2006/main" w="9525">
            <a:solidFill>
              <a:srgbClr val="234A63"/>
            </a:solidFill>
            <a:prstDash val="solid"/>
          </a:ln>
        </p:spPr>
      </p:sp>
      <p:sp>
        <p:nvSpPr>
          <p:cNvPr id="25" name="question-1">
            <a:extLst xmlns:a="http://schemas.openxmlformats.org/drawingml/2006/main">
              <a:ext uri="{FF2B5EF4-FFF2-40B4-BE49-F238E27FC236}">
                <a16:creationId xmlns:a16="http://schemas.microsoft.com/office/drawing/2014/main" id="{F2B02C99-B50B-46E2-8CE9-D442017E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DBFF"/>
                </a:solidFill>
              </a:defRPr>
            </a:pPr>
            <a:r>
              <a:rPr sz="1275" b="1">
                <a:solidFill>
                  <a:srgbClr val="3EDBFF"/>
                </a:solidFill>
              </a:rPr>
              <a:t>WHAT COMPLETED?</a:t>
            </a:r>
          </a:p>
        </p:txBody>
      </p:sp>
      <p:sp>
        <p:nvSpPr>
          <p:cNvPr id="26" name="answer-1">
            <a:extLst xmlns:a="http://schemas.openxmlformats.org/drawingml/2006/main">
              <a:ext uri="{FF2B5EF4-FFF2-40B4-BE49-F238E27FC236}">
                <a16:creationId xmlns:a16="http://schemas.microsoft.com/office/drawing/2014/main" id="{0D1D53DC-72F6-4044-8EDE-D6AD8FA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</a:defRPr>
            </a:pPr>
            <a:r>
              <a:rPr sz="1275" b="0">
                <a:solidFill>
                  <a:srgbClr val="F4F8FB"/>
                </a:solidFill>
              </a:rPr>
              <a:t>accepted outcome</a:t>
            </a:r>
          </a:p>
        </p:txBody>
      </p:sp>
      <p:sp>
        <p:nvSpPr>
          <p:cNvPr id="27" name="question-2">
            <a:extLst xmlns:a="http://schemas.openxmlformats.org/drawingml/2006/main">
              <a:ext uri="{FF2B5EF4-FFF2-40B4-BE49-F238E27FC236}">
                <a16:creationId xmlns:a16="http://schemas.microsoft.com/office/drawing/2014/main" id="{F045AE38-B44E-460A-822E-1DD9EB1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57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C7B3"/>
                </a:solidFill>
              </a:defRPr>
            </a:pPr>
            <a:r>
              <a:rPr sz="1275" b="1">
                <a:solidFill>
                  <a:srgbClr val="13C7B3"/>
                </a:solidFill>
              </a:rPr>
              <a:t>WHY?</a:t>
            </a:r>
          </a:p>
        </p:txBody>
      </p:sp>
      <p:sp>
        <p:nvSpPr>
          <p:cNvPr id="28" name="answer-2">
            <a:extLst xmlns:a="http://schemas.openxmlformats.org/drawingml/2006/main">
              <a:ext uri="{FF2B5EF4-FFF2-40B4-BE49-F238E27FC236}">
                <a16:creationId xmlns:a16="http://schemas.microsoft.com/office/drawing/2014/main" id="{3CB73C8C-D7F2-4B9B-B241-EC54B4D3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4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</a:defRPr>
            </a:pPr>
            <a:r>
              <a:rPr sz="1275" b="0">
                <a:solidFill>
                  <a:srgbClr val="F4F8FB"/>
                </a:solidFill>
              </a:rPr>
              <a:t>requirements + decisions</a:t>
            </a:r>
          </a:p>
        </p:txBody>
      </p:sp>
      <p:sp>
        <p:nvSpPr>
          <p:cNvPr id="29" name="question-3">
            <a:extLst xmlns:a="http://schemas.openxmlformats.org/drawingml/2006/main">
              <a:ext uri="{FF2B5EF4-FFF2-40B4-BE49-F238E27FC236}">
                <a16:creationId xmlns:a16="http://schemas.microsoft.com/office/drawing/2014/main" id="{1534A1AD-093F-4624-A555-2516A888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57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DBFF"/>
                </a:solidFill>
              </a:defRPr>
            </a:pPr>
            <a:r>
              <a:rPr sz="1275" b="1">
                <a:solidFill>
                  <a:srgbClr val="3EDBFF"/>
                </a:solidFill>
              </a:rPr>
              <a:t>WHAT COMES NEXT?</a:t>
            </a:r>
          </a:p>
        </p:txBody>
      </p:sp>
      <p:sp>
        <p:nvSpPr>
          <p:cNvPr id="30" name="answer-3">
            <a:extLst xmlns:a="http://schemas.openxmlformats.org/drawingml/2006/main">
              <a:ext uri="{FF2B5EF4-FFF2-40B4-BE49-F238E27FC236}">
                <a16:creationId xmlns:a16="http://schemas.microsoft.com/office/drawing/2014/main" id="{B51563F1-5347-4A4A-AF31-42CCCDDB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4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</a:defRPr>
            </a:pPr>
            <a:r>
              <a:rPr sz="1275" b="0">
                <a:solidFill>
                  <a:srgbClr val="F4F8FB"/>
                </a:solidFill>
              </a:rPr>
              <a:t>next authorized node</a:t>
            </a:r>
          </a:p>
        </p:txBody>
      </p:sp>
      <p:sp>
        <p:nvSpPr>
          <p:cNvPr id="31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93E7B3E3-49A6-4A4B-973E-3A3E398D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ource-2">
            <a:extLst xmlns:a="http://schemas.openxmlformats.org/drawingml/2006/main">
              <a:ext uri="{FF2B5EF4-FFF2-40B4-BE49-F238E27FC236}">
                <a16:creationId xmlns:a16="http://schemas.microsoft.com/office/drawing/2014/main" id="{F82AE5D2-6C11-49FA-B707-350F8BCA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6A2B5"/>
                </a:solidFill>
              </a:defRPr>
            </a:pPr>
            <a:r>
              <a:rPr sz="900" b="0">
                <a:solidFill>
                  <a:srgbClr val="86A2B5"/>
                </a:solidFill>
              </a:rPr>
              <a:t>[14] mdkg canonical Plan → Work → Evidence product source</a:t>
            </a:r>
          </a:p>
        </p:txBody>
      </p:sp>
      <p:sp>
        <p:nvSpPr>
          <p:cNvPr id="33" name="folio-2">
            <a:extLst xmlns:a="http://schemas.openxmlformats.org/drawingml/2006/main">
              <a:ext uri="{FF2B5EF4-FFF2-40B4-BE49-F238E27FC236}">
                <a16:creationId xmlns:a16="http://schemas.microsoft.com/office/drawing/2014/main" id="{C5A4F664-4F03-4EFE-A11C-017F92C7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A2B5"/>
                </a:solidFill>
              </a:defRPr>
            </a:pPr>
            <a:r>
              <a:rPr sz="900" b="1">
                <a:solidFill>
                  <a:srgbClr val="86A2B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9014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3">
            <a:extLst xmlns:a="http://schemas.openxmlformats.org/drawingml/2006/main">
              <a:ext uri="{FF2B5EF4-FFF2-40B4-BE49-F238E27FC236}">
                <a16:creationId xmlns:a16="http://schemas.microsoft.com/office/drawing/2014/main" id="{1A17EECC-4DA0-4E78-B3CD-D76D2663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C7B3"/>
                </a:solidFill>
              </a:defRPr>
            </a:pPr>
            <a:r>
              <a:rPr sz="1200" b="1">
                <a:solidFill>
                  <a:srgbClr val="13C7B3"/>
                </a:solidFill>
              </a:rPr>
              <a:t>SOURCE → EXECUTION PROOF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55358D1-F649-4C43-BCD1-DE486755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B"/>
                </a:solidFill>
              </a:defRPr>
            </a:pPr>
            <a:r>
              <a:rPr sz="2850" b="1">
                <a:solidFill>
                  <a:srgbClr val="F4F8FB"/>
                </a:solidFill>
              </a:rPr>
              <a:t>Reusable specification → specialized, executed proof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F9677E7E-4E90-4C8C-BDB3-2E862FFF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D4E1"/>
                </a:solidFill>
              </a:defRPr>
            </a:pPr>
            <a:r>
              <a:rPr sz="1350" b="0">
                <a:solidFill>
                  <a:srgbClr val="C2D4E1"/>
                </a:solidFill>
              </a:rPr>
              <a:t>Same goal identity. Sharper requirements. Inspectable evidence.</a:t>
            </a:r>
          </a:p>
        </p:txBody>
      </p:sp>
      <p:sp>
        <p:nvSpPr>
          <p:cNvPr id="4" name="source-goal-card">
            <a:extLst xmlns:a="http://schemas.openxmlformats.org/drawingml/2006/main">
              <a:ext uri="{FF2B5EF4-FFF2-40B4-BE49-F238E27FC236}">
                <a16:creationId xmlns:a16="http://schemas.microsoft.com/office/drawing/2014/main" id="{1D2F6D7A-F296-4BD3-A48E-B74D02C5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4362450" cy="3667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2236"/>
          </a:solidFill>
          <a:ln xmlns:a="http://schemas.openxmlformats.org/drawingml/2006/main" w="9525">
            <a:solidFill>
              <a:srgbClr val="234A63"/>
            </a:solidFill>
            <a:prstDash val="solid"/>
          </a:ln>
        </p:spPr>
      </p:sp>
      <p:sp>
        <p:nvSpPr>
          <p:cNvPr id="5" name="source-pill">
            <a:extLst xmlns:a="http://schemas.openxmlformats.org/drawingml/2006/main">
              <a:ext uri="{FF2B5EF4-FFF2-40B4-BE49-F238E27FC236}">
                <a16:creationId xmlns:a16="http://schemas.microsoft.com/office/drawing/2014/main" id="{BBDCB3D3-02D7-42E5-B90E-4B20B389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B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EDBFF"/>
                </a:solidFill>
              </a:defRPr>
            </a:pPr>
            <a:r>
              <a:rPr sz="1050" b="1">
                <a:solidFill>
                  <a:srgbClr val="3EDBFF"/>
                </a:solidFill>
              </a:rPr>
              <a:t>SOURCE TEMPLATE</a:t>
            </a:r>
          </a:p>
        </p:txBody>
      </p:sp>
      <p:sp>
        <p:nvSpPr>
          <p:cNvPr id="6" name="source-goal-id">
            <a:extLst xmlns:a="http://schemas.openxmlformats.org/drawingml/2006/main">
              <a:ext uri="{FF2B5EF4-FFF2-40B4-BE49-F238E27FC236}">
                <a16:creationId xmlns:a16="http://schemas.microsoft.com/office/drawing/2014/main" id="{64AD1FBD-989B-4809-AA7B-11079F3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</a:defRPr>
            </a:pPr>
            <a:r>
              <a:rPr sz="2550" b="1">
                <a:solidFill>
                  <a:srgbClr val="F4F8FB"/>
                </a:solidFill>
              </a:rPr>
              <a:t>goal-1</a:t>
            </a:r>
          </a:p>
        </p:txBody>
      </p:sp>
      <p:sp>
        <p:nvSpPr>
          <p:cNvPr id="7" name="source-label-Objective">
            <a:extLst xmlns:a="http://schemas.openxmlformats.org/drawingml/2006/main">
              <a:ext uri="{FF2B5EF4-FFF2-40B4-BE49-F238E27FC236}">
                <a16:creationId xmlns:a16="http://schemas.microsoft.com/office/drawing/2014/main" id="{010A05D2-6429-4774-BA0F-C44EC0B7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C7B3"/>
                </a:solidFill>
              </a:defRPr>
            </a:pPr>
            <a:r>
              <a:rPr sz="900" b="1">
                <a:solidFill>
                  <a:srgbClr val="13C7B3"/>
                </a:solidFill>
              </a:rPr>
              <a:t>OBJECTIVE</a:t>
            </a:r>
          </a:p>
        </p:txBody>
      </p:sp>
      <p:sp>
        <p:nvSpPr>
          <p:cNvPr id="8" name="source-value-Objective">
            <a:extLst xmlns:a="http://schemas.openxmlformats.org/drawingml/2006/main">
              <a:ext uri="{FF2B5EF4-FFF2-40B4-BE49-F238E27FC236}">
                <a16:creationId xmlns:a16="http://schemas.microsoft.com/office/drawing/2014/main" id="{6FA4F7F6-8C15-4AD0-BAB6-65F79537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B"/>
                </a:solidFill>
              </a:defRPr>
            </a:pPr>
            <a:r>
              <a:rPr sz="1275" b="1">
                <a:solidFill>
                  <a:srgbClr val="F4F8FB"/>
                </a:solidFill>
              </a:rPr>
              <a:t>Create a public landing page</a:t>
            </a:r>
          </a:p>
        </p:txBody>
      </p:sp>
      <p:sp>
        <p:nvSpPr>
          <p:cNvPr id="9" name="source-label-Requirements">
            <a:extLst xmlns:a="http://schemas.openxmlformats.org/drawingml/2006/main">
              <a:ext uri="{FF2B5EF4-FFF2-40B4-BE49-F238E27FC236}">
                <a16:creationId xmlns:a16="http://schemas.microsoft.com/office/drawing/2014/main" id="{6D95DBCE-4F03-4B75-B13B-D3756E98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C7B3"/>
                </a:solidFill>
              </a:defRPr>
            </a:pPr>
            <a:r>
              <a:rPr sz="900" b="1">
                <a:solidFill>
                  <a:srgbClr val="13C7B3"/>
                </a:solidFill>
              </a:rPr>
              <a:t>REQUIREMENTS</a:t>
            </a:r>
          </a:p>
        </p:txBody>
      </p:sp>
      <p:sp>
        <p:nvSpPr>
          <p:cNvPr id="10" name="source-value-Requirements">
            <a:extLst xmlns:a="http://schemas.openxmlformats.org/drawingml/2006/main">
              <a:ext uri="{FF2B5EF4-FFF2-40B4-BE49-F238E27FC236}">
                <a16:creationId xmlns:a16="http://schemas.microsoft.com/office/drawing/2014/main" id="{6BD4FE06-E50A-4A84-B89C-B54A298F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B"/>
                </a:solidFill>
              </a:defRPr>
            </a:pPr>
            <a:r>
              <a:rPr sz="1275" b="1">
                <a:solidFill>
                  <a:srgbClr val="F4F8FB"/>
                </a:solidFill>
              </a:rPr>
              <a:t>Ocean Flow + bounded sections</a:t>
            </a:r>
          </a:p>
        </p:txBody>
      </p:sp>
      <p:sp>
        <p:nvSpPr>
          <p:cNvPr id="11" name="source-label-State">
            <a:extLst xmlns:a="http://schemas.openxmlformats.org/drawingml/2006/main">
              <a:ext uri="{FF2B5EF4-FFF2-40B4-BE49-F238E27FC236}">
                <a16:creationId xmlns:a16="http://schemas.microsoft.com/office/drawing/2014/main" id="{58053B86-54B9-423F-BA51-1D5482E6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A2B5"/>
                </a:solidFill>
              </a:defRPr>
            </a:pPr>
            <a:r>
              <a:rPr sz="900" b="1">
                <a:solidFill>
                  <a:srgbClr val="86A2B5"/>
                </a:solidFill>
              </a:rPr>
              <a:t>STATE</a:t>
            </a:r>
          </a:p>
        </p:txBody>
      </p:sp>
      <p:sp>
        <p:nvSpPr>
          <p:cNvPr id="12" name="source-value-State">
            <a:extLst xmlns:a="http://schemas.openxmlformats.org/drawingml/2006/main">
              <a:ext uri="{FF2B5EF4-FFF2-40B4-BE49-F238E27FC236}">
                <a16:creationId xmlns:a16="http://schemas.microsoft.com/office/drawing/2014/main" id="{02D79385-2146-4073-BAC2-EB2C1687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B"/>
                </a:solidFill>
              </a:defRPr>
            </a:pPr>
            <a:r>
              <a:rPr sz="1275" b="1">
                <a:solidFill>
                  <a:srgbClr val="F4F8FB"/>
                </a:solidFill>
              </a:rPr>
              <a:t>Reusable · not yet executed</a:t>
            </a:r>
          </a:p>
        </p:txBody>
      </p:sp>
      <p:sp>
        <p:nvSpPr>
          <p:cNvPr id="13" name="specialize-arrow">
            <a:extLst xmlns:a="http://schemas.openxmlformats.org/drawingml/2006/main">
              <a:ext uri="{FF2B5EF4-FFF2-40B4-BE49-F238E27FC236}">
                <a16:creationId xmlns:a16="http://schemas.microsoft.com/office/drawing/2014/main" id="{C0BFC09C-BBBF-4850-BE11-A151FFC2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81375"/>
            <a:ext cx="1352550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D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pecialize-pill">
            <a:extLst xmlns:a="http://schemas.openxmlformats.org/drawingml/2006/main">
              <a:ext uri="{FF2B5EF4-FFF2-40B4-BE49-F238E27FC236}">
                <a16:creationId xmlns:a16="http://schemas.microsoft.com/office/drawing/2014/main" id="{8F593B4A-5153-4D9F-B1E7-5419DBBD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9085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840"/>
          </a:solidFill>
          <a:ln xmlns:a="http://schemas.openxmlformats.org/drawingml/2006/main" w="9525">
            <a:solidFill>
              <a:srgbClr val="234A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2D4E1"/>
                </a:solidFill>
              </a:defRPr>
            </a:pPr>
            <a:r>
              <a:rPr sz="1050" b="1">
                <a:solidFill>
                  <a:srgbClr val="C2D4E1"/>
                </a:solidFill>
              </a:rPr>
              <a:t>SPECIALIZE</a:t>
            </a:r>
          </a:p>
        </p:txBody>
      </p:sp>
      <p:sp>
        <p:nvSpPr>
          <p:cNvPr id="15" name="executed-goal-card">
            <a:extLst xmlns:a="http://schemas.openxmlformats.org/drawingml/2006/main">
              <a:ext uri="{FF2B5EF4-FFF2-40B4-BE49-F238E27FC236}">
                <a16:creationId xmlns:a16="http://schemas.microsoft.com/office/drawing/2014/main" id="{88C423B6-FD84-484C-9D4D-F369EA33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43075"/>
            <a:ext cx="4572000" cy="4048125"/>
          </a:xfrm>
          <a:prstGeom xmlns:a="http://schemas.openxmlformats.org/drawingml/2006/main" prst="roundRect">
            <a:avLst>
              <a:gd name="adj" fmla="val 5176"/>
            </a:avLst>
          </a:prstGeom>
          <a:solidFill xmlns:a="http://schemas.openxmlformats.org/drawingml/2006/main">
            <a:srgbClr val="0A2840"/>
          </a:solidFill>
          <a:ln xmlns:a="http://schemas.openxmlformats.org/drawingml/2006/main" w="9525">
            <a:solidFill>
              <a:srgbClr val="13C7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16" name="executed-pill">
            <a:extLst xmlns:a="http://schemas.openxmlformats.org/drawingml/2006/main">
              <a:ext uri="{FF2B5EF4-FFF2-40B4-BE49-F238E27FC236}">
                <a16:creationId xmlns:a16="http://schemas.microsoft.com/office/drawing/2014/main" id="{C924BB3A-4382-4F22-ABF2-A916D72E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52625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A2C"/>
                </a:solidFill>
              </a:defRPr>
            </a:pPr>
            <a:r>
              <a:rPr sz="1050" b="1">
                <a:solidFill>
                  <a:srgbClr val="061A2C"/>
                </a:solidFill>
              </a:rPr>
              <a:t>SPECIALIZED + EXECUTED</a:t>
            </a:r>
          </a:p>
        </p:txBody>
      </p:sp>
      <p:sp>
        <p:nvSpPr>
          <p:cNvPr id="17" name="executed-goal-id">
            <a:extLst xmlns:a="http://schemas.openxmlformats.org/drawingml/2006/main">
              <a:ext uri="{FF2B5EF4-FFF2-40B4-BE49-F238E27FC236}">
                <a16:creationId xmlns:a16="http://schemas.microsoft.com/office/drawing/2014/main" id="{A0F45C75-183C-43AD-ABFE-5DB1B4CC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907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</a:defRPr>
            </a:pPr>
            <a:r>
              <a:rPr sz="2550" b="1">
                <a:solidFill>
                  <a:srgbClr val="F4F8FB"/>
                </a:solidFill>
              </a:rPr>
              <a:t>goal-1</a:t>
            </a:r>
          </a:p>
        </p:txBody>
      </p:sp>
      <p:sp>
        <p:nvSpPr>
          <p:cNvPr id="18" name="executed-label-Positioning">
            <a:extLst xmlns:a="http://schemas.openxmlformats.org/drawingml/2006/main">
              <a:ext uri="{FF2B5EF4-FFF2-40B4-BE49-F238E27FC236}">
                <a16:creationId xmlns:a16="http://schemas.microsoft.com/office/drawing/2014/main" id="{F8191AEF-9963-4EB2-BAEB-EF3ADEC2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19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C7B3"/>
                </a:solidFill>
              </a:defRPr>
            </a:pPr>
            <a:r>
              <a:rPr sz="900" b="1">
                <a:solidFill>
                  <a:srgbClr val="13C7B3"/>
                </a:solidFill>
              </a:rPr>
              <a:t>POSITIONING</a:t>
            </a:r>
          </a:p>
        </p:txBody>
      </p:sp>
      <p:sp>
        <p:nvSpPr>
          <p:cNvPr id="19" name="executed-value-Positioning">
            <a:extLst xmlns:a="http://schemas.openxmlformats.org/drawingml/2006/main">
              <a:ext uri="{FF2B5EF4-FFF2-40B4-BE49-F238E27FC236}">
                <a16:creationId xmlns:a16="http://schemas.microsoft.com/office/drawing/2014/main" id="{2C07F5B5-FB42-41F7-9625-39B7409D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4802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B"/>
                </a:solidFill>
              </a:defRPr>
            </a:pPr>
            <a:r>
              <a:rPr sz="1275" b="1">
                <a:solidFill>
                  <a:srgbClr val="F4F8FB"/>
                </a:solidFill>
              </a:rPr>
              <a:t>Selected audience + promise</a:t>
            </a:r>
          </a:p>
        </p:txBody>
      </p:sp>
      <p:sp>
        <p:nvSpPr>
          <p:cNvPr id="20" name="executed-label-Requirements">
            <a:extLst xmlns:a="http://schemas.openxmlformats.org/drawingml/2006/main">
              <a:ext uri="{FF2B5EF4-FFF2-40B4-BE49-F238E27FC236}">
                <a16:creationId xmlns:a16="http://schemas.microsoft.com/office/drawing/2014/main" id="{7834B89E-EE95-4205-AC45-B6C1C7F0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C7B3"/>
                </a:solidFill>
              </a:defRPr>
            </a:pPr>
            <a:r>
              <a:rPr sz="900" b="1">
                <a:solidFill>
                  <a:srgbClr val="13C7B3"/>
                </a:solidFill>
              </a:rPr>
              <a:t>REQUIREMENTS</a:t>
            </a:r>
          </a:p>
        </p:txBody>
      </p:sp>
      <p:sp>
        <p:nvSpPr>
          <p:cNvPr id="21" name="executed-value-Requirements">
            <a:extLst xmlns:a="http://schemas.openxmlformats.org/drawingml/2006/main">
              <a:ext uri="{FF2B5EF4-FFF2-40B4-BE49-F238E27FC236}">
                <a16:creationId xmlns:a16="http://schemas.microsoft.com/office/drawing/2014/main" id="{D183BAE2-5B60-4398-8606-DE20C066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B"/>
                </a:solidFill>
              </a:defRPr>
            </a:pPr>
            <a:r>
              <a:rPr sz="1275" b="1">
                <a:solidFill>
                  <a:srgbClr val="F4F8FB"/>
                </a:solidFill>
              </a:rPr>
              <a:t>Static Astro · zero client JS</a:t>
            </a:r>
          </a:p>
        </p:txBody>
      </p:sp>
      <p:sp>
        <p:nvSpPr>
          <p:cNvPr id="22" name="executed-label-Work">
            <a:extLst xmlns:a="http://schemas.openxmlformats.org/drawingml/2006/main">
              <a:ext uri="{FF2B5EF4-FFF2-40B4-BE49-F238E27FC236}">
                <a16:creationId xmlns:a16="http://schemas.microsoft.com/office/drawing/2014/main" id="{3B58EB66-2CA3-41CE-A633-26869C37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100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C7B3"/>
                </a:solidFill>
              </a:defRPr>
            </a:pPr>
            <a:r>
              <a:rPr sz="900" b="1">
                <a:solidFill>
                  <a:srgbClr val="13C7B3"/>
                </a:solidFill>
              </a:rPr>
              <a:t>WORK</a:t>
            </a:r>
          </a:p>
        </p:txBody>
      </p:sp>
      <p:sp>
        <p:nvSpPr>
          <p:cNvPr id="23" name="executed-value-Work">
            <a:extLst xmlns:a="http://schemas.openxmlformats.org/drawingml/2006/main">
              <a:ext uri="{FF2B5EF4-FFF2-40B4-BE49-F238E27FC236}">
                <a16:creationId xmlns:a16="http://schemas.microsoft.com/office/drawing/2014/main" id="{4D0C11F1-F202-4B73-8228-C3B562DC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386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B"/>
                </a:solidFill>
              </a:defRPr>
            </a:pPr>
            <a:r>
              <a:rPr sz="1275" b="1">
                <a:solidFill>
                  <a:srgbClr val="F4F8FB"/>
                </a:solidFill>
              </a:rPr>
              <a:t>4 / 4 bounded nodes complete</a:t>
            </a:r>
          </a:p>
        </p:txBody>
      </p:sp>
      <p:sp>
        <p:nvSpPr>
          <p:cNvPr id="24" name="executed-label-Evidence">
            <a:extLst xmlns:a="http://schemas.openxmlformats.org/drawingml/2006/main">
              <a:ext uri="{FF2B5EF4-FFF2-40B4-BE49-F238E27FC236}">
                <a16:creationId xmlns:a16="http://schemas.microsoft.com/office/drawing/2014/main" id="{1CC3B61D-C81D-437A-993D-1D96ACF5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054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AD4"/>
                </a:solidFill>
              </a:defRPr>
            </a:pPr>
            <a:r>
              <a:rPr sz="900" b="1">
                <a:solidFill>
                  <a:srgbClr val="5EEAD4"/>
                </a:solidFill>
              </a:rPr>
              <a:t>EVIDENCE</a:t>
            </a:r>
          </a:p>
        </p:txBody>
      </p:sp>
      <p:sp>
        <p:nvSpPr>
          <p:cNvPr id="25" name="executed-value-Evidence">
            <a:extLst xmlns:a="http://schemas.openxmlformats.org/drawingml/2006/main">
              <a:ext uri="{FF2B5EF4-FFF2-40B4-BE49-F238E27FC236}">
                <a16:creationId xmlns:a16="http://schemas.microsoft.com/office/drawing/2014/main" id="{D52A5D30-21D5-42CB-9550-CAB3E3C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3400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B"/>
                </a:solidFill>
              </a:defRPr>
            </a:pPr>
            <a:r>
              <a:rPr sz="1275" b="1">
                <a:solidFill>
                  <a:srgbClr val="F4F8FB"/>
                </a:solidFill>
              </a:rPr>
              <a:t>Build · routes · exact SHA</a:t>
            </a:r>
          </a:p>
        </p:txBody>
      </p:sp>
      <p:sp>
        <p:nvSpPr>
          <p:cNvPr id="26" name="fixture-warning">
            <a:extLst xmlns:a="http://schemas.openxmlformats.org/drawingml/2006/main">
              <a:ext uri="{FF2B5EF4-FFF2-40B4-BE49-F238E27FC236}">
                <a16:creationId xmlns:a16="http://schemas.microsoft.com/office/drawing/2014/main" id="{5C8737F3-3CC2-41F7-972D-4326A611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981700"/>
            <a:ext cx="4610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2731"/>
          </a:solidFill>
          <a:ln xmlns:a="http://schemas.openxmlformats.org/drawingml/2006/main" w="9525">
            <a:solidFill>
              <a:srgbClr val="FF7A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7A6E"/>
                </a:solidFill>
              </a:defRPr>
            </a:pPr>
            <a:r>
              <a:rPr sz="1050" b="1">
                <a:solidFill>
                  <a:srgbClr val="FF7A6E"/>
                </a:solidFill>
              </a:rPr>
              <a:t>ILLUSTRATIVE STRUCTURE · NOT A LIVE DEMO RECEIPT</a:t>
            </a:r>
          </a:p>
        </p:txBody>
      </p:sp>
      <p:sp>
        <p:nvSpPr>
          <p:cNvPr id="27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6265CC1A-DBA5-4BA9-9D7E-FAE8578A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ource-3">
            <a:extLst xmlns:a="http://schemas.openxmlformats.org/drawingml/2006/main">
              <a:ext uri="{FF2B5EF4-FFF2-40B4-BE49-F238E27FC236}">
                <a16:creationId xmlns:a16="http://schemas.microsoft.com/office/drawing/2014/main" id="{2873C8F6-FE29-4A89-BA7C-AE7F4B25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6A2B5"/>
                </a:solidFill>
              </a:defRPr>
            </a:pPr>
            <a:r>
              <a:rPr sz="900" b="0">
                <a:solidFill>
                  <a:srgbClr val="86A2B5"/>
                </a:solidFill>
              </a:rPr>
              <a:t>Program EDD fixture · final reveal uses sanitized source, goal, work, and receipts</a:t>
            </a:r>
          </a:p>
        </p:txBody>
      </p:sp>
      <p:sp>
        <p:nvSpPr>
          <p:cNvPr id="29" name="folio-3">
            <a:extLst xmlns:a="http://schemas.openxmlformats.org/drawingml/2006/main">
              <a:ext uri="{FF2B5EF4-FFF2-40B4-BE49-F238E27FC236}">
                <a16:creationId xmlns:a16="http://schemas.microsoft.com/office/drawing/2014/main" id="{18BBAD2D-B69C-45AA-8201-94BB66B2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A2B5"/>
                </a:solidFill>
              </a:defRPr>
            </a:pPr>
            <a:r>
              <a:rPr sz="900" b="1">
                <a:solidFill>
                  <a:srgbClr val="86A2B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9887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0" dir="0">
              <a:srgbClr val="3EDBFF">
                <a:alpha val="35000"/>
              </a:srgbClr>
            </a:outerShdw>
          </a:effectLst>
        </a:effectStyle>
        <a:effectStyle>
          <a:effectLst>
            <a:outerShdw blurRad="171450" dist="47625" dir="5400000">
              <a:srgbClr val="13C7B3">
                <a:alpha val="25000"/>
              </a:srgbClr>
            </a:outerShdw>
          </a:effectLst>
        </a:effectStyle>
        <a:effectStyle>
          <a:effectLst>
            <a:outerShdw blurRad="190500" dist="76200" dir="5400000">
              <a:srgbClr val="000000">
                <a:alpha val="18000"/>
              </a:srgbClr>
            </a:outerShdw>
          </a:effectLst>
        </a:effectStyle>
        <a:effectStyle>
          <a:effectLst>
            <a:outerShdw blurRad="209550" dist="76200" dir="5400000">
              <a:srgbClr val="13C7B3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2026-07-27T05:17:26.9420000Z</dcterms:created>
  <dcterms:modified xsi:type="dcterms:W3CDTF">2026-07-27T05:17:26.9420000Z</dcterms:modified>
</coreProperties>
</file>