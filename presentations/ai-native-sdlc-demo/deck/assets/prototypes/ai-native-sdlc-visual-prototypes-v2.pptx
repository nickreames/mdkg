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1291760cd0a4041" /><Relationship Type="http://schemas.openxmlformats.org/officeDocument/2006/relationships/extended-properties" Target="/docProps/app.xml" Id="R9d0f8523b3534360" /><Relationship Type="http://schemas.openxmlformats.org/officeDocument/2006/relationships/officeDocument" Target="/ppt/presentation.xml" Id="R52b67357228c497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1fa3b307246487b"/>
  </p:sldMasterIdLst>
  <p:notesMasterIdLst>
    <p:notesMasterId xmlns:r="http://schemas.openxmlformats.org/officeDocument/2006/relationships" r:id="R5792a91ec940417b"/>
  </p:notesMasterIdLst>
  <p:sldIdLst>
    <p:sldId xmlns:r="http://schemas.openxmlformats.org/officeDocument/2006/relationships" id="256" r:id="Rd64dffae9afa4b55"/>
    <p:sldId xmlns:r="http://schemas.openxmlformats.org/officeDocument/2006/relationships" id="257" r:id="Rde861df82c514261"/>
    <p:sldId xmlns:r="http://schemas.openxmlformats.org/officeDocument/2006/relationships" id="258" r:id="Rb9bbfc06966745e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eb7855f7bb74bac" /><Relationship Type="http://schemas.openxmlformats.org/officeDocument/2006/relationships/slideMaster" Target="/ppt/slideMasters/slideMaster1.xml" Id="Rd1fa3b307246487b" /><Relationship Type="http://schemas.openxmlformats.org/officeDocument/2006/relationships/notesMaster" Target="/ppt/notesMasters/notesMaster1.xml" Id="R5792a91ec940417b" /><Relationship Type="http://schemas.openxmlformats.org/officeDocument/2006/relationships/presProps" Target="/ppt/presProps.xml" Id="Rc363bbf70a544f7a" /><Relationship Type="http://schemas.openxmlformats.org/officeDocument/2006/relationships/tableStyles" Target="/ppt/tableStyles.xml" Id="Rddd02cd0bdc74d5b" /><Relationship Type="http://schemas.openxmlformats.org/officeDocument/2006/relationships/slide" Target="/ppt/slides/slide1.xml" Id="Rd64dffae9afa4b55" /><Relationship Type="http://schemas.openxmlformats.org/officeDocument/2006/relationships/slide" Target="/ppt/slides/slide2.xml" Id="Rde861df82c514261" /><Relationship Type="http://schemas.openxmlformats.org/officeDocument/2006/relationships/slide" Target="/ppt/slides/slide3.xml" Id="Rb9bbfc06966745e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b844ca0e4b043a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52400" dist="47625" dir="5400000">
              <a:srgbClr val="08263A">
                <a:alpha val="10000"/>
              </a:srgbClr>
            </a:outerShdw>
          </a:effectLst>
        </a:effectStyle>
        <a:effectStyle>
          <a:effectLst>
            <a:outerShdw blurRad="190500" dist="76200" dir="5400000">
              <a:srgbClr val="08263A">
                <a:alpha val="10000"/>
              </a:srgbClr>
            </a:outerShdw>
          </a:effectLst>
        </a:effectStyle>
        <a:effectStyle>
          <a:effectLst>
            <a:outerShdw blurRad="171450" dist="57150" dir="5400000">
              <a:srgbClr val="08263A">
                <a:alpha val="10000"/>
              </a:srgbClr>
            </a:outerShdw>
          </a:effectLst>
        </a:effectStyle>
        <a:effectStyle>
          <a:effectLst>
            <a:outerShdw blurRad="209550" dist="76200" dir="5400000">
              <a:srgbClr val="005B57">
                <a:alpha val="1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2924494651f41b9" /><Relationship Type="http://schemas.openxmlformats.org/officeDocument/2006/relationships/notesMaster" Target="/ppt/notesMasters/notesMaster1.xml" Id="R8871f5bd6c23451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183ffdb9b2c4617" /><Relationship Type="http://schemas.openxmlformats.org/officeDocument/2006/relationships/notesMaster" Target="/ppt/notesMasters/notesMaster1.xml" Id="R0ec246cf75c941b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a353abd8f774dc8" /><Relationship Type="http://schemas.openxmlformats.org/officeDocument/2006/relationships/notesMaster" Target="/ppt/notesMasters/notesMaster1.xml" Id="R75fbaeaba9014ba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Narrative job: show a loose, overlapping progression from line completion to bounded goals.</a:t>
            </a:r>
          </a:p>
          <a:p xmlns:a="http://schemas.openxmlformats.org/drawingml/2006/main">
            <a:r>
              <a:t>Call out that capabilities accumulate; this is not a strict product chronology.</a:t>
            </a:r>
          </a:p>
          <a:p xmlns:a="http://schemas.openxmlformats.org/drawingml/2006/main">
            <a:r>
              <a:t>Mandatory caveat: an eight-hour benchmark or human-equivalent task horizon is not eight hours of elapsed agent runtime.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[1] https://github.blog/news-insights/product-news/introducing-github-copilot-ai-pair-programmer/</a:t>
            </a:r>
          </a:p>
          <a:p xmlns:a="http://schemas.openxmlformats.org/drawingml/2006/main">
            <a:r>
              <a:t>[2] https://openai.com/index/chatgpt/</a:t>
            </a:r>
          </a:p>
          <a:p xmlns:a="http://schemas.openxmlformats.org/drawingml/2006/main">
            <a:r>
              <a:t>[3] https://openai.com/index/learning-to-reason-with-llms/</a:t>
            </a:r>
          </a:p>
          <a:p xmlns:a="http://schemas.openxmlformats.org/drawingml/2006/main">
            <a:r>
              <a:t>[4] https://www.anthropic.com/news/claude-3-7-sonnet</a:t>
            </a:r>
          </a:p>
          <a:p xmlns:a="http://schemas.openxmlformats.org/drawingml/2006/main">
            <a:r>
              <a:t>[5] https://docs.cursor.com/en/agent/overview</a:t>
            </a:r>
          </a:p>
          <a:p xmlns:a="http://schemas.openxmlformats.org/drawingml/2006/main">
            <a:r>
              <a:t>[6] https://www.anthropic.com/engineering/equipping-agents-for-the-real-world-with-agent-skills</a:t>
            </a:r>
          </a:p>
          <a:p xmlns:a="http://schemas.openxmlformats.org/drawingml/2006/main">
            <a:r>
              <a:t>[7] https://openai.com/index/introducing-codex/</a:t>
            </a:r>
          </a:p>
          <a:p xmlns:a="http://schemas.openxmlformats.org/drawingml/2006/main">
            <a:r>
              <a:t>[8] https://openai.com/index/how-agents-are-transforming-work/</a:t>
            </a:r>
          </a:p>
          <a:p xmlns:a="http://schemas.openxmlformats.org/drawingml/2006/main">
            <a:r>
              <a:t>[9] https://www.anthropic.com/engineering/effective-harnesses-for-long-running-agents</a:t>
            </a:r>
          </a:p>
          <a:p xmlns:a="http://schemas.openxmlformats.org/drawingml/2006/main">
            <a:r>
              <a:t>[10] https://openai.com/index/gpt-4-1/</a:t>
            </a:r>
          </a:p>
          <a:p xmlns:a="http://schemas.openxmlformats.org/drawingml/2006/main">
            <a:r>
              <a:t>[11] https://www.anthropic.com/engineering/effective-context-engineering-for-ai-agents</a:t>
            </a:r>
          </a:p>
          <a:p xmlns:a="http://schemas.openxmlformats.org/drawingml/2006/main">
            <a:r>
              <a:t>[12] https://metr.org/time-horizons/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Narrative job: introduce the smallest memorable mdkg operating model.</a:t>
            </a:r>
          </a:p>
          <a:p xmlns:a="http://schemas.openxmlformats.org/drawingml/2006/main">
            <a:r>
              <a:t>Primary claim: dependable agentic work connects an explicit plan to bounded execution and inspectable proof.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[14] https://github.com/nickreames/mdkg/blob/580be1e6efffe852e9996186e85e2bcbcd3e3e3b/mdkg-dev/src/pages/index.astro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Narrative job: prepare the audience to read the reveal as source-to-execution proof, without teaching graph mechanics.</a:t>
            </a:r>
          </a:p>
          <a:p xmlns:a="http://schemas.openxmlformats.org/drawingml/2006/main">
            <a:r>
              <a:t>This prototype is an illustrative structure only. It is not evidence that Demo 2 or Demo 3 exists.</a:t>
            </a:r>
          </a:p>
          <a:p xmlns:a="http://schemas.openxmlformats.org/drawingml/2006/main">
            <a:r>
              <a:t>Speaker cue: read this as a reusable starting specification becoming a specific, executed specification.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Program architecture contract: presentations/ai-native-sdlc-demo/.mdkg/design/edd-1-ai-native-sdlc-presentation-demo-program-architecture-and-execution.md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851861b4f24d8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5de6a5f40924d1f" /><Relationship Type="http://schemas.openxmlformats.org/officeDocument/2006/relationships/slideLayout" Target="/ppt/slideLayouts/slideLayout1.xml" Id="R53b901b33b184c1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3b901b33b184c1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52400" dist="47625" dir="5400000">
              <a:srgbClr val="08263A">
                <a:alpha val="10000"/>
              </a:srgbClr>
            </a:outerShdw>
          </a:effectLst>
        </a:effectStyle>
        <a:effectStyle>
          <a:effectLst>
            <a:outerShdw blurRad="190500" dist="76200" dir="5400000">
              <a:srgbClr val="08263A">
                <a:alpha val="10000"/>
              </a:srgbClr>
            </a:outerShdw>
          </a:effectLst>
        </a:effectStyle>
        <a:effectStyle>
          <a:effectLst>
            <a:outerShdw blurRad="171450" dist="57150" dir="5400000">
              <a:srgbClr val="08263A">
                <a:alpha val="10000"/>
              </a:srgbClr>
            </a:outerShdw>
          </a:effectLst>
        </a:effectStyle>
        <a:effectStyle>
          <a:effectLst>
            <a:outerShdw blurRad="209550" dist="76200" dir="5400000">
              <a:srgbClr val="005B57">
                <a:alpha val="1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bbdc31e6dd41d1" /><Relationship Type="http://schemas.openxmlformats.org/officeDocument/2006/relationships/notesSlide" Target="/ppt/notesSlides/notesSlide1.xml" Id="Ra1e7d53e36cf421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058c835fc349a0" /><Relationship Type="http://schemas.openxmlformats.org/officeDocument/2006/relationships/notesSlide" Target="/ppt/notesSlides/notesSlide2.xml" Id="R5cfc51c4e5b7406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d9228e885f4889" /><Relationship Type="http://schemas.openxmlformats.org/officeDocument/2006/relationships/notesSlide" Target="/ppt/notesSlides/notesSlide3.xml" Id="R1024aad2d4c6454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header-current-1">
            <a:extLst xmlns:a="http://schemas.openxmlformats.org/drawingml/2006/main">
              <a:ext uri="{FF2B5EF4-FFF2-40B4-BE49-F238E27FC236}">
                <a16:creationId xmlns:a16="http://schemas.microsoft.com/office/drawing/2014/main" id="{5F1302CD-219D-4D3A-AB42-C6D5B535C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"/>
            <a:ext cx="4191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C7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-1">
            <a:extLst xmlns:a="http://schemas.openxmlformats.org/drawingml/2006/main">
              <a:ext uri="{FF2B5EF4-FFF2-40B4-BE49-F238E27FC236}">
                <a16:creationId xmlns:a16="http://schemas.microsoft.com/office/drawing/2014/main" id="{D8DBB3C4-B1C4-41EA-8142-33588EDFE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95275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5B57"/>
                </a:solidFill>
              </a:defRPr>
            </a:pPr>
            <a:r>
              <a:rPr sz="1200" b="1">
                <a:solidFill>
                  <a:srgbClr val="005B57"/>
                </a:solidFill>
              </a:rPr>
              <a:t>CAPABILITY PROGRESSION</a:t>
            </a:r>
          </a:p>
        </p:txBody>
      </p:sp>
      <p:sp>
        <p:nvSpPr>
          <p:cNvPr id="3" name="title-1">
            <a:extLst xmlns:a="http://schemas.openxmlformats.org/drawingml/2006/main">
              <a:ext uri="{FF2B5EF4-FFF2-40B4-BE49-F238E27FC236}">
                <a16:creationId xmlns:a16="http://schemas.microsoft.com/office/drawing/2014/main" id="{C1163666-5ECF-4406-9A0D-56199B601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8263A"/>
                </a:solidFill>
              </a:defRPr>
            </a:pPr>
            <a:r>
              <a:rPr sz="2850" b="1">
                <a:solidFill>
                  <a:srgbClr val="08263A"/>
                </a:solidFill>
              </a:rPr>
              <a:t>The unit of coding work kept expanding</a:t>
            </a:r>
          </a:p>
        </p:txBody>
      </p:sp>
      <p:sp>
        <p:nvSpPr>
          <p:cNvPr id="4" name="subtitle-1">
            <a:extLst xmlns:a="http://schemas.openxmlformats.org/drawingml/2006/main">
              <a:ext uri="{FF2B5EF4-FFF2-40B4-BE49-F238E27FC236}">
                <a16:creationId xmlns:a16="http://schemas.microsoft.com/office/drawing/2014/main" id="{D132413D-4FD0-449C-8CFE-C3F489B7F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6566A"/>
                </a:solidFill>
              </a:defRPr>
            </a:pPr>
            <a:r>
              <a:rPr sz="1425" b="0">
                <a:solidFill>
                  <a:srgbClr val="36566A"/>
                </a:solidFill>
              </a:rPr>
              <a:t>Capabilities accumulated. Product dates overlap; each stage adds reach without deleting the previous one.</a:t>
            </a:r>
          </a:p>
        </p:txBody>
      </p:sp>
      <p:sp>
        <p:nvSpPr>
          <p:cNvPr id="5" name="timeline-current-underlay">
            <a:extLst xmlns:a="http://schemas.openxmlformats.org/drawingml/2006/main">
              <a:ext uri="{FF2B5EF4-FFF2-40B4-BE49-F238E27FC236}">
                <a16:creationId xmlns:a16="http://schemas.microsoft.com/office/drawing/2014/main" id="{5B3E4F39-0848-4607-955F-A3BD4AB8D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86125"/>
            <a:ext cx="103060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imeline-current">
            <a:extLst xmlns:a="http://schemas.openxmlformats.org/drawingml/2006/main">
              <a:ext uri="{FF2B5EF4-FFF2-40B4-BE49-F238E27FC236}">
                <a16:creationId xmlns:a16="http://schemas.microsoft.com/office/drawing/2014/main" id="{17FBB20F-7DDB-490C-B798-D1F62F18B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24225"/>
            <a:ext cx="103060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56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imeline-arrow">
            <a:extLst xmlns:a="http://schemas.openxmlformats.org/drawingml/2006/main">
              <a:ext uri="{FF2B5EF4-FFF2-40B4-BE49-F238E27FC236}">
                <a16:creationId xmlns:a16="http://schemas.microsoft.com/office/drawing/2014/main" id="{B6E47DAE-E4AC-4BD4-AF23-A9DCECA5D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3200400"/>
            <a:ext cx="6096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56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tage-card-1">
            <a:extLst xmlns:a="http://schemas.openxmlformats.org/drawingml/2006/main">
              <a:ext uri="{FF2B5EF4-FFF2-40B4-BE49-F238E27FC236}">
                <a16:creationId xmlns:a16="http://schemas.microsoft.com/office/drawing/2014/main" id="{2A04EC60-4710-4655-BEEB-409663595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66900"/>
            <a:ext cx="1676400" cy="12001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E839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9" name="stage-date-1">
            <a:extLst xmlns:a="http://schemas.openxmlformats.org/drawingml/2006/main">
              <a:ext uri="{FF2B5EF4-FFF2-40B4-BE49-F238E27FC236}">
                <a16:creationId xmlns:a16="http://schemas.microsoft.com/office/drawing/2014/main" id="{AA5CD1B4-1803-49D0-9B1D-39064715C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90725"/>
            <a:ext cx="1409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5B57"/>
                </a:solidFill>
              </a:defRPr>
            </a:pPr>
            <a:r>
              <a:rPr sz="1200" b="1">
                <a:solidFill>
                  <a:srgbClr val="005B57"/>
                </a:solidFill>
              </a:rPr>
              <a:t>2021</a:t>
            </a:r>
          </a:p>
        </p:txBody>
      </p:sp>
      <p:sp>
        <p:nvSpPr>
          <p:cNvPr id="10" name="stage-label-1">
            <a:extLst xmlns:a="http://schemas.openxmlformats.org/drawingml/2006/main">
              <a:ext uri="{FF2B5EF4-FFF2-40B4-BE49-F238E27FC236}">
                <a16:creationId xmlns:a16="http://schemas.microsoft.com/office/drawing/2014/main" id="{5F350B13-C964-425D-A61A-8FFAE265A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76475"/>
            <a:ext cx="1543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8263A"/>
                </a:solidFill>
              </a:defRPr>
            </a:pPr>
            <a:r>
              <a:rPr sz="1200" b="1">
                <a:solidFill>
                  <a:srgbClr val="08263A"/>
                </a:solidFill>
              </a:rPr>
              <a:t>AUTOCOMPLETE</a:t>
            </a:r>
          </a:p>
        </p:txBody>
      </p:sp>
      <p:sp>
        <p:nvSpPr>
          <p:cNvPr id="11" name="stage-product-1">
            <a:extLst xmlns:a="http://schemas.openxmlformats.org/drawingml/2006/main">
              <a:ext uri="{FF2B5EF4-FFF2-40B4-BE49-F238E27FC236}">
                <a16:creationId xmlns:a16="http://schemas.microsoft.com/office/drawing/2014/main" id="{6CCC828C-1E8E-4B95-93A8-875E22EE4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90825"/>
            <a:ext cx="1409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6566A"/>
                </a:solidFill>
              </a:defRPr>
            </a:pPr>
            <a:r>
              <a:rPr sz="1200" b="0">
                <a:solidFill>
                  <a:srgbClr val="36566A"/>
                </a:solidFill>
              </a:rPr>
              <a:t>GitHub Copilot</a:t>
            </a:r>
          </a:p>
        </p:txBody>
      </p:sp>
      <p:sp>
        <p:nvSpPr>
          <p:cNvPr id="12" name="stage-connector-1">
            <a:extLst xmlns:a="http://schemas.openxmlformats.org/drawingml/2006/main">
              <a:ext uri="{FF2B5EF4-FFF2-40B4-BE49-F238E27FC236}">
                <a16:creationId xmlns:a16="http://schemas.microsoft.com/office/drawing/2014/main" id="{67DC2C6D-FF71-4846-B672-65CB99475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067050"/>
            <a:ext cx="38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6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tage-dot-1">
            <a:extLst xmlns:a="http://schemas.openxmlformats.org/drawingml/2006/main">
              <a:ext uri="{FF2B5EF4-FFF2-40B4-BE49-F238E27FC236}">
                <a16:creationId xmlns:a16="http://schemas.microsoft.com/office/drawing/2014/main" id="{F70DF2C0-82F9-44A8-BA2E-87CDCE05F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238500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5FB"/>
          </a:solidFill>
          <a:ln xmlns:a="http://schemas.openxmlformats.org/drawingml/2006/main" w="28575">
            <a:solidFill>
              <a:srgbClr val="00566D"/>
            </a:solidFill>
            <a:prstDash val="solid"/>
          </a:ln>
        </p:spPr>
      </p:sp>
      <p:sp>
        <p:nvSpPr>
          <p:cNvPr id="14" name="stage-card-2">
            <a:extLst xmlns:a="http://schemas.openxmlformats.org/drawingml/2006/main">
              <a:ext uri="{FF2B5EF4-FFF2-40B4-BE49-F238E27FC236}">
                <a16:creationId xmlns:a16="http://schemas.microsoft.com/office/drawing/2014/main" id="{4362750D-C2DB-436A-AFF8-7FAAC6811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857625"/>
            <a:ext cx="1676400" cy="12001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E839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5" name="stage-date-2">
            <a:extLst xmlns:a="http://schemas.openxmlformats.org/drawingml/2006/main">
              <a:ext uri="{FF2B5EF4-FFF2-40B4-BE49-F238E27FC236}">
                <a16:creationId xmlns:a16="http://schemas.microsoft.com/office/drawing/2014/main" id="{46F5D344-74C5-4952-9A5B-92D949380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981450"/>
            <a:ext cx="1409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5B57"/>
                </a:solidFill>
              </a:defRPr>
            </a:pPr>
            <a:r>
              <a:rPr sz="1200" b="1">
                <a:solidFill>
                  <a:srgbClr val="005B57"/>
                </a:solidFill>
              </a:rPr>
              <a:t>2022</a:t>
            </a:r>
          </a:p>
        </p:txBody>
      </p:sp>
      <p:sp>
        <p:nvSpPr>
          <p:cNvPr id="16" name="stage-label-2">
            <a:extLst xmlns:a="http://schemas.openxmlformats.org/drawingml/2006/main">
              <a:ext uri="{FF2B5EF4-FFF2-40B4-BE49-F238E27FC236}">
                <a16:creationId xmlns:a16="http://schemas.microsoft.com/office/drawing/2014/main" id="{63FBF62C-FD90-480B-A38F-0FC7ABFD1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4267200"/>
            <a:ext cx="1543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8263A"/>
                </a:solidFill>
              </a:defRPr>
            </a:pPr>
            <a:r>
              <a:rPr sz="1200" b="1">
                <a:solidFill>
                  <a:srgbClr val="08263A"/>
                </a:solidFill>
              </a:rPr>
              <a:t>PROMPT</a:t>
            </a:r>
          </a:p>
          <a:p xmlns:a="http://schemas.openxmlformats.org/drawingml/2006/main">
            <a:pPr algn="l">
              <a:defRPr sz="1200" b="1">
                <a:solidFill>
                  <a:srgbClr val="08263A"/>
                </a:solidFill>
              </a:defRPr>
            </a:pPr>
            <a:r>
              <a:rPr sz="1200" b="1">
                <a:solidFill>
                  <a:srgbClr val="08263A"/>
                </a:solidFill>
              </a:rPr>
              <a:t>ENGINEERING</a:t>
            </a:r>
          </a:p>
        </p:txBody>
      </p:sp>
      <p:sp>
        <p:nvSpPr>
          <p:cNvPr id="17" name="stage-product-2">
            <a:extLst xmlns:a="http://schemas.openxmlformats.org/drawingml/2006/main">
              <a:ext uri="{FF2B5EF4-FFF2-40B4-BE49-F238E27FC236}">
                <a16:creationId xmlns:a16="http://schemas.microsoft.com/office/drawing/2014/main" id="{657EA0F4-1EB5-4E5C-B233-BCFB07377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781550"/>
            <a:ext cx="1409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6566A"/>
                </a:solidFill>
              </a:defRPr>
            </a:pPr>
            <a:r>
              <a:rPr sz="1200" b="0">
                <a:solidFill>
                  <a:srgbClr val="36566A"/>
                </a:solidFill>
              </a:rPr>
              <a:t>ChatGPT</a:t>
            </a:r>
          </a:p>
        </p:txBody>
      </p:sp>
      <p:sp>
        <p:nvSpPr>
          <p:cNvPr id="18" name="stage-connector-2">
            <a:extLst xmlns:a="http://schemas.openxmlformats.org/drawingml/2006/main">
              <a:ext uri="{FF2B5EF4-FFF2-40B4-BE49-F238E27FC236}">
                <a16:creationId xmlns:a16="http://schemas.microsoft.com/office/drawing/2014/main" id="{0C07A88F-62E2-4BB6-A6E1-E3E6ABEA0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419475"/>
            <a:ext cx="38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6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stage-dot-2">
            <a:extLst xmlns:a="http://schemas.openxmlformats.org/drawingml/2006/main">
              <a:ext uri="{FF2B5EF4-FFF2-40B4-BE49-F238E27FC236}">
                <a16:creationId xmlns:a16="http://schemas.microsoft.com/office/drawing/2014/main" id="{65EBF4B8-5250-40A7-93DA-DF9CFC43A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3238500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5FB"/>
          </a:solidFill>
          <a:ln xmlns:a="http://schemas.openxmlformats.org/drawingml/2006/main" w="28575">
            <a:solidFill>
              <a:srgbClr val="00566D"/>
            </a:solidFill>
            <a:prstDash val="solid"/>
          </a:ln>
        </p:spPr>
      </p:sp>
      <p:sp>
        <p:nvSpPr>
          <p:cNvPr id="20" name="stage-card-3">
            <a:extLst xmlns:a="http://schemas.openxmlformats.org/drawingml/2006/main">
              <a:ext uri="{FF2B5EF4-FFF2-40B4-BE49-F238E27FC236}">
                <a16:creationId xmlns:a16="http://schemas.microsoft.com/office/drawing/2014/main" id="{B88048AC-C3A0-43ED-A64A-505A7CC6E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866900"/>
            <a:ext cx="1676400" cy="12001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E839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1" name="stage-date-3">
            <a:extLst xmlns:a="http://schemas.openxmlformats.org/drawingml/2006/main">
              <a:ext uri="{FF2B5EF4-FFF2-40B4-BE49-F238E27FC236}">
                <a16:creationId xmlns:a16="http://schemas.microsoft.com/office/drawing/2014/main" id="{706D9C74-EC84-41B7-AA0D-8438DB155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990725"/>
            <a:ext cx="1409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5B57"/>
                </a:solidFill>
              </a:defRPr>
            </a:pPr>
            <a:r>
              <a:rPr sz="1200" b="1">
                <a:solidFill>
                  <a:srgbClr val="005B57"/>
                </a:solidFill>
              </a:rPr>
              <a:t>2024</a:t>
            </a:r>
          </a:p>
        </p:txBody>
      </p:sp>
      <p:sp>
        <p:nvSpPr>
          <p:cNvPr id="22" name="stage-label-3">
            <a:extLst xmlns:a="http://schemas.openxmlformats.org/drawingml/2006/main">
              <a:ext uri="{FF2B5EF4-FFF2-40B4-BE49-F238E27FC236}">
                <a16:creationId xmlns:a16="http://schemas.microsoft.com/office/drawing/2014/main" id="{DBD64923-E51F-4984-9956-92921339D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276475"/>
            <a:ext cx="1543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8263A"/>
                </a:solidFill>
              </a:defRPr>
            </a:pPr>
            <a:r>
              <a:rPr sz="1200" b="1">
                <a:solidFill>
                  <a:srgbClr val="08263A"/>
                </a:solidFill>
              </a:rPr>
              <a:t>REASONING</a:t>
            </a:r>
          </a:p>
        </p:txBody>
      </p:sp>
      <p:sp>
        <p:nvSpPr>
          <p:cNvPr id="23" name="stage-product-3">
            <a:extLst xmlns:a="http://schemas.openxmlformats.org/drawingml/2006/main">
              <a:ext uri="{FF2B5EF4-FFF2-40B4-BE49-F238E27FC236}">
                <a16:creationId xmlns:a16="http://schemas.microsoft.com/office/drawing/2014/main" id="{90E491EE-19A9-4ACD-8943-102D029B4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790825"/>
            <a:ext cx="1409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6566A"/>
                </a:solidFill>
              </a:defRPr>
            </a:pPr>
            <a:r>
              <a:rPr sz="1200" b="0">
                <a:solidFill>
                  <a:srgbClr val="36566A"/>
                </a:solidFill>
              </a:rPr>
              <a:t>OpenAI o1</a:t>
            </a:r>
          </a:p>
        </p:txBody>
      </p:sp>
      <p:sp>
        <p:nvSpPr>
          <p:cNvPr id="24" name="stage-connector-3">
            <a:extLst xmlns:a="http://schemas.openxmlformats.org/drawingml/2006/main">
              <a:ext uri="{FF2B5EF4-FFF2-40B4-BE49-F238E27FC236}">
                <a16:creationId xmlns:a16="http://schemas.microsoft.com/office/drawing/2014/main" id="{06F10EF7-72E5-4BF8-9C94-86FD2662E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067050"/>
            <a:ext cx="38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6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stage-dot-3">
            <a:extLst xmlns:a="http://schemas.openxmlformats.org/drawingml/2006/main">
              <a:ext uri="{FF2B5EF4-FFF2-40B4-BE49-F238E27FC236}">
                <a16:creationId xmlns:a16="http://schemas.microsoft.com/office/drawing/2014/main" id="{D1B12862-31D0-4427-A3BD-FE783D036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3238500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5FB"/>
          </a:solidFill>
          <a:ln xmlns:a="http://schemas.openxmlformats.org/drawingml/2006/main" w="28575">
            <a:solidFill>
              <a:srgbClr val="00566D"/>
            </a:solidFill>
            <a:prstDash val="solid"/>
          </a:ln>
        </p:spPr>
      </p:sp>
      <p:sp>
        <p:nvSpPr>
          <p:cNvPr id="26" name="stage-card-4">
            <a:extLst xmlns:a="http://schemas.openxmlformats.org/drawingml/2006/main">
              <a:ext uri="{FF2B5EF4-FFF2-40B4-BE49-F238E27FC236}">
                <a16:creationId xmlns:a16="http://schemas.microsoft.com/office/drawing/2014/main" id="{19CE6C57-6266-48BF-943A-099CA6B07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857625"/>
            <a:ext cx="1676400" cy="12001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E839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7" name="stage-date-4">
            <a:extLst xmlns:a="http://schemas.openxmlformats.org/drawingml/2006/main">
              <a:ext uri="{FF2B5EF4-FFF2-40B4-BE49-F238E27FC236}">
                <a16:creationId xmlns:a16="http://schemas.microsoft.com/office/drawing/2014/main" id="{9408D3FD-B3EE-46BD-83E6-08BC25B44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981450"/>
            <a:ext cx="1409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5B57"/>
                </a:solidFill>
              </a:defRPr>
            </a:pPr>
            <a:r>
              <a:rPr sz="1200" b="1">
                <a:solidFill>
                  <a:srgbClr val="005B57"/>
                </a:solidFill>
              </a:rPr>
              <a:t>2025</a:t>
            </a:r>
          </a:p>
        </p:txBody>
      </p:sp>
      <p:sp>
        <p:nvSpPr>
          <p:cNvPr id="28" name="stage-label-4">
            <a:extLst xmlns:a="http://schemas.openxmlformats.org/drawingml/2006/main">
              <a:ext uri="{FF2B5EF4-FFF2-40B4-BE49-F238E27FC236}">
                <a16:creationId xmlns:a16="http://schemas.microsoft.com/office/drawing/2014/main" id="{DFFC2630-118D-4024-BC12-7423F4B3A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4267200"/>
            <a:ext cx="1543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8263A"/>
                </a:solidFill>
              </a:defRPr>
            </a:pPr>
            <a:r>
              <a:rPr sz="1200" b="1">
                <a:solidFill>
                  <a:srgbClr val="08263A"/>
                </a:solidFill>
              </a:rPr>
              <a:t>TOOL USE</a:t>
            </a:r>
          </a:p>
        </p:txBody>
      </p:sp>
      <p:sp>
        <p:nvSpPr>
          <p:cNvPr id="29" name="stage-product-4">
            <a:extLst xmlns:a="http://schemas.openxmlformats.org/drawingml/2006/main">
              <a:ext uri="{FF2B5EF4-FFF2-40B4-BE49-F238E27FC236}">
                <a16:creationId xmlns:a16="http://schemas.microsoft.com/office/drawing/2014/main" id="{323F04C9-4717-489B-8DA0-E5D6841E6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781550"/>
            <a:ext cx="1409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6566A"/>
                </a:solidFill>
              </a:defRPr>
            </a:pPr>
            <a:r>
              <a:rPr sz="1200" b="0">
                <a:solidFill>
                  <a:srgbClr val="36566A"/>
                </a:solidFill>
              </a:rPr>
              <a:t>Claude Code</a:t>
            </a:r>
          </a:p>
        </p:txBody>
      </p:sp>
      <p:sp>
        <p:nvSpPr>
          <p:cNvPr id="30" name="stage-connector-4">
            <a:extLst xmlns:a="http://schemas.openxmlformats.org/drawingml/2006/main">
              <a:ext uri="{FF2B5EF4-FFF2-40B4-BE49-F238E27FC236}">
                <a16:creationId xmlns:a16="http://schemas.microsoft.com/office/drawing/2014/main" id="{C09AF678-79A0-4AB1-91D2-6E444B634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419475"/>
            <a:ext cx="38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6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stage-dot-4">
            <a:extLst xmlns:a="http://schemas.openxmlformats.org/drawingml/2006/main">
              <a:ext uri="{FF2B5EF4-FFF2-40B4-BE49-F238E27FC236}">
                <a16:creationId xmlns:a16="http://schemas.microsoft.com/office/drawing/2014/main" id="{2646ECA4-91D7-418D-A8D8-9C0D53952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3238500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5FB"/>
          </a:solidFill>
          <a:ln xmlns:a="http://schemas.openxmlformats.org/drawingml/2006/main" w="28575">
            <a:solidFill>
              <a:srgbClr val="00566D"/>
            </a:solidFill>
            <a:prstDash val="solid"/>
          </a:ln>
        </p:spPr>
      </p:sp>
      <p:sp>
        <p:nvSpPr>
          <p:cNvPr id="32" name="stage-card-5">
            <a:extLst xmlns:a="http://schemas.openxmlformats.org/drawingml/2006/main">
              <a:ext uri="{FF2B5EF4-FFF2-40B4-BE49-F238E27FC236}">
                <a16:creationId xmlns:a16="http://schemas.microsoft.com/office/drawing/2014/main" id="{FD30B2A5-85BA-4DBF-8457-D9AAD5532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866900"/>
            <a:ext cx="1676400" cy="12001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E839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33" name="stage-date-5">
            <a:extLst xmlns:a="http://schemas.openxmlformats.org/drawingml/2006/main">
              <a:ext uri="{FF2B5EF4-FFF2-40B4-BE49-F238E27FC236}">
                <a16:creationId xmlns:a16="http://schemas.microsoft.com/office/drawing/2014/main" id="{711C9BDD-C99C-4EEC-9A95-DAEF22D76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990725"/>
            <a:ext cx="1409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5B57"/>
                </a:solidFill>
              </a:defRPr>
            </a:pPr>
            <a:r>
              <a:rPr sz="1200" b="1">
                <a:solidFill>
                  <a:srgbClr val="005B57"/>
                </a:solidFill>
              </a:rPr>
              <a:t>2025</a:t>
            </a:r>
          </a:p>
        </p:txBody>
      </p:sp>
      <p:sp>
        <p:nvSpPr>
          <p:cNvPr id="34" name="stage-label-5">
            <a:extLst xmlns:a="http://schemas.openxmlformats.org/drawingml/2006/main">
              <a:ext uri="{FF2B5EF4-FFF2-40B4-BE49-F238E27FC236}">
                <a16:creationId xmlns:a16="http://schemas.microsoft.com/office/drawing/2014/main" id="{52152729-D152-456B-845C-365D82B4C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276475"/>
            <a:ext cx="1543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8263A"/>
                </a:solidFill>
              </a:defRPr>
            </a:pPr>
            <a:r>
              <a:rPr sz="1200" b="1">
                <a:solidFill>
                  <a:srgbClr val="08263A"/>
                </a:solidFill>
              </a:rPr>
              <a:t>CONDITIONAL</a:t>
            </a:r>
          </a:p>
          <a:p xmlns:a="http://schemas.openxmlformats.org/drawingml/2006/main">
            <a:pPr algn="l">
              <a:defRPr sz="1200" b="1">
                <a:solidFill>
                  <a:srgbClr val="08263A"/>
                </a:solidFill>
              </a:defRPr>
            </a:pPr>
            <a:r>
              <a:rPr sz="1200" b="1">
                <a:solidFill>
                  <a:srgbClr val="08263A"/>
                </a:solidFill>
              </a:rPr>
              <a:t>CONTEXT</a:t>
            </a:r>
          </a:p>
        </p:txBody>
      </p:sp>
      <p:sp>
        <p:nvSpPr>
          <p:cNvPr id="35" name="stage-product-5">
            <a:extLst xmlns:a="http://schemas.openxmlformats.org/drawingml/2006/main">
              <a:ext uri="{FF2B5EF4-FFF2-40B4-BE49-F238E27FC236}">
                <a16:creationId xmlns:a16="http://schemas.microsoft.com/office/drawing/2014/main" id="{7F28D6ED-97C3-4FEB-85D4-338586ACF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790825"/>
            <a:ext cx="1409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6566A"/>
                </a:solidFill>
              </a:defRPr>
            </a:pPr>
            <a:r>
              <a:rPr sz="1200" b="0">
                <a:solidFill>
                  <a:srgbClr val="36566A"/>
                </a:solidFill>
              </a:rPr>
              <a:t>SKILL.md</a:t>
            </a:r>
          </a:p>
        </p:txBody>
      </p:sp>
      <p:sp>
        <p:nvSpPr>
          <p:cNvPr id="36" name="stage-connector-5">
            <a:extLst xmlns:a="http://schemas.openxmlformats.org/drawingml/2006/main">
              <a:ext uri="{FF2B5EF4-FFF2-40B4-BE49-F238E27FC236}">
                <a16:creationId xmlns:a16="http://schemas.microsoft.com/office/drawing/2014/main" id="{01D84F39-D8C0-452F-AB03-5BD05820E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067050"/>
            <a:ext cx="38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6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stage-dot-5">
            <a:extLst xmlns:a="http://schemas.openxmlformats.org/drawingml/2006/main">
              <a:ext uri="{FF2B5EF4-FFF2-40B4-BE49-F238E27FC236}">
                <a16:creationId xmlns:a16="http://schemas.microsoft.com/office/drawing/2014/main" id="{4430F93E-11F6-4E7B-9A73-87A5026D5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238500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5FB"/>
          </a:solidFill>
          <a:ln xmlns:a="http://schemas.openxmlformats.org/drawingml/2006/main" w="28575">
            <a:solidFill>
              <a:srgbClr val="00566D"/>
            </a:solidFill>
            <a:prstDash val="solid"/>
          </a:ln>
        </p:spPr>
      </p:sp>
      <p:sp>
        <p:nvSpPr>
          <p:cNvPr id="38" name="stage-card-6">
            <a:extLst xmlns:a="http://schemas.openxmlformats.org/drawingml/2006/main">
              <a:ext uri="{FF2B5EF4-FFF2-40B4-BE49-F238E27FC236}">
                <a16:creationId xmlns:a16="http://schemas.microsoft.com/office/drawing/2014/main" id="{3B87D44B-82B3-4650-B37E-D5613B6FD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857625"/>
            <a:ext cx="1676400" cy="12001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DEAE8"/>
          </a:solidFill>
          <a:ln xmlns:a="http://schemas.openxmlformats.org/drawingml/2006/main" w="19050">
            <a:solidFill>
              <a:srgbClr val="9B2C2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39" name="stage-date-6">
            <a:extLst xmlns:a="http://schemas.openxmlformats.org/drawingml/2006/main">
              <a:ext uri="{FF2B5EF4-FFF2-40B4-BE49-F238E27FC236}">
                <a16:creationId xmlns:a16="http://schemas.microsoft.com/office/drawing/2014/main" id="{26D4D069-4BC5-4C10-BF19-7F3554C7B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981450"/>
            <a:ext cx="1409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B2C2C"/>
                </a:solidFill>
              </a:defRPr>
            </a:pPr>
            <a:r>
              <a:rPr sz="1200" b="1">
                <a:solidFill>
                  <a:srgbClr val="9B2C2C"/>
                </a:solidFill>
              </a:rPr>
              <a:t>2025–26</a:t>
            </a:r>
          </a:p>
        </p:txBody>
      </p:sp>
      <p:sp>
        <p:nvSpPr>
          <p:cNvPr id="40" name="stage-label-6">
            <a:extLst xmlns:a="http://schemas.openxmlformats.org/drawingml/2006/main">
              <a:ext uri="{FF2B5EF4-FFF2-40B4-BE49-F238E27FC236}">
                <a16:creationId xmlns:a16="http://schemas.microsoft.com/office/drawing/2014/main" id="{16DD52F9-4C7C-4BBD-9AA8-D6A95BFCB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267200"/>
            <a:ext cx="1543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8263A"/>
                </a:solidFill>
              </a:defRPr>
            </a:pPr>
            <a:r>
              <a:rPr sz="1200" b="1">
                <a:solidFill>
                  <a:srgbClr val="08263A"/>
                </a:solidFill>
              </a:rPr>
              <a:t>LONG</a:t>
            </a:r>
          </a:p>
          <a:p xmlns:a="http://schemas.openxmlformats.org/drawingml/2006/main">
            <a:pPr algn="l">
              <a:defRPr sz="1200" b="1">
                <a:solidFill>
                  <a:srgbClr val="08263A"/>
                </a:solidFill>
              </a:defRPr>
            </a:pPr>
            <a:r>
              <a:rPr sz="1200" b="1">
                <a:solidFill>
                  <a:srgbClr val="08263A"/>
                </a:solidFill>
              </a:rPr>
              <a:t>HORIZON</a:t>
            </a:r>
          </a:p>
        </p:txBody>
      </p:sp>
      <p:sp>
        <p:nvSpPr>
          <p:cNvPr id="41" name="stage-product-6">
            <a:extLst xmlns:a="http://schemas.openxmlformats.org/drawingml/2006/main">
              <a:ext uri="{FF2B5EF4-FFF2-40B4-BE49-F238E27FC236}">
                <a16:creationId xmlns:a16="http://schemas.microsoft.com/office/drawing/2014/main" id="{0190AEDC-9EEF-4857-A70D-D47351C36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781550"/>
            <a:ext cx="1409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6566A"/>
                </a:solidFill>
              </a:defRPr>
            </a:pPr>
            <a:r>
              <a:rPr sz="1200" b="0">
                <a:solidFill>
                  <a:srgbClr val="36566A"/>
                </a:solidFill>
              </a:rPr>
              <a:t>Codex + Claude</a:t>
            </a:r>
          </a:p>
        </p:txBody>
      </p:sp>
      <p:sp>
        <p:nvSpPr>
          <p:cNvPr id="42" name="stage-connector-6">
            <a:extLst xmlns:a="http://schemas.openxmlformats.org/drawingml/2006/main">
              <a:ext uri="{FF2B5EF4-FFF2-40B4-BE49-F238E27FC236}">
                <a16:creationId xmlns:a16="http://schemas.microsoft.com/office/drawing/2014/main" id="{838152AC-B396-4AB3-B1A6-8826F8773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419475"/>
            <a:ext cx="38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2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stage-dot-6">
            <a:extLst xmlns:a="http://schemas.openxmlformats.org/drawingml/2006/main">
              <a:ext uri="{FF2B5EF4-FFF2-40B4-BE49-F238E27FC236}">
                <a16:creationId xmlns:a16="http://schemas.microsoft.com/office/drawing/2014/main" id="{A569470A-4806-4351-878A-7C77C807F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3238500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EAE8"/>
          </a:solidFill>
          <a:ln xmlns:a="http://schemas.openxmlformats.org/drawingml/2006/main" w="28575">
            <a:solidFill>
              <a:srgbClr val="9B2C2C"/>
            </a:solidFill>
            <a:prstDash val="solid"/>
          </a:ln>
        </p:spPr>
      </p:sp>
      <p:sp>
        <p:nvSpPr>
          <p:cNvPr id="44" name="horizon-caveat">
            <a:extLst xmlns:a="http://schemas.openxmlformats.org/drawingml/2006/main">
              <a:ext uri="{FF2B5EF4-FFF2-40B4-BE49-F238E27FC236}">
                <a16:creationId xmlns:a16="http://schemas.microsoft.com/office/drawing/2014/main" id="{80B7EE16-3FA9-44BE-A1B3-0D4AF77EC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753100"/>
            <a:ext cx="674370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FDEAE8"/>
          </a:solidFill>
          <a:ln xmlns:a="http://schemas.openxmlformats.org/drawingml/2006/main" w="19050">
            <a:solidFill>
              <a:srgbClr val="9B2C2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8263A"/>
                </a:solidFill>
              </a:defRPr>
            </a:pPr>
            <a:r>
              <a:rPr sz="1200" b="1">
                <a:solidFill>
                  <a:srgbClr val="08263A"/>
                </a:solidFill>
              </a:rPr>
              <a:t>Evidence rule  ·  human-equivalent task horizon ≠ elapsed agent runtime</a:t>
            </a:r>
          </a:p>
        </p:txBody>
      </p:sp>
      <p:sp>
        <p:nvSpPr>
          <p:cNvPr id="45" name="footer-line-1">
            <a:extLst xmlns:a="http://schemas.openxmlformats.org/drawingml/2006/main">
              <a:ext uri="{FF2B5EF4-FFF2-40B4-BE49-F238E27FC236}">
                <a16:creationId xmlns:a16="http://schemas.microsoft.com/office/drawing/2014/main" id="{258D62D6-BF84-4F63-B4CB-D74082C47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83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source-1">
            <a:extLst xmlns:a="http://schemas.openxmlformats.org/drawingml/2006/main">
              <a:ext uri="{FF2B5EF4-FFF2-40B4-BE49-F238E27FC236}">
                <a16:creationId xmlns:a16="http://schemas.microsoft.com/office/drawing/2014/main" id="{EBB237FB-1CF0-423E-ACEC-AE31CBEDE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953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6566A"/>
                </a:solidFill>
              </a:defRPr>
            </a:pPr>
            <a:r>
              <a:rPr sz="1200" b="0">
                <a:solidFill>
                  <a:srgbClr val="36566A"/>
                </a:solidFill>
              </a:rPr>
              <a:t>[1–12] Primary sources and limitations in claim matrix + notes</a:t>
            </a:r>
          </a:p>
        </p:txBody>
      </p:sp>
      <p:sp>
        <p:nvSpPr>
          <p:cNvPr id="47" name="folio-1">
            <a:extLst xmlns:a="http://schemas.openxmlformats.org/drawingml/2006/main">
              <a:ext uri="{FF2B5EF4-FFF2-40B4-BE49-F238E27FC236}">
                <a16:creationId xmlns:a16="http://schemas.microsoft.com/office/drawing/2014/main" id="{066E6608-E24F-407F-903B-1EA7F1232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36566A"/>
                </a:solidFill>
              </a:defRPr>
            </a:pPr>
            <a:r>
              <a:rPr sz="1200" b="1">
                <a:solidFill>
                  <a:srgbClr val="36566A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21960813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header-current-2">
            <a:extLst xmlns:a="http://schemas.openxmlformats.org/drawingml/2006/main">
              <a:ext uri="{FF2B5EF4-FFF2-40B4-BE49-F238E27FC236}">
                <a16:creationId xmlns:a16="http://schemas.microsoft.com/office/drawing/2014/main" id="{6F8D0D52-67F4-48C6-B22C-04518EB4B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"/>
            <a:ext cx="4191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C7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-2">
            <a:extLst xmlns:a="http://schemas.openxmlformats.org/drawingml/2006/main">
              <a:ext uri="{FF2B5EF4-FFF2-40B4-BE49-F238E27FC236}">
                <a16:creationId xmlns:a16="http://schemas.microsoft.com/office/drawing/2014/main" id="{74EC0704-0E82-419C-91DA-5A6F9D0E5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95275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5B57"/>
                </a:solidFill>
              </a:defRPr>
            </a:pPr>
            <a:r>
              <a:rPr sz="1200" b="1">
                <a:solidFill>
                  <a:srgbClr val="005B57"/>
                </a:solidFill>
              </a:rPr>
              <a:t>THE OPERATING MODEL</a:t>
            </a:r>
          </a:p>
        </p:txBody>
      </p:sp>
      <p:sp>
        <p:nvSpPr>
          <p:cNvPr id="3" name="title-2">
            <a:extLst xmlns:a="http://schemas.openxmlformats.org/drawingml/2006/main">
              <a:ext uri="{FF2B5EF4-FFF2-40B4-BE49-F238E27FC236}">
                <a16:creationId xmlns:a16="http://schemas.microsoft.com/office/drawing/2014/main" id="{DABA3548-33C7-4B72-9069-01F062F4B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8263A"/>
                </a:solidFill>
              </a:defRPr>
            </a:pPr>
            <a:r>
              <a:rPr sz="2850" b="1">
                <a:solidFill>
                  <a:srgbClr val="08263A"/>
                </a:solidFill>
              </a:rPr>
              <a:t>A dependable agentic SDLC has one durable loop</a:t>
            </a:r>
          </a:p>
        </p:txBody>
      </p:sp>
      <p:sp>
        <p:nvSpPr>
          <p:cNvPr id="4" name="subtitle-2">
            <a:extLst xmlns:a="http://schemas.openxmlformats.org/drawingml/2006/main">
              <a:ext uri="{FF2B5EF4-FFF2-40B4-BE49-F238E27FC236}">
                <a16:creationId xmlns:a16="http://schemas.microsoft.com/office/drawing/2014/main" id="{07FCEFB7-828F-45D7-95CE-0168FF78B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6566A"/>
                </a:solidFill>
              </a:defRPr>
            </a:pPr>
            <a:r>
              <a:rPr sz="1425" b="0">
                <a:solidFill>
                  <a:srgbClr val="36566A"/>
                </a:solidFill>
              </a:rPr>
              <a:t>Not more ceremony—better project state for the next human or agent.</a:t>
            </a:r>
          </a:p>
        </p:txBody>
      </p:sp>
      <p:sp>
        <p:nvSpPr>
          <p:cNvPr id="5" name="pwe-card-1">
            <a:extLst xmlns:a="http://schemas.openxmlformats.org/drawingml/2006/main">
              <a:ext uri="{FF2B5EF4-FFF2-40B4-BE49-F238E27FC236}">
                <a16:creationId xmlns:a16="http://schemas.microsoft.com/office/drawing/2014/main" id="{C03CA6E8-B595-4883-8DF5-2FC00C5AD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3143250" cy="2647950"/>
          </a:xfrm>
          <a:prstGeom xmlns:a="http://schemas.openxmlformats.org/drawingml/2006/main" prst="roundRect">
            <a:avLst>
              <a:gd name="adj" fmla="val 79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E839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6" name="pwe-topwash-1">
            <a:extLst xmlns:a="http://schemas.openxmlformats.org/drawingml/2006/main">
              <a:ext uri="{FF2B5EF4-FFF2-40B4-BE49-F238E27FC236}">
                <a16:creationId xmlns:a16="http://schemas.microsoft.com/office/drawing/2014/main" id="{E44E64E0-F712-4D7A-93FF-1E936D78F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00250"/>
            <a:ext cx="3105150" cy="942975"/>
          </a:xfrm>
          <a:prstGeom xmlns:a="http://schemas.openxmlformats.org/drawingml/2006/main" prst="roundRect">
            <a:avLst>
              <a:gd name="adj" fmla="val 20202"/>
            </a:avLst>
          </a:prstGeom>
          <a:solidFill xmlns:a="http://schemas.openxmlformats.org/drawingml/2006/main">
            <a:srgbClr val="E7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we-accent-1">
            <a:extLst xmlns:a="http://schemas.openxmlformats.org/drawingml/2006/main">
              <a:ext uri="{FF2B5EF4-FFF2-40B4-BE49-F238E27FC236}">
                <a16:creationId xmlns:a16="http://schemas.microsoft.com/office/drawing/2014/main" id="{103629DC-1622-4902-B6FE-A3F3311C4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098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DBFF"/>
          </a:solidFill>
          <a:ln xmlns:a="http://schemas.openxmlformats.org/drawingml/2006/main" w="19050">
            <a:solidFill>
              <a:srgbClr val="08263A"/>
            </a:solidFill>
            <a:prstDash val="solid"/>
          </a:ln>
        </p:spPr>
      </p:sp>
      <p:sp>
        <p:nvSpPr>
          <p:cNvPr id="8" name="pwe-number-1">
            <a:extLst xmlns:a="http://schemas.openxmlformats.org/drawingml/2006/main">
              <a:ext uri="{FF2B5EF4-FFF2-40B4-BE49-F238E27FC236}">
                <a16:creationId xmlns:a16="http://schemas.microsoft.com/office/drawing/2014/main" id="{1ADB4902-6568-4C60-AE65-3F834F3CE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71725"/>
            <a:ext cx="514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8263A"/>
                </a:solidFill>
              </a:defRPr>
            </a:pPr>
            <a:r>
              <a:rPr sz="1200" b="1">
                <a:solidFill>
                  <a:srgbClr val="08263A"/>
                </a:solidFill>
              </a:rPr>
              <a:t>01</a:t>
            </a:r>
          </a:p>
        </p:txBody>
      </p:sp>
      <p:sp>
        <p:nvSpPr>
          <p:cNvPr id="9" name="pwe-title-1">
            <a:extLst xmlns:a="http://schemas.openxmlformats.org/drawingml/2006/main">
              <a:ext uri="{FF2B5EF4-FFF2-40B4-BE49-F238E27FC236}">
                <a16:creationId xmlns:a16="http://schemas.microsoft.com/office/drawing/2014/main" id="{F308A4E7-7506-4A23-9B1A-0E83C7251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295525"/>
            <a:ext cx="19431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8263A"/>
                </a:solidFill>
              </a:defRPr>
            </a:pPr>
            <a:r>
              <a:rPr sz="2175" b="1">
                <a:solidFill>
                  <a:srgbClr val="08263A"/>
                </a:solidFill>
              </a:rPr>
              <a:t>PLAN</a:t>
            </a:r>
          </a:p>
        </p:txBody>
      </p:sp>
      <p:sp>
        <p:nvSpPr>
          <p:cNvPr id="10" name="pwe-rule-1">
            <a:extLst xmlns:a="http://schemas.openxmlformats.org/drawingml/2006/main">
              <a:ext uri="{FF2B5EF4-FFF2-40B4-BE49-F238E27FC236}">
                <a16:creationId xmlns:a16="http://schemas.microsoft.com/office/drawing/2014/main" id="{49E83DEF-E70B-41B8-A219-6A18E8433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48000"/>
            <a:ext cx="2724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83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we-detail-1">
            <a:extLst xmlns:a="http://schemas.openxmlformats.org/drawingml/2006/main">
              <a:ext uri="{FF2B5EF4-FFF2-40B4-BE49-F238E27FC236}">
                <a16:creationId xmlns:a16="http://schemas.microsoft.com/office/drawing/2014/main" id="{6D51E23C-5CCA-4075-9FE6-7469413C4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14700"/>
            <a:ext cx="2667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3A4E"/>
                </a:solidFill>
              </a:defRPr>
            </a:pPr>
            <a:r>
              <a:rPr sz="1500" b="0">
                <a:solidFill>
                  <a:srgbClr val="113A4E"/>
                </a:solidFill>
              </a:rPr>
              <a:t>Requirements</a:t>
            </a:r>
          </a:p>
          <a:p xmlns:a="http://schemas.openxmlformats.org/drawingml/2006/main">
            <a:pPr algn="l">
              <a:defRPr sz="1500" b="0">
                <a:solidFill>
                  <a:srgbClr val="113A4E"/>
                </a:solidFill>
              </a:defRPr>
            </a:pPr>
            <a:r>
              <a:rPr sz="1500" b="0">
                <a:solidFill>
                  <a:srgbClr val="113A4E"/>
                </a:solidFill>
              </a:rPr>
              <a:t>Decisions</a:t>
            </a:r>
          </a:p>
          <a:p xmlns:a="http://schemas.openxmlformats.org/drawingml/2006/main">
            <a:pPr algn="l">
              <a:defRPr sz="1500" b="0">
                <a:solidFill>
                  <a:srgbClr val="113A4E"/>
                </a:solidFill>
              </a:defRPr>
            </a:pPr>
            <a:r>
              <a:rPr sz="1500" b="0">
                <a:solidFill>
                  <a:srgbClr val="113A4E"/>
                </a:solidFill>
              </a:rPr>
              <a:t>Guardrails</a:t>
            </a:r>
          </a:p>
        </p:txBody>
      </p:sp>
      <p:sp>
        <p:nvSpPr>
          <p:cNvPr id="12" name="pwe-card-2">
            <a:extLst xmlns:a="http://schemas.openxmlformats.org/drawingml/2006/main">
              <a:ext uri="{FF2B5EF4-FFF2-40B4-BE49-F238E27FC236}">
                <a16:creationId xmlns:a16="http://schemas.microsoft.com/office/drawing/2014/main" id="{C535DC69-B160-485C-983A-60995B81A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981200"/>
            <a:ext cx="3143250" cy="2647950"/>
          </a:xfrm>
          <a:prstGeom xmlns:a="http://schemas.openxmlformats.org/drawingml/2006/main" prst="roundRect">
            <a:avLst>
              <a:gd name="adj" fmla="val 79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E839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13" name="pwe-topwash-2">
            <a:extLst xmlns:a="http://schemas.openxmlformats.org/drawingml/2006/main">
              <a:ext uri="{FF2B5EF4-FFF2-40B4-BE49-F238E27FC236}">
                <a16:creationId xmlns:a16="http://schemas.microsoft.com/office/drawing/2014/main" id="{E1312355-9103-414F-B0BC-6FEAD12F6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000250"/>
            <a:ext cx="3105150" cy="942975"/>
          </a:xfrm>
          <a:prstGeom xmlns:a="http://schemas.openxmlformats.org/drawingml/2006/main" prst="roundRect">
            <a:avLst>
              <a:gd name="adj" fmla="val 20202"/>
            </a:avLst>
          </a:prstGeom>
          <a:solidFill xmlns:a="http://schemas.openxmlformats.org/drawingml/2006/main">
            <a:srgbClr val="DD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we-accent-2">
            <a:extLst xmlns:a="http://schemas.openxmlformats.org/drawingml/2006/main">
              <a:ext uri="{FF2B5EF4-FFF2-40B4-BE49-F238E27FC236}">
                <a16:creationId xmlns:a16="http://schemas.microsoft.com/office/drawing/2014/main" id="{8FE1C0F3-6720-4390-8208-298900E3E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2098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C7B3"/>
          </a:solidFill>
          <a:ln xmlns:a="http://schemas.openxmlformats.org/drawingml/2006/main" w="19050">
            <a:solidFill>
              <a:srgbClr val="08263A"/>
            </a:solidFill>
            <a:prstDash val="solid"/>
          </a:ln>
        </p:spPr>
      </p:sp>
      <p:sp>
        <p:nvSpPr>
          <p:cNvPr id="15" name="pwe-number-2">
            <a:extLst xmlns:a="http://schemas.openxmlformats.org/drawingml/2006/main">
              <a:ext uri="{FF2B5EF4-FFF2-40B4-BE49-F238E27FC236}">
                <a16:creationId xmlns:a16="http://schemas.microsoft.com/office/drawing/2014/main" id="{D2E9C7DF-ADBE-413E-9E08-EEA4059C3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371725"/>
            <a:ext cx="514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8263A"/>
                </a:solidFill>
              </a:defRPr>
            </a:pPr>
            <a:r>
              <a:rPr sz="1200" b="1">
                <a:solidFill>
                  <a:srgbClr val="08263A"/>
                </a:solidFill>
              </a:rPr>
              <a:t>02</a:t>
            </a:r>
          </a:p>
        </p:txBody>
      </p:sp>
      <p:sp>
        <p:nvSpPr>
          <p:cNvPr id="16" name="pwe-title-2">
            <a:extLst xmlns:a="http://schemas.openxmlformats.org/drawingml/2006/main">
              <a:ext uri="{FF2B5EF4-FFF2-40B4-BE49-F238E27FC236}">
                <a16:creationId xmlns:a16="http://schemas.microsoft.com/office/drawing/2014/main" id="{F1ACC0D8-22FA-4CE2-88A7-27002E35E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295525"/>
            <a:ext cx="19431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8263A"/>
                </a:solidFill>
              </a:defRPr>
            </a:pPr>
            <a:r>
              <a:rPr sz="2175" b="1">
                <a:solidFill>
                  <a:srgbClr val="08263A"/>
                </a:solidFill>
              </a:rPr>
              <a:t>WORK</a:t>
            </a:r>
          </a:p>
        </p:txBody>
      </p:sp>
      <p:sp>
        <p:nvSpPr>
          <p:cNvPr id="17" name="pwe-rule-2">
            <a:extLst xmlns:a="http://schemas.openxmlformats.org/drawingml/2006/main">
              <a:ext uri="{FF2B5EF4-FFF2-40B4-BE49-F238E27FC236}">
                <a16:creationId xmlns:a16="http://schemas.microsoft.com/office/drawing/2014/main" id="{82017B09-9B6E-4998-A793-4E19F95C1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3048000"/>
            <a:ext cx="2724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83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we-detail-2">
            <a:extLst xmlns:a="http://schemas.openxmlformats.org/drawingml/2006/main">
              <a:ext uri="{FF2B5EF4-FFF2-40B4-BE49-F238E27FC236}">
                <a16:creationId xmlns:a16="http://schemas.microsoft.com/office/drawing/2014/main" id="{FDF2BB4D-A260-424F-B0DB-5778C6757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314700"/>
            <a:ext cx="2667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3A4E"/>
                </a:solidFill>
              </a:defRPr>
            </a:pPr>
            <a:r>
              <a:rPr sz="1500" b="0">
                <a:solidFill>
                  <a:srgbClr val="113A4E"/>
                </a:solidFill>
              </a:rPr>
              <a:t>One bounded node</a:t>
            </a:r>
          </a:p>
          <a:p xmlns:a="http://schemas.openxmlformats.org/drawingml/2006/main">
            <a:pPr algn="l">
              <a:defRPr sz="1500" b="0">
                <a:solidFill>
                  <a:srgbClr val="113A4E"/>
                </a:solidFill>
              </a:defRPr>
            </a:pPr>
            <a:r>
              <a:rPr sz="1500" b="0">
                <a:solidFill>
                  <a:srgbClr val="113A4E"/>
                </a:solidFill>
              </a:rPr>
              <a:t>Explicit authority</a:t>
            </a:r>
          </a:p>
          <a:p xmlns:a="http://schemas.openxmlformats.org/drawingml/2006/main">
            <a:pPr algn="l">
              <a:defRPr sz="1500" b="0">
                <a:solidFill>
                  <a:srgbClr val="113A4E"/>
                </a:solidFill>
              </a:defRPr>
            </a:pPr>
            <a:r>
              <a:rPr sz="1500" b="0">
                <a:solidFill>
                  <a:srgbClr val="113A4E"/>
                </a:solidFill>
              </a:rPr>
              <a:t>Clear handoff</a:t>
            </a:r>
          </a:p>
        </p:txBody>
      </p:sp>
      <p:sp>
        <p:nvSpPr>
          <p:cNvPr id="19" name="pwe-card-3">
            <a:extLst xmlns:a="http://schemas.openxmlformats.org/drawingml/2006/main">
              <a:ext uri="{FF2B5EF4-FFF2-40B4-BE49-F238E27FC236}">
                <a16:creationId xmlns:a16="http://schemas.microsoft.com/office/drawing/2014/main" id="{ED6AC091-4186-4C6E-9580-E57157988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981200"/>
            <a:ext cx="3143250" cy="2647950"/>
          </a:xfrm>
          <a:prstGeom xmlns:a="http://schemas.openxmlformats.org/drawingml/2006/main" prst="roundRect">
            <a:avLst>
              <a:gd name="adj" fmla="val 79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E839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20" name="pwe-topwash-3">
            <a:extLst xmlns:a="http://schemas.openxmlformats.org/drawingml/2006/main">
              <a:ext uri="{FF2B5EF4-FFF2-40B4-BE49-F238E27FC236}">
                <a16:creationId xmlns:a16="http://schemas.microsoft.com/office/drawing/2014/main" id="{A2BF31FC-D884-4225-BD9D-D1F75EF36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00250"/>
            <a:ext cx="3105150" cy="942975"/>
          </a:xfrm>
          <a:prstGeom xmlns:a="http://schemas.openxmlformats.org/drawingml/2006/main" prst="roundRect">
            <a:avLst>
              <a:gd name="adj" fmla="val 20202"/>
            </a:avLst>
          </a:prstGeom>
          <a:solidFill xmlns:a="http://schemas.openxmlformats.org/drawingml/2006/main">
            <a:srgbClr val="DD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we-accent-3">
            <a:extLst xmlns:a="http://schemas.openxmlformats.org/drawingml/2006/main">
              <a:ext uri="{FF2B5EF4-FFF2-40B4-BE49-F238E27FC236}">
                <a16:creationId xmlns:a16="http://schemas.microsoft.com/office/drawing/2014/main" id="{B190F734-90B1-407E-BFD4-D169199FC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098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EEAD4"/>
          </a:solidFill>
          <a:ln xmlns:a="http://schemas.openxmlformats.org/drawingml/2006/main" w="19050">
            <a:solidFill>
              <a:srgbClr val="08263A"/>
            </a:solidFill>
            <a:prstDash val="solid"/>
          </a:ln>
        </p:spPr>
      </p:sp>
      <p:sp>
        <p:nvSpPr>
          <p:cNvPr id="22" name="pwe-number-3">
            <a:extLst xmlns:a="http://schemas.openxmlformats.org/drawingml/2006/main">
              <a:ext uri="{FF2B5EF4-FFF2-40B4-BE49-F238E27FC236}">
                <a16:creationId xmlns:a16="http://schemas.microsoft.com/office/drawing/2014/main" id="{9D26E259-9EAF-4DAC-ABD7-4FDD01B56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371725"/>
            <a:ext cx="514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8263A"/>
                </a:solidFill>
              </a:defRPr>
            </a:pPr>
            <a:r>
              <a:rPr sz="1200" b="1">
                <a:solidFill>
                  <a:srgbClr val="08263A"/>
                </a:solidFill>
              </a:rPr>
              <a:t>03</a:t>
            </a:r>
          </a:p>
        </p:txBody>
      </p:sp>
      <p:sp>
        <p:nvSpPr>
          <p:cNvPr id="23" name="pwe-title-3">
            <a:extLst xmlns:a="http://schemas.openxmlformats.org/drawingml/2006/main">
              <a:ext uri="{FF2B5EF4-FFF2-40B4-BE49-F238E27FC236}">
                <a16:creationId xmlns:a16="http://schemas.microsoft.com/office/drawing/2014/main" id="{C5EFC01D-02D9-4365-B0C5-AC38D8425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295525"/>
            <a:ext cx="19431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8263A"/>
                </a:solidFill>
              </a:defRPr>
            </a:pPr>
            <a:r>
              <a:rPr sz="2175" b="1">
                <a:solidFill>
                  <a:srgbClr val="08263A"/>
                </a:solidFill>
              </a:rPr>
              <a:t>EVIDENCE</a:t>
            </a:r>
          </a:p>
        </p:txBody>
      </p:sp>
      <p:sp>
        <p:nvSpPr>
          <p:cNvPr id="24" name="pwe-rule-3">
            <a:extLst xmlns:a="http://schemas.openxmlformats.org/drawingml/2006/main">
              <a:ext uri="{FF2B5EF4-FFF2-40B4-BE49-F238E27FC236}">
                <a16:creationId xmlns:a16="http://schemas.microsoft.com/office/drawing/2014/main" id="{AFD6FD57-0E97-472B-B450-14BDE2862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48000"/>
            <a:ext cx="2724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83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we-detail-3">
            <a:extLst xmlns:a="http://schemas.openxmlformats.org/drawingml/2006/main">
              <a:ext uri="{FF2B5EF4-FFF2-40B4-BE49-F238E27FC236}">
                <a16:creationId xmlns:a16="http://schemas.microsoft.com/office/drawing/2014/main" id="{721763B5-607C-45D0-8988-866950BE3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314700"/>
            <a:ext cx="2667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3A4E"/>
                </a:solidFill>
              </a:defRPr>
            </a:pPr>
            <a:r>
              <a:rPr sz="1500" b="0">
                <a:solidFill>
                  <a:srgbClr val="113A4E"/>
                </a:solidFill>
              </a:rPr>
              <a:t>Tests + receipts</a:t>
            </a:r>
          </a:p>
          <a:p xmlns:a="http://schemas.openxmlformats.org/drawingml/2006/main">
            <a:pPr algn="l">
              <a:defRPr sz="1500" b="0">
                <a:solidFill>
                  <a:srgbClr val="113A4E"/>
                </a:solidFill>
              </a:defRPr>
            </a:pPr>
            <a:r>
              <a:rPr sz="1500" b="0">
                <a:solidFill>
                  <a:srgbClr val="113A4E"/>
                </a:solidFill>
              </a:rPr>
              <a:t>Checkpoints</a:t>
            </a:r>
          </a:p>
          <a:p xmlns:a="http://schemas.openxmlformats.org/drawingml/2006/main">
            <a:pPr algn="l">
              <a:defRPr sz="1500" b="0">
                <a:solidFill>
                  <a:srgbClr val="113A4E"/>
                </a:solidFill>
              </a:defRPr>
            </a:pPr>
            <a:r>
              <a:rPr sz="1500" b="0">
                <a:solidFill>
                  <a:srgbClr val="113A4E"/>
                </a:solidFill>
              </a:rPr>
              <a:t>Validated state</a:t>
            </a:r>
          </a:p>
        </p:txBody>
      </p:sp>
      <p:sp>
        <p:nvSpPr>
          <p:cNvPr id="26" name="flow-arrow-1">
            <a:extLst xmlns:a="http://schemas.openxmlformats.org/drawingml/2006/main">
              <a:ext uri="{FF2B5EF4-FFF2-40B4-BE49-F238E27FC236}">
                <a16:creationId xmlns:a16="http://schemas.microsoft.com/office/drawing/2014/main" id="{E64F55EF-5073-4D9E-962B-0F0C0C38F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3124200"/>
            <a:ext cx="5143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56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flow-arrow-2">
            <a:extLst xmlns:a="http://schemas.openxmlformats.org/drawingml/2006/main">
              <a:ext uri="{FF2B5EF4-FFF2-40B4-BE49-F238E27FC236}">
                <a16:creationId xmlns:a16="http://schemas.microsoft.com/office/drawing/2014/main" id="{828F46AB-0B7E-408B-BB5E-80AABE43E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124200"/>
            <a:ext cx="5143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5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questions-band">
            <a:extLst xmlns:a="http://schemas.openxmlformats.org/drawingml/2006/main">
              <a:ext uri="{FF2B5EF4-FFF2-40B4-BE49-F238E27FC236}">
                <a16:creationId xmlns:a16="http://schemas.microsoft.com/office/drawing/2014/main" id="{77C3C49C-5A04-471C-A35A-276B7A52A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91100"/>
            <a:ext cx="10820400" cy="962025"/>
          </a:xfrm>
          <a:prstGeom xmlns:a="http://schemas.openxmlformats.org/drawingml/2006/main" prst="roundRect">
            <a:avLst>
              <a:gd name="adj" fmla="val 17822"/>
            </a:avLst>
          </a:prstGeom>
          <a:solidFill xmlns:a="http://schemas.openxmlformats.org/drawingml/2006/main">
            <a:srgbClr val="08263A"/>
          </a:solidFill>
          <a:ln xmlns:a="http://schemas.openxmlformats.org/drawingml/2006/main" w="19050">
            <a:solidFill>
              <a:srgbClr val="00566D"/>
            </a:solidFill>
            <a:prstDash val="solid"/>
          </a:ln>
        </p:spPr>
      </p:sp>
      <p:sp>
        <p:nvSpPr>
          <p:cNvPr id="29" name="question-1">
            <a:extLst xmlns:a="http://schemas.openxmlformats.org/drawingml/2006/main">
              <a:ext uri="{FF2B5EF4-FFF2-40B4-BE49-F238E27FC236}">
                <a16:creationId xmlns:a16="http://schemas.microsoft.com/office/drawing/2014/main" id="{C6B12322-243F-4984-BD26-F77FE0FAD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197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EDBFF"/>
                </a:solidFill>
              </a:defRPr>
            </a:pPr>
            <a:r>
              <a:rPr sz="1275" b="1">
                <a:solidFill>
                  <a:srgbClr val="3EDBFF"/>
                </a:solidFill>
              </a:rPr>
              <a:t>WHAT COMPLETED?</a:t>
            </a:r>
          </a:p>
        </p:txBody>
      </p:sp>
      <p:sp>
        <p:nvSpPr>
          <p:cNvPr id="30" name="answer-1">
            <a:extLst xmlns:a="http://schemas.openxmlformats.org/drawingml/2006/main">
              <a:ext uri="{FF2B5EF4-FFF2-40B4-BE49-F238E27FC236}">
                <a16:creationId xmlns:a16="http://schemas.microsoft.com/office/drawing/2014/main" id="{717FC8A6-29BF-4EBA-B880-B812DD58B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53075"/>
            <a:ext cx="285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7FBFD"/>
                </a:solidFill>
              </a:defRPr>
            </a:pPr>
            <a:r>
              <a:rPr sz="1275" b="0">
                <a:solidFill>
                  <a:srgbClr val="F7FBFD"/>
                </a:solidFill>
              </a:rPr>
              <a:t>accepted outcome</a:t>
            </a:r>
          </a:p>
        </p:txBody>
      </p:sp>
      <p:sp>
        <p:nvSpPr>
          <p:cNvPr id="31" name="question-2">
            <a:extLst xmlns:a="http://schemas.openxmlformats.org/drawingml/2006/main">
              <a:ext uri="{FF2B5EF4-FFF2-40B4-BE49-F238E27FC236}">
                <a16:creationId xmlns:a16="http://schemas.microsoft.com/office/drawing/2014/main" id="{1E68FADC-855B-45FC-9FAC-BB851ECC9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2197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C7B3"/>
                </a:solidFill>
              </a:defRPr>
            </a:pPr>
            <a:r>
              <a:rPr sz="1275" b="1">
                <a:solidFill>
                  <a:srgbClr val="13C7B3"/>
                </a:solidFill>
              </a:rPr>
              <a:t>WHY?</a:t>
            </a:r>
          </a:p>
        </p:txBody>
      </p:sp>
      <p:sp>
        <p:nvSpPr>
          <p:cNvPr id="32" name="answer-2">
            <a:extLst xmlns:a="http://schemas.openxmlformats.org/drawingml/2006/main">
              <a:ext uri="{FF2B5EF4-FFF2-40B4-BE49-F238E27FC236}">
                <a16:creationId xmlns:a16="http://schemas.microsoft.com/office/drawing/2014/main" id="{B66660F5-DD27-49DC-AB46-A22248C94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553075"/>
            <a:ext cx="285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7FBFD"/>
                </a:solidFill>
              </a:defRPr>
            </a:pPr>
            <a:r>
              <a:rPr sz="1275" b="0">
                <a:solidFill>
                  <a:srgbClr val="F7FBFD"/>
                </a:solidFill>
              </a:rPr>
              <a:t>requirements + decisions</a:t>
            </a:r>
          </a:p>
        </p:txBody>
      </p:sp>
      <p:sp>
        <p:nvSpPr>
          <p:cNvPr id="33" name="question-3">
            <a:extLst xmlns:a="http://schemas.openxmlformats.org/drawingml/2006/main">
              <a:ext uri="{FF2B5EF4-FFF2-40B4-BE49-F238E27FC236}">
                <a16:creationId xmlns:a16="http://schemas.microsoft.com/office/drawing/2014/main" id="{6D674408-A956-41F8-9D9B-88E573000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2197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EDBFF"/>
                </a:solidFill>
              </a:defRPr>
            </a:pPr>
            <a:r>
              <a:rPr sz="1275" b="1">
                <a:solidFill>
                  <a:srgbClr val="3EDBFF"/>
                </a:solidFill>
              </a:rPr>
              <a:t>WHAT COMES NEXT?</a:t>
            </a:r>
          </a:p>
        </p:txBody>
      </p:sp>
      <p:sp>
        <p:nvSpPr>
          <p:cNvPr id="34" name="answer-3">
            <a:extLst xmlns:a="http://schemas.openxmlformats.org/drawingml/2006/main">
              <a:ext uri="{FF2B5EF4-FFF2-40B4-BE49-F238E27FC236}">
                <a16:creationId xmlns:a16="http://schemas.microsoft.com/office/drawing/2014/main" id="{D6D47E79-4C23-4704-8AB5-ADA2B1C8E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553075"/>
            <a:ext cx="285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7FBFD"/>
                </a:solidFill>
              </a:defRPr>
            </a:pPr>
            <a:r>
              <a:rPr sz="1275" b="0">
                <a:solidFill>
                  <a:srgbClr val="F7FBFD"/>
                </a:solidFill>
              </a:rPr>
              <a:t>next authorized node</a:t>
            </a:r>
          </a:p>
        </p:txBody>
      </p:sp>
      <p:sp>
        <p:nvSpPr>
          <p:cNvPr id="35" name="footer-line-2">
            <a:extLst xmlns:a="http://schemas.openxmlformats.org/drawingml/2006/main">
              <a:ext uri="{FF2B5EF4-FFF2-40B4-BE49-F238E27FC236}">
                <a16:creationId xmlns:a16="http://schemas.microsoft.com/office/drawing/2014/main" id="{88306047-D4A4-437C-A0F0-FD943860F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83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source-2">
            <a:extLst xmlns:a="http://schemas.openxmlformats.org/drawingml/2006/main">
              <a:ext uri="{FF2B5EF4-FFF2-40B4-BE49-F238E27FC236}">
                <a16:creationId xmlns:a16="http://schemas.microsoft.com/office/drawing/2014/main" id="{D51C597F-11E4-4A9E-B132-7066AA371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953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6566A"/>
                </a:solidFill>
              </a:defRPr>
            </a:pPr>
            <a:r>
              <a:rPr sz="1200" b="0">
                <a:solidFill>
                  <a:srgbClr val="36566A"/>
                </a:solidFill>
              </a:rPr>
              <a:t>[14] mdkg canonical Plan → Work → Evidence product source</a:t>
            </a:r>
          </a:p>
        </p:txBody>
      </p:sp>
      <p:sp>
        <p:nvSpPr>
          <p:cNvPr id="37" name="folio-2">
            <a:extLst xmlns:a="http://schemas.openxmlformats.org/drawingml/2006/main">
              <a:ext uri="{FF2B5EF4-FFF2-40B4-BE49-F238E27FC236}">
                <a16:creationId xmlns:a16="http://schemas.microsoft.com/office/drawing/2014/main" id="{09C07817-39D5-411D-BBF1-1349F3EC8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36566A"/>
                </a:solidFill>
              </a:defRPr>
            </a:pPr>
            <a:r>
              <a:rPr sz="1200" b="1">
                <a:solidFill>
                  <a:srgbClr val="36566A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56041864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header-current-3">
            <a:extLst xmlns:a="http://schemas.openxmlformats.org/drawingml/2006/main">
              <a:ext uri="{FF2B5EF4-FFF2-40B4-BE49-F238E27FC236}">
                <a16:creationId xmlns:a16="http://schemas.microsoft.com/office/drawing/2014/main" id="{130F6AF6-39B7-4C8F-8426-B1B6D9E33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"/>
            <a:ext cx="4191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C7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-3">
            <a:extLst xmlns:a="http://schemas.openxmlformats.org/drawingml/2006/main">
              <a:ext uri="{FF2B5EF4-FFF2-40B4-BE49-F238E27FC236}">
                <a16:creationId xmlns:a16="http://schemas.microsoft.com/office/drawing/2014/main" id="{FA7B465A-081A-4DCE-B40E-C39ED8F8A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95275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5B57"/>
                </a:solidFill>
              </a:defRPr>
            </a:pPr>
            <a:r>
              <a:rPr sz="1200" b="1">
                <a:solidFill>
                  <a:srgbClr val="005B57"/>
                </a:solidFill>
              </a:rPr>
              <a:t>SOURCE → EXECUTION PROOF</a:t>
            </a:r>
          </a:p>
        </p:txBody>
      </p:sp>
      <p:sp>
        <p:nvSpPr>
          <p:cNvPr id="3" name="title-3">
            <a:extLst xmlns:a="http://schemas.openxmlformats.org/drawingml/2006/main">
              <a:ext uri="{FF2B5EF4-FFF2-40B4-BE49-F238E27FC236}">
                <a16:creationId xmlns:a16="http://schemas.microsoft.com/office/drawing/2014/main" id="{CB7B5DD2-BBE0-4B9C-B953-0A232AE95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8263A"/>
                </a:solidFill>
              </a:defRPr>
            </a:pPr>
            <a:r>
              <a:rPr sz="2850" b="1">
                <a:solidFill>
                  <a:srgbClr val="08263A"/>
                </a:solidFill>
              </a:rPr>
              <a:t>Reusable specification → specialized, executed proof</a:t>
            </a:r>
          </a:p>
        </p:txBody>
      </p:sp>
      <p:sp>
        <p:nvSpPr>
          <p:cNvPr id="4" name="subtitle-3">
            <a:extLst xmlns:a="http://schemas.openxmlformats.org/drawingml/2006/main">
              <a:ext uri="{FF2B5EF4-FFF2-40B4-BE49-F238E27FC236}">
                <a16:creationId xmlns:a16="http://schemas.microsoft.com/office/drawing/2014/main" id="{48EF5109-5F55-450C-A3F8-4CC0451A9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6566A"/>
                </a:solidFill>
              </a:defRPr>
            </a:pPr>
            <a:r>
              <a:rPr sz="1425" b="0">
                <a:solidFill>
                  <a:srgbClr val="36566A"/>
                </a:solidFill>
              </a:rPr>
              <a:t>Same goal identity. Sharper requirements. Inspectable evidence.</a:t>
            </a:r>
          </a:p>
        </p:txBody>
      </p:sp>
      <p:sp>
        <p:nvSpPr>
          <p:cNvPr id="5" name="source-goal-card">
            <a:extLst xmlns:a="http://schemas.openxmlformats.org/drawingml/2006/main">
              <a:ext uri="{FF2B5EF4-FFF2-40B4-BE49-F238E27FC236}">
                <a16:creationId xmlns:a16="http://schemas.microsoft.com/office/drawing/2014/main" id="{44DF45E2-6FCF-4F1E-B384-58D98DF6C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95475"/>
            <a:ext cx="4362450" cy="3724275"/>
          </a:xfrm>
          <a:prstGeom xmlns:a="http://schemas.openxmlformats.org/drawingml/2006/main" prst="roundRect">
            <a:avLst>
              <a:gd name="adj" fmla="val 56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E839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sp>
        <p:nvSpPr>
          <p:cNvPr id="6" name="source-pill">
            <a:extLst xmlns:a="http://schemas.openxmlformats.org/drawingml/2006/main">
              <a:ext uri="{FF2B5EF4-FFF2-40B4-BE49-F238E27FC236}">
                <a16:creationId xmlns:a16="http://schemas.microsoft.com/office/drawing/2014/main" id="{7FE95ABD-4CE1-461A-82F8-A2D2E8C2C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05025"/>
            <a:ext cx="1809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5FB"/>
          </a:solidFill>
          <a:ln xmlns:a="http://schemas.openxmlformats.org/drawingml/2006/main" w="19050">
            <a:solidFill>
              <a:srgbClr val="00566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566D"/>
                </a:solidFill>
              </a:defRPr>
            </a:pPr>
            <a:r>
              <a:rPr sz="1200" b="1">
                <a:solidFill>
                  <a:srgbClr val="00566D"/>
                </a:solidFill>
              </a:rPr>
              <a:t>SOURCE TEMPLATE</a:t>
            </a:r>
          </a:p>
        </p:txBody>
      </p:sp>
      <p:sp>
        <p:nvSpPr>
          <p:cNvPr id="7" name="source-goal-id">
            <a:extLst xmlns:a="http://schemas.openxmlformats.org/drawingml/2006/main">
              <a:ext uri="{FF2B5EF4-FFF2-40B4-BE49-F238E27FC236}">
                <a16:creationId xmlns:a16="http://schemas.microsoft.com/office/drawing/2014/main" id="{3AABFABE-7E89-45B9-AA91-1164D8EFF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00325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8263A"/>
                </a:solidFill>
              </a:defRPr>
            </a:pPr>
            <a:r>
              <a:rPr sz="2550" b="1">
                <a:solidFill>
                  <a:srgbClr val="08263A"/>
                </a:solidFill>
              </a:rPr>
              <a:t>goal-1</a:t>
            </a:r>
          </a:p>
        </p:txBody>
      </p:sp>
      <p:sp>
        <p:nvSpPr>
          <p:cNvPr id="8" name="source-label-Objective">
            <a:extLst xmlns:a="http://schemas.openxmlformats.org/drawingml/2006/main">
              <a:ext uri="{FF2B5EF4-FFF2-40B4-BE49-F238E27FC236}">
                <a16:creationId xmlns:a16="http://schemas.microsoft.com/office/drawing/2014/main" id="{B884A4D7-4591-4A7F-AE24-E4AE248E1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0992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5B57"/>
                </a:solidFill>
              </a:defRPr>
            </a:pPr>
            <a:r>
              <a:rPr sz="1200" b="1">
                <a:solidFill>
                  <a:srgbClr val="005B57"/>
                </a:solidFill>
              </a:rPr>
              <a:t>OBJECTIVE</a:t>
            </a:r>
          </a:p>
        </p:txBody>
      </p:sp>
      <p:sp>
        <p:nvSpPr>
          <p:cNvPr id="9" name="source-value-Objective">
            <a:extLst xmlns:a="http://schemas.openxmlformats.org/drawingml/2006/main">
              <a:ext uri="{FF2B5EF4-FFF2-40B4-BE49-F238E27FC236}">
                <a16:creationId xmlns:a16="http://schemas.microsoft.com/office/drawing/2014/main" id="{5F7D530C-F2AD-4DCF-8012-91A0C0157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48050"/>
            <a:ext cx="3476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8263A"/>
                </a:solidFill>
              </a:defRPr>
            </a:pPr>
            <a:r>
              <a:rPr sz="1275" b="1">
                <a:solidFill>
                  <a:srgbClr val="08263A"/>
                </a:solidFill>
              </a:rPr>
              <a:t>Create a public landing page</a:t>
            </a:r>
          </a:p>
        </p:txBody>
      </p:sp>
      <p:sp>
        <p:nvSpPr>
          <p:cNvPr id="10" name="source-label-Requirements">
            <a:extLst xmlns:a="http://schemas.openxmlformats.org/drawingml/2006/main">
              <a:ext uri="{FF2B5EF4-FFF2-40B4-BE49-F238E27FC236}">
                <a16:creationId xmlns:a16="http://schemas.microsoft.com/office/drawing/2014/main" id="{D8B40D72-8330-4BF2-945C-989FE01D0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624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5B57"/>
                </a:solidFill>
              </a:defRPr>
            </a:pPr>
            <a:r>
              <a:rPr sz="1200" b="1">
                <a:solidFill>
                  <a:srgbClr val="005B57"/>
                </a:solidFill>
              </a:rPr>
              <a:t>REQUIREMENTS</a:t>
            </a:r>
          </a:p>
        </p:txBody>
      </p:sp>
      <p:sp>
        <p:nvSpPr>
          <p:cNvPr id="11" name="source-value-Requirements">
            <a:extLst xmlns:a="http://schemas.openxmlformats.org/drawingml/2006/main">
              <a:ext uri="{FF2B5EF4-FFF2-40B4-BE49-F238E27FC236}">
                <a16:creationId xmlns:a16="http://schemas.microsoft.com/office/drawing/2014/main" id="{5A36F515-1782-4E32-9D4C-19014F59B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00525"/>
            <a:ext cx="3476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8263A"/>
                </a:solidFill>
              </a:defRPr>
            </a:pPr>
            <a:r>
              <a:rPr sz="1275" b="1">
                <a:solidFill>
                  <a:srgbClr val="08263A"/>
                </a:solidFill>
              </a:rPr>
              <a:t>Ocean Flow + bounded sections</a:t>
            </a:r>
          </a:p>
        </p:txBody>
      </p:sp>
      <p:sp>
        <p:nvSpPr>
          <p:cNvPr id="12" name="source-label-State">
            <a:extLst xmlns:a="http://schemas.openxmlformats.org/drawingml/2006/main">
              <a:ext uri="{FF2B5EF4-FFF2-40B4-BE49-F238E27FC236}">
                <a16:creationId xmlns:a16="http://schemas.microsoft.com/office/drawing/2014/main" id="{85977ED5-1D8B-482B-BABA-917E374D7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1487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6566A"/>
                </a:solidFill>
              </a:defRPr>
            </a:pPr>
            <a:r>
              <a:rPr sz="1200" b="1">
                <a:solidFill>
                  <a:srgbClr val="36566A"/>
                </a:solidFill>
              </a:rPr>
              <a:t>STATE</a:t>
            </a:r>
          </a:p>
        </p:txBody>
      </p:sp>
      <p:sp>
        <p:nvSpPr>
          <p:cNvPr id="13" name="source-value-State">
            <a:extLst xmlns:a="http://schemas.openxmlformats.org/drawingml/2006/main">
              <a:ext uri="{FF2B5EF4-FFF2-40B4-BE49-F238E27FC236}">
                <a16:creationId xmlns:a16="http://schemas.microsoft.com/office/drawing/2014/main" id="{CBD7CDBC-10ED-4FBB-B743-122A193B9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53000"/>
            <a:ext cx="3476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8263A"/>
                </a:solidFill>
              </a:defRPr>
            </a:pPr>
            <a:r>
              <a:rPr sz="1275" b="1">
                <a:solidFill>
                  <a:srgbClr val="08263A"/>
                </a:solidFill>
              </a:rPr>
              <a:t>Reusable · not yet executed</a:t>
            </a:r>
          </a:p>
        </p:txBody>
      </p:sp>
      <p:sp>
        <p:nvSpPr>
          <p:cNvPr id="14" name="specialize-arrow-underlay">
            <a:extLst xmlns:a="http://schemas.openxmlformats.org/drawingml/2006/main">
              <a:ext uri="{FF2B5EF4-FFF2-40B4-BE49-F238E27FC236}">
                <a16:creationId xmlns:a16="http://schemas.microsoft.com/office/drawing/2014/main" id="{56B70072-3571-434A-8D40-3038380C9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3495675"/>
            <a:ext cx="14478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pecialize-arrow">
            <a:extLst xmlns:a="http://schemas.openxmlformats.org/drawingml/2006/main">
              <a:ext uri="{FF2B5EF4-FFF2-40B4-BE49-F238E27FC236}">
                <a16:creationId xmlns:a16="http://schemas.microsoft.com/office/drawing/2014/main" id="{E776D8CF-BA4F-45A1-AB41-EF48B8D8B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314700"/>
            <a:ext cx="1352550" cy="5238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56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pecialize-pill">
            <a:extLst xmlns:a="http://schemas.openxmlformats.org/drawingml/2006/main">
              <a:ext uri="{FF2B5EF4-FFF2-40B4-BE49-F238E27FC236}">
                <a16:creationId xmlns:a16="http://schemas.microsoft.com/office/drawing/2014/main" id="{10E3FA4B-ABD8-448D-A3D6-A477E49A4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876550"/>
            <a:ext cx="13144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E839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8263A"/>
                </a:solidFill>
              </a:defRPr>
            </a:pPr>
            <a:r>
              <a:rPr sz="1200" b="1">
                <a:solidFill>
                  <a:srgbClr val="08263A"/>
                </a:solidFill>
              </a:rPr>
              <a:t>SPECIALIZE</a:t>
            </a:r>
          </a:p>
        </p:txBody>
      </p:sp>
      <p:sp>
        <p:nvSpPr>
          <p:cNvPr id="17" name="executed-goal-card">
            <a:extLst xmlns:a="http://schemas.openxmlformats.org/drawingml/2006/main">
              <a:ext uri="{FF2B5EF4-FFF2-40B4-BE49-F238E27FC236}">
                <a16:creationId xmlns:a16="http://schemas.microsoft.com/office/drawing/2014/main" id="{8192C32E-23F8-4E1A-8392-CB4048C5D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704975"/>
            <a:ext cx="4572000" cy="4105275"/>
          </a:xfrm>
          <a:prstGeom xmlns:a="http://schemas.openxmlformats.org/drawingml/2006/main" prst="roundRect">
            <a:avLst>
              <a:gd name="adj" fmla="val 51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05B5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3"/>
          <a:fontRef xmlns:a="http://schemas.openxmlformats.org/drawingml/2006/main" idx="major"/>
        </p:style>
      </p:sp>
      <p:sp>
        <p:nvSpPr>
          <p:cNvPr id="18" name="executed-current">
            <a:extLst xmlns:a="http://schemas.openxmlformats.org/drawingml/2006/main">
              <a:ext uri="{FF2B5EF4-FFF2-40B4-BE49-F238E27FC236}">
                <a16:creationId xmlns:a16="http://schemas.microsoft.com/office/drawing/2014/main" id="{1572DEC9-75EB-4224-A85E-35327C3A7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704975"/>
            <a:ext cx="45720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C7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executed-pill">
            <a:extLst xmlns:a="http://schemas.openxmlformats.org/drawingml/2006/main">
              <a:ext uri="{FF2B5EF4-FFF2-40B4-BE49-F238E27FC236}">
                <a16:creationId xmlns:a16="http://schemas.microsoft.com/office/drawing/2014/main" id="{23525DD2-E79F-4521-805C-65F5E9098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971675"/>
            <a:ext cx="2381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4F4"/>
          </a:solidFill>
          <a:ln xmlns:a="http://schemas.openxmlformats.org/drawingml/2006/main" w="19050">
            <a:solidFill>
              <a:srgbClr val="005B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5B57"/>
                </a:solidFill>
              </a:defRPr>
            </a:pPr>
            <a:r>
              <a:rPr sz="1200" b="1">
                <a:solidFill>
                  <a:srgbClr val="005B57"/>
                </a:solidFill>
              </a:rPr>
              <a:t>SPECIALIZED + EXECUTED</a:t>
            </a:r>
          </a:p>
        </p:txBody>
      </p:sp>
      <p:sp>
        <p:nvSpPr>
          <p:cNvPr id="20" name="executed-goal-id">
            <a:extLst xmlns:a="http://schemas.openxmlformats.org/drawingml/2006/main">
              <a:ext uri="{FF2B5EF4-FFF2-40B4-BE49-F238E27FC236}">
                <a16:creationId xmlns:a16="http://schemas.microsoft.com/office/drawing/2014/main" id="{7BCD92D3-7E4C-420B-98D4-04E546689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45745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8263A"/>
                </a:solidFill>
              </a:defRPr>
            </a:pPr>
            <a:r>
              <a:rPr sz="2550" b="1">
                <a:solidFill>
                  <a:srgbClr val="08263A"/>
                </a:solidFill>
              </a:rPr>
              <a:t>goal-1</a:t>
            </a:r>
          </a:p>
        </p:txBody>
      </p:sp>
      <p:sp>
        <p:nvSpPr>
          <p:cNvPr id="21" name="executed-label-Positioning">
            <a:extLst xmlns:a="http://schemas.openxmlformats.org/drawingml/2006/main">
              <a:ext uri="{FF2B5EF4-FFF2-40B4-BE49-F238E27FC236}">
                <a16:creationId xmlns:a16="http://schemas.microsoft.com/office/drawing/2014/main" id="{ACD01E8F-065F-4190-92D6-B0BAC78C9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0289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5B57"/>
                </a:solidFill>
              </a:defRPr>
            </a:pPr>
            <a:r>
              <a:rPr sz="1200" b="1">
                <a:solidFill>
                  <a:srgbClr val="005B57"/>
                </a:solidFill>
              </a:rPr>
              <a:t>POSITIONING</a:t>
            </a:r>
          </a:p>
        </p:txBody>
      </p:sp>
      <p:sp>
        <p:nvSpPr>
          <p:cNvPr id="22" name="executed-value-Positioning">
            <a:extLst xmlns:a="http://schemas.openxmlformats.org/drawingml/2006/main">
              <a:ext uri="{FF2B5EF4-FFF2-40B4-BE49-F238E27FC236}">
                <a16:creationId xmlns:a16="http://schemas.microsoft.com/office/drawing/2014/main" id="{F24CF3B3-0F23-40DA-888F-5AFBB2D10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267075"/>
            <a:ext cx="3476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8263A"/>
                </a:solidFill>
              </a:defRPr>
            </a:pPr>
            <a:r>
              <a:rPr sz="1275" b="1">
                <a:solidFill>
                  <a:srgbClr val="08263A"/>
                </a:solidFill>
              </a:rPr>
              <a:t>Selected audience + promise</a:t>
            </a:r>
          </a:p>
        </p:txBody>
      </p:sp>
      <p:sp>
        <p:nvSpPr>
          <p:cNvPr id="23" name="executed-label-Requirements">
            <a:extLst xmlns:a="http://schemas.openxmlformats.org/drawingml/2006/main">
              <a:ext uri="{FF2B5EF4-FFF2-40B4-BE49-F238E27FC236}">
                <a16:creationId xmlns:a16="http://schemas.microsoft.com/office/drawing/2014/main" id="{EB86BDE4-E224-43FC-8F6A-7B697D89F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7147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5B57"/>
                </a:solidFill>
              </a:defRPr>
            </a:pPr>
            <a:r>
              <a:rPr sz="1200" b="1">
                <a:solidFill>
                  <a:srgbClr val="005B57"/>
                </a:solidFill>
              </a:rPr>
              <a:t>REQUIREMENTS</a:t>
            </a:r>
          </a:p>
        </p:txBody>
      </p:sp>
      <p:sp>
        <p:nvSpPr>
          <p:cNvPr id="24" name="executed-value-Requirements">
            <a:extLst xmlns:a="http://schemas.openxmlformats.org/drawingml/2006/main">
              <a:ext uri="{FF2B5EF4-FFF2-40B4-BE49-F238E27FC236}">
                <a16:creationId xmlns:a16="http://schemas.microsoft.com/office/drawing/2014/main" id="{6393B668-E6D7-4CC8-A07E-156BED760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952875"/>
            <a:ext cx="3476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8263A"/>
                </a:solidFill>
              </a:defRPr>
            </a:pPr>
            <a:r>
              <a:rPr sz="1275" b="1">
                <a:solidFill>
                  <a:srgbClr val="08263A"/>
                </a:solidFill>
              </a:rPr>
              <a:t>Static Astro · zero client JS</a:t>
            </a:r>
          </a:p>
        </p:txBody>
      </p:sp>
      <p:sp>
        <p:nvSpPr>
          <p:cNvPr id="25" name="executed-label-Work">
            <a:extLst xmlns:a="http://schemas.openxmlformats.org/drawingml/2006/main">
              <a:ext uri="{FF2B5EF4-FFF2-40B4-BE49-F238E27FC236}">
                <a16:creationId xmlns:a16="http://schemas.microsoft.com/office/drawing/2014/main" id="{B8E77693-504F-45A1-B50B-43BDB80F1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4005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5B57"/>
                </a:solidFill>
              </a:defRPr>
            </a:pPr>
            <a:r>
              <a:rPr sz="1200" b="1">
                <a:solidFill>
                  <a:srgbClr val="005B57"/>
                </a:solidFill>
              </a:rPr>
              <a:t>WORK</a:t>
            </a:r>
          </a:p>
        </p:txBody>
      </p:sp>
      <p:sp>
        <p:nvSpPr>
          <p:cNvPr id="26" name="executed-value-Work">
            <a:extLst xmlns:a="http://schemas.openxmlformats.org/drawingml/2006/main">
              <a:ext uri="{FF2B5EF4-FFF2-40B4-BE49-F238E27FC236}">
                <a16:creationId xmlns:a16="http://schemas.microsoft.com/office/drawing/2014/main" id="{E5179D04-DC41-4BEE-B0CA-1A46C8DD1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638675"/>
            <a:ext cx="3476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8263A"/>
                </a:solidFill>
              </a:defRPr>
            </a:pPr>
            <a:r>
              <a:rPr sz="1275" b="1">
                <a:solidFill>
                  <a:srgbClr val="08263A"/>
                </a:solidFill>
              </a:rPr>
              <a:t>4 / 4 bounded nodes complete</a:t>
            </a:r>
          </a:p>
        </p:txBody>
      </p:sp>
      <p:sp>
        <p:nvSpPr>
          <p:cNvPr id="27" name="executed-label-Evidence">
            <a:extLst xmlns:a="http://schemas.openxmlformats.org/drawingml/2006/main">
              <a:ext uri="{FF2B5EF4-FFF2-40B4-BE49-F238E27FC236}">
                <a16:creationId xmlns:a16="http://schemas.microsoft.com/office/drawing/2014/main" id="{54E288BF-A86A-4C9F-9A29-89E1AABAA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50863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5B57"/>
                </a:solidFill>
              </a:defRPr>
            </a:pPr>
            <a:r>
              <a:rPr sz="1200" b="1">
                <a:solidFill>
                  <a:srgbClr val="005B57"/>
                </a:solidFill>
              </a:rPr>
              <a:t>EVIDENCE</a:t>
            </a:r>
          </a:p>
        </p:txBody>
      </p:sp>
      <p:sp>
        <p:nvSpPr>
          <p:cNvPr id="28" name="executed-value-Evidence">
            <a:extLst xmlns:a="http://schemas.openxmlformats.org/drawingml/2006/main">
              <a:ext uri="{FF2B5EF4-FFF2-40B4-BE49-F238E27FC236}">
                <a16:creationId xmlns:a16="http://schemas.microsoft.com/office/drawing/2014/main" id="{4C406B83-1FC0-4295-9BC9-4C07EBDD9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5324475"/>
            <a:ext cx="3476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8263A"/>
                </a:solidFill>
              </a:defRPr>
            </a:pPr>
            <a:r>
              <a:rPr sz="1275" b="1">
                <a:solidFill>
                  <a:srgbClr val="08263A"/>
                </a:solidFill>
              </a:rPr>
              <a:t>Build · routes · exact SHA</a:t>
            </a:r>
          </a:p>
        </p:txBody>
      </p:sp>
      <p:sp>
        <p:nvSpPr>
          <p:cNvPr id="29" name="fixture-warning">
            <a:extLst xmlns:a="http://schemas.openxmlformats.org/drawingml/2006/main">
              <a:ext uri="{FF2B5EF4-FFF2-40B4-BE49-F238E27FC236}">
                <a16:creationId xmlns:a16="http://schemas.microsoft.com/office/drawing/2014/main" id="{AEAE43EA-3135-4893-9479-B3EA905D9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924550"/>
            <a:ext cx="5067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DEAE8"/>
          </a:solidFill>
          <a:ln xmlns:a="http://schemas.openxmlformats.org/drawingml/2006/main" w="19050">
            <a:solidFill>
              <a:srgbClr val="9B2C2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8263A"/>
                </a:solidFill>
              </a:defRPr>
            </a:pPr>
            <a:r>
              <a:rPr sz="1200" b="1">
                <a:solidFill>
                  <a:srgbClr val="08263A"/>
                </a:solidFill>
              </a:rPr>
              <a:t>ILLUSTRATIVE STRUCTURE · NOT A LIVE DEMO RECEIPT</a:t>
            </a:r>
          </a:p>
        </p:txBody>
      </p:sp>
      <p:sp>
        <p:nvSpPr>
          <p:cNvPr id="30" name="footer-line-3">
            <a:extLst xmlns:a="http://schemas.openxmlformats.org/drawingml/2006/main">
              <a:ext uri="{FF2B5EF4-FFF2-40B4-BE49-F238E27FC236}">
                <a16:creationId xmlns:a16="http://schemas.microsoft.com/office/drawing/2014/main" id="{124EDCD0-5AB2-40B0-AF09-E796A8302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83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source-3">
            <a:extLst xmlns:a="http://schemas.openxmlformats.org/drawingml/2006/main">
              <a:ext uri="{FF2B5EF4-FFF2-40B4-BE49-F238E27FC236}">
                <a16:creationId xmlns:a16="http://schemas.microsoft.com/office/drawing/2014/main" id="{84DE777C-7535-466C-8077-D4B655855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953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6566A"/>
                </a:solidFill>
              </a:defRPr>
            </a:pPr>
            <a:r>
              <a:rPr sz="1200" b="0">
                <a:solidFill>
                  <a:srgbClr val="36566A"/>
                </a:solidFill>
              </a:rPr>
              <a:t>Program EDD fixture · final reveal uses sanitized goals, work, and receipts</a:t>
            </a:r>
          </a:p>
        </p:txBody>
      </p:sp>
      <p:sp>
        <p:nvSpPr>
          <p:cNvPr id="32" name="folio-3">
            <a:extLst xmlns:a="http://schemas.openxmlformats.org/drawingml/2006/main">
              <a:ext uri="{FF2B5EF4-FFF2-40B4-BE49-F238E27FC236}">
                <a16:creationId xmlns:a16="http://schemas.microsoft.com/office/drawing/2014/main" id="{3C6B27C6-A794-4238-A820-0314F978B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36566A"/>
                </a:solidFill>
              </a:defRPr>
            </a:pPr>
            <a:r>
              <a:rPr sz="1200" b="1">
                <a:solidFill>
                  <a:srgbClr val="36566A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9419757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52400" dist="47625" dir="5400000">
              <a:srgbClr val="08263A">
                <a:alpha val="10000"/>
              </a:srgbClr>
            </a:outerShdw>
          </a:effectLst>
        </a:effectStyle>
        <a:effectStyle>
          <a:effectLst>
            <a:outerShdw blurRad="190500" dist="76200" dir="5400000">
              <a:srgbClr val="08263A">
                <a:alpha val="10000"/>
              </a:srgbClr>
            </a:outerShdw>
          </a:effectLst>
        </a:effectStyle>
        <a:effectStyle>
          <a:effectLst>
            <a:outerShdw blurRad="171450" dist="57150" dir="5400000">
              <a:srgbClr val="08263A">
                <a:alpha val="10000"/>
              </a:srgbClr>
            </a:outerShdw>
          </a:effectLst>
        </a:effectStyle>
        <a:effectStyle>
          <a:effectLst>
            <a:outerShdw blurRad="209550" dist="76200" dir="5400000">
              <a:srgbClr val="005B57">
                <a:alpha val="1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2026-07-27T05:31:14.7310000Z</dcterms:created>
  <dcterms:modified xsi:type="dcterms:W3CDTF">2026-07-27T05:31:14.7310000Z</dcterms:modified>
</coreProperties>
</file>